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1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6256000" cy="9144000"/>
  <p:notesSz cx="9144000" cy="16256000"/>
  <p:embeddedFontLst>
    <p:embeddedFont>
      <p:font typeface="Quattrocento Sans" charset="-122" pitchFamily="34"/>
      <p:regular r:id="rId3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openxmlformats.org/officeDocument/2006/relationships/font" Target="fonts/font1.fntdata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First IE (kJ/mol)</c:v>
                </c:pt>
              </c:strCache>
            </c:strRef>
          </c:tx>
          <c:spPr>
            <a:solidFill>
              <a:srgbClr val="1B5E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Li</c:v>
                  </c:pt>
                  <c:pt idx="1">
                    <c:v>Na</c:v>
                  </c:pt>
                  <c:pt idx="2">
                    <c:v>K</c:v>
                  </c:pt>
                  <c:pt idx="3">
                    <c:v>Rb</c:v>
                  </c:pt>
                  <c:pt idx="4">
                    <c:v>Cs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520</c:v>
                </c:pt>
                <c:pt idx="1">
                  <c:v>496</c:v>
                </c:pt>
                <c:pt idx="2">
                  <c:v>419</c:v>
                </c:pt>
                <c:pt idx="3">
                  <c:v>403</c:v>
                </c:pt>
                <c:pt idx="4">
                  <c:v>376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2D2D2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0"/>
          <c:min val="300"/>
        </c:scaling>
        <c:delete val="0"/>
        <c:axPos val="l"/>
        <c:majorGridlines>
          <c:spPr>
            <a:ln w="12700" cap="flat">
              <a:solidFill>
                <a:srgbClr val="e8f0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IE (kJ/mol)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dig24ngleip3e/mnt/agents/output/topic5_periodic_trends/images/2_Periodic_Table_in_Black_and_Whit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B5E5E">
                  <a:alpha val="60000"/>
                </a:srgbClr>
              </a:gs>
              <a:gs pos="100000">
                <a:srgbClr val="1B5E5E">
                  <a:alpha val="87000"/>
                </a:srgbClr>
              </a:gs>
            </a:gsLst>
            <a:path path="circle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778000" y="304800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2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Periodic Trends</a:t>
            </a:r>
            <a:endParaRPr lang="en-US" sz="4200" dirty="0"/>
          </a:p>
        </p:txBody>
      </p:sp>
      <p:sp>
        <p:nvSpPr>
          <p:cNvPr id="5" name="Shape 2"/>
          <p:cNvSpPr/>
          <p:nvPr/>
        </p:nvSpPr>
        <p:spPr>
          <a:xfrm>
            <a:off x="6223000" y="4000500"/>
            <a:ext cx="3810000" cy="38100"/>
          </a:xfrm>
          <a:prstGeom prst="rect">
            <a:avLst/>
          </a:prstGeom>
          <a:solidFill>
            <a:srgbClr val="C4843F"/>
          </a:solidFill>
          <a:ln/>
        </p:spPr>
      </p:sp>
      <p:sp>
        <p:nvSpPr>
          <p:cNvPr id="6" name="Text 3"/>
          <p:cNvSpPr/>
          <p:nvPr/>
        </p:nvSpPr>
        <p:spPr>
          <a:xfrm>
            <a:off x="2413000" y="4254500"/>
            <a:ext cx="1143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Atomic Radius · Ionization Energy · Electron Affinity · Electronegativity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159500" y="7620000"/>
            <a:ext cx="3937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spc="300" kern="0" dirty="0">
                <a:solidFill>
                  <a:srgbClr val="FFFFFF">
                    <a:alpha val="5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TOPIC 5 · GENERAL CHEMISTRY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1B5E5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286000"/>
            <a:ext cx="431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200" b="1" spc="600" kern="0" dirty="0">
                <a:solidFill>
                  <a:srgbClr val="1B5E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CONTENTS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62000" y="3048000"/>
            <a:ext cx="1016000" cy="38100"/>
          </a:xfrm>
          <a:prstGeom prst="rect">
            <a:avLst/>
          </a:prstGeom>
          <a:solidFill>
            <a:srgbClr val="C4843F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3302000"/>
            <a:ext cx="431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Five key trends that explain why elements behave the way they do.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842000" y="16510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C484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604000" y="1651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Basics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604000" y="20574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8A85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Periodic Table &amp; Effective Nuclear Charge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842000" y="2540000"/>
            <a:ext cx="9144000" cy="127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10" name="Text 8"/>
          <p:cNvSpPr/>
          <p:nvPr/>
        </p:nvSpPr>
        <p:spPr>
          <a:xfrm>
            <a:off x="5842000" y="27940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C484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04000" y="2794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Atomic &amp; Ionic Radius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04000" y="32004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8A85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 atomic and ionic size changes across the table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842000" y="3683000"/>
            <a:ext cx="9144000" cy="127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14" name="Text 12"/>
          <p:cNvSpPr/>
          <p:nvPr/>
        </p:nvSpPr>
        <p:spPr>
          <a:xfrm>
            <a:off x="5842000" y="39370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C484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04000" y="3937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Ionization Energy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04000" y="43434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8A85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Energy required to remove an electron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842000" y="4826000"/>
            <a:ext cx="9144000" cy="127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18" name="Text 16"/>
          <p:cNvSpPr/>
          <p:nvPr/>
        </p:nvSpPr>
        <p:spPr>
          <a:xfrm>
            <a:off x="5842000" y="50800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C484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04000" y="5080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Electron Affinity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604000" y="54864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8A85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Energy change when adding an electron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842000" y="5969000"/>
            <a:ext cx="9144000" cy="127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22" name="Text 20"/>
          <p:cNvSpPr/>
          <p:nvPr/>
        </p:nvSpPr>
        <p:spPr>
          <a:xfrm>
            <a:off x="5842000" y="62230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C484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604000" y="6223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Electronegativity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604000" y="66294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8A85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Attracting power for bonding electrons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842000" y="7112000"/>
            <a:ext cx="9144000" cy="127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26" name="Text 24"/>
          <p:cNvSpPr/>
          <p:nvPr/>
        </p:nvSpPr>
        <p:spPr>
          <a:xfrm>
            <a:off x="5842000" y="73660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C484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604000" y="7366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Summary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604000" y="77724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8A85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Connecting all trends together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3462000" y="8788400"/>
            <a:ext cx="203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Periodic Trends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1B5E5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048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5E5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Periodic Table — Our Roadmap</a:t>
            </a:r>
            <a:endParaRPr lang="en-US" sz="2800" dirty="0"/>
          </a:p>
        </p:txBody>
      </p:sp>
      <p:pic>
        <p:nvPicPr>
          <p:cNvPr id="4" name="Image 0" descr="https://kimi-img.moonshot.cn/pub/slides/okc/dig24ngleip3e/mnt/agents/output/topic5_periodic_trends/images/5_HD_Wallpaper_of_Periodic_Table_Vibrant.png">    </p:cNvPr>
          <p:cNvPicPr>
            <a:picLocks noChangeAspect="1"/>
          </p:cNvPicPr>
          <p:nvPr/>
        </p:nvPicPr>
        <p:blipFill>
          <a:blip r:embed="rId1"/>
          <a:srcRect l="5000" r="5000" t="0" b="0"/>
          <a:stretch/>
        </p:blipFill>
        <p:spPr>
          <a:xfrm>
            <a:off x="762000" y="1079500"/>
            <a:ext cx="8128000" cy="5080000"/>
          </a:xfrm>
          <a:prstGeom prst="roundRect">
            <a:avLst>
              <a:gd name="adj" fmla="val 8000"/>
            </a:avLst>
          </a:prstGeom>
        </p:spPr>
      </p:pic>
      <p:sp>
        <p:nvSpPr>
          <p:cNvPr id="5" name="Shape 2"/>
          <p:cNvSpPr/>
          <p:nvPr/>
        </p:nvSpPr>
        <p:spPr>
          <a:xfrm>
            <a:off x="762000" y="6413500"/>
            <a:ext cx="8128000" cy="1651000"/>
          </a:xfrm>
          <a:prstGeom prst="roundRect">
            <a:avLst>
              <a:gd name="adj" fmla="val 8000"/>
            </a:avLst>
          </a:prstGeom>
          <a:solidFill>
            <a:srgbClr val="E8F0F0"/>
          </a:solidFill>
          <a:ln/>
        </p:spPr>
      </p:sp>
      <p:sp>
        <p:nvSpPr>
          <p:cNvPr id="6" name="Text 3"/>
          <p:cNvSpPr/>
          <p:nvPr/>
        </p:nvSpPr>
        <p:spPr>
          <a:xfrm>
            <a:off x="1016000" y="6540500"/>
            <a:ext cx="7620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B5E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Groups (columns)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elements with similar valence electron configurations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B5E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Periods (rows)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same principal quantum number (n) for outer shell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Position on the table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C484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determines properties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9398000" y="1079500"/>
            <a:ext cx="6096000" cy="2032000"/>
          </a:xfrm>
          <a:prstGeom prst="roundRect">
            <a:avLst>
              <a:gd name="adj" fmla="val 8000"/>
            </a:avLst>
          </a:prstGeom>
          <a:solidFill>
            <a:srgbClr val="E8F0F0"/>
          </a:solidFill>
          <a:ln/>
        </p:spPr>
      </p:sp>
      <p:sp>
        <p:nvSpPr>
          <p:cNvPr id="8" name="Shape 5"/>
          <p:cNvSpPr/>
          <p:nvPr/>
        </p:nvSpPr>
        <p:spPr>
          <a:xfrm>
            <a:off x="9715500" y="1333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0" y="203200"/>
                </a:moveTo>
                <a:cubicBezTo>
                  <a:pt x="0" y="91051"/>
                  <a:pt x="91051" y="0"/>
                  <a:pt x="203200" y="0"/>
                </a:cubicBezTo>
                <a:cubicBezTo>
                  <a:pt x="315349" y="0"/>
                  <a:pt x="406400" y="91051"/>
                  <a:pt x="406400" y="203200"/>
                </a:cubicBezTo>
                <a:cubicBezTo>
                  <a:pt x="406400" y="315349"/>
                  <a:pt x="315349" y="406400"/>
                  <a:pt x="203200" y="406400"/>
                </a:cubicBezTo>
                <a:cubicBezTo>
                  <a:pt x="91051" y="406400"/>
                  <a:pt x="0" y="315349"/>
                  <a:pt x="0" y="203200"/>
                </a:cubicBezTo>
                <a:close/>
              </a:path>
            </a:pathLst>
          </a:custGeom>
          <a:solidFill>
            <a:srgbClr val="1B5E5E"/>
          </a:solidFill>
          <a:ln/>
        </p:spPr>
      </p:sp>
      <p:sp>
        <p:nvSpPr>
          <p:cNvPr id="9" name="Text 6"/>
          <p:cNvSpPr/>
          <p:nvPr/>
        </p:nvSpPr>
        <p:spPr>
          <a:xfrm>
            <a:off x="10287000" y="1333500"/>
            <a:ext cx="482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5E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Metals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715500" y="1841500"/>
            <a:ext cx="546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Left side + center. Lose electrons easily. Shiny, conductive, malleable.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9398000" y="3365500"/>
            <a:ext cx="6096000" cy="2032000"/>
          </a:xfrm>
          <a:prstGeom prst="roundRect">
            <a:avLst>
              <a:gd name="adj" fmla="val 8000"/>
            </a:avLst>
          </a:prstGeom>
          <a:solidFill>
            <a:srgbClr val="E8F0F0"/>
          </a:solidFill>
          <a:ln/>
        </p:spPr>
      </p:sp>
      <p:sp>
        <p:nvSpPr>
          <p:cNvPr id="12" name="Shape 9"/>
          <p:cNvSpPr/>
          <p:nvPr/>
        </p:nvSpPr>
        <p:spPr>
          <a:xfrm>
            <a:off x="9715500" y="3619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0" y="203200"/>
                </a:moveTo>
                <a:cubicBezTo>
                  <a:pt x="0" y="91051"/>
                  <a:pt x="91051" y="0"/>
                  <a:pt x="203200" y="0"/>
                </a:cubicBezTo>
                <a:cubicBezTo>
                  <a:pt x="315349" y="0"/>
                  <a:pt x="406400" y="91051"/>
                  <a:pt x="406400" y="203200"/>
                </a:cubicBezTo>
                <a:cubicBezTo>
                  <a:pt x="406400" y="315349"/>
                  <a:pt x="315349" y="406400"/>
                  <a:pt x="203200" y="406400"/>
                </a:cubicBezTo>
                <a:cubicBezTo>
                  <a:pt x="91051" y="406400"/>
                  <a:pt x="0" y="315349"/>
                  <a:pt x="0" y="203200"/>
                </a:cubicBezTo>
                <a:close/>
              </a:path>
            </a:pathLst>
          </a:custGeom>
          <a:solidFill>
            <a:srgbClr val="C4843F"/>
          </a:solidFill>
          <a:ln/>
        </p:spPr>
      </p:sp>
      <p:sp>
        <p:nvSpPr>
          <p:cNvPr id="13" name="Text 10"/>
          <p:cNvSpPr/>
          <p:nvPr/>
        </p:nvSpPr>
        <p:spPr>
          <a:xfrm>
            <a:off x="10287000" y="3619500"/>
            <a:ext cx="482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C484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Nonmetals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9715500" y="4127500"/>
            <a:ext cx="546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Upper right. Gain or share electrons. Poor conductors, brittle.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9398000" y="5651500"/>
            <a:ext cx="6096000" cy="2032000"/>
          </a:xfrm>
          <a:prstGeom prst="roundRect">
            <a:avLst>
              <a:gd name="adj" fmla="val 8000"/>
            </a:avLst>
          </a:prstGeom>
          <a:solidFill>
            <a:srgbClr val="E8F0F0"/>
          </a:solidFill>
          <a:ln/>
        </p:spPr>
      </p:sp>
      <p:sp>
        <p:nvSpPr>
          <p:cNvPr id="16" name="Shape 13"/>
          <p:cNvSpPr/>
          <p:nvPr/>
        </p:nvSpPr>
        <p:spPr>
          <a:xfrm>
            <a:off x="9715500" y="5905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0" y="203200"/>
                </a:moveTo>
                <a:cubicBezTo>
                  <a:pt x="0" y="91051"/>
                  <a:pt x="91051" y="0"/>
                  <a:pt x="203200" y="0"/>
                </a:cubicBezTo>
                <a:cubicBezTo>
                  <a:pt x="315349" y="0"/>
                  <a:pt x="406400" y="91051"/>
                  <a:pt x="406400" y="203200"/>
                </a:cubicBezTo>
                <a:cubicBezTo>
                  <a:pt x="406400" y="315349"/>
                  <a:pt x="315349" y="406400"/>
                  <a:pt x="203200" y="406400"/>
                </a:cubicBezTo>
                <a:cubicBezTo>
                  <a:pt x="91051" y="406400"/>
                  <a:pt x="0" y="315349"/>
                  <a:pt x="0" y="203200"/>
                </a:cubicBezTo>
                <a:close/>
              </a:path>
            </a:pathLst>
          </a:custGeom>
          <a:solidFill>
            <a:srgbClr val="8A8580"/>
          </a:solidFill>
          <a:ln/>
        </p:spPr>
      </p:sp>
      <p:sp>
        <p:nvSpPr>
          <p:cNvPr id="17" name="Text 14"/>
          <p:cNvSpPr/>
          <p:nvPr/>
        </p:nvSpPr>
        <p:spPr>
          <a:xfrm>
            <a:off x="10287000" y="5905500"/>
            <a:ext cx="482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8A85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Metalloids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9715500" y="6413500"/>
            <a:ext cx="546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Staircase line. Properties in between — semiconductors.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3462000" y="8788400"/>
            <a:ext cx="203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Periodic Trends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1B5E5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048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5E5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Big Idea: Effective Nuclear Charge (Z</a:t>
            </a:r>
            <a:pPr>
              <a:lnSpc>
                <a:spcPct val="130000"/>
              </a:lnSpc>
            </a:pPr>
            <a:r>
              <a:rPr lang="en-US" sz="2800" b="1" baseline="-40000" dirty="0">
                <a:solidFill>
                  <a:srgbClr val="1B5E5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eff</a:t>
            </a:r>
            <a:pPr>
              <a:lnSpc>
                <a:spcPct val="130000"/>
              </a:lnSpc>
            </a:pPr>
            <a:r>
              <a:rPr lang="en-US" sz="2800" b="1" dirty="0">
                <a:solidFill>
                  <a:srgbClr val="1B5E5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)</a:t>
            </a:r>
            <a:endParaRPr lang="en-US" sz="2800" dirty="0"/>
          </a:p>
        </p:txBody>
      </p:sp>
      <p:pic>
        <p:nvPicPr>
          <p:cNvPr id="4" name="Image 0" descr="https://kimi-img.moonshot.cn/pub/slides/okc/dig24ngleip3e/mnt/agents/output/topic5_periodic_trends/images/3_Electron_Shielding_Definition_and.png">    </p:cNvPr>
          <p:cNvPicPr>
            <a:picLocks noChangeAspect="1"/>
          </p:cNvPicPr>
          <p:nvPr/>
        </p:nvPicPr>
        <p:blipFill>
          <a:blip r:embed="rId1"/>
          <a:srcRect l="-7103" r="-7103" t="0" b="0"/>
          <a:stretch/>
        </p:blipFill>
        <p:spPr>
          <a:xfrm>
            <a:off x="762000" y="1079500"/>
            <a:ext cx="6096000" cy="5842000"/>
          </a:xfrm>
          <a:prstGeom prst="roundRect">
            <a:avLst>
              <a:gd name="adj" fmla="val 8000"/>
            </a:avLst>
          </a:prstGeom>
        </p:spPr>
      </p:pic>
      <p:sp>
        <p:nvSpPr>
          <p:cNvPr id="5" name="Shape 2"/>
          <p:cNvSpPr/>
          <p:nvPr/>
        </p:nvSpPr>
        <p:spPr>
          <a:xfrm>
            <a:off x="7366000" y="1079500"/>
            <a:ext cx="8128000" cy="2540000"/>
          </a:xfrm>
          <a:prstGeom prst="roundRect">
            <a:avLst>
              <a:gd name="adj" fmla="val 8000"/>
            </a:avLst>
          </a:prstGeom>
          <a:solidFill>
            <a:srgbClr val="E8F0F0"/>
          </a:solidFill>
          <a:ln/>
        </p:spPr>
      </p:sp>
      <p:sp>
        <p:nvSpPr>
          <p:cNvPr id="6" name="Text 3"/>
          <p:cNvSpPr/>
          <p:nvPr/>
        </p:nvSpPr>
        <p:spPr>
          <a:xfrm>
            <a:off x="7683500" y="12065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C484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CONCEPT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683500" y="1625600"/>
            <a:ext cx="7493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</a:t>
            </a:r>
            <a:pPr>
              <a:lnSpc>
                <a:spcPct val="150000"/>
              </a:lnSpc>
            </a:pPr>
            <a:r>
              <a:rPr lang="en-US" sz="1800" baseline="-400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eff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net positive charge "felt" by valence electrons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Inner electrons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shield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outer e</a:t>
            </a:r>
            <a:pPr>
              <a:lnSpc>
                <a:spcPct val="150000"/>
              </a:lnSpc>
            </a:pPr>
            <a:r>
              <a:rPr lang="en-US" sz="1800" baseline="300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-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from the full nuclear charge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Higher Z</a:t>
            </a:r>
            <a:pPr>
              <a:lnSpc>
                <a:spcPct val="150000"/>
              </a:lnSpc>
            </a:pPr>
            <a:r>
              <a:rPr lang="en-US" sz="1800" baseline="-400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eff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electrons pulled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C484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closer &amp; tighter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366000" y="3937000"/>
            <a:ext cx="8128000" cy="1270000"/>
          </a:xfrm>
          <a:prstGeom prst="roundRect">
            <a:avLst>
              <a:gd name="adj" fmla="val 8000"/>
            </a:avLst>
          </a:prstGeom>
          <a:solidFill>
            <a:srgbClr val="1B5E5E"/>
          </a:solidFill>
          <a:ln/>
        </p:spPr>
      </p:sp>
      <p:sp>
        <p:nvSpPr>
          <p:cNvPr id="9" name="Text 6"/>
          <p:cNvSpPr/>
          <p:nvPr/>
        </p:nvSpPr>
        <p:spPr>
          <a:xfrm>
            <a:off x="7683500" y="4064000"/>
            <a:ext cx="7493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2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</a:t>
            </a:r>
            <a:pPr algn="ctr">
              <a:lnSpc>
                <a:spcPct val="150000"/>
              </a:lnSpc>
            </a:pPr>
            <a:r>
              <a:rPr lang="en-US" sz="2200" b="1" baseline="-40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eff</a:t>
            </a:r>
            <a:pPr algn="ctr">
              <a:lnSpc>
                <a:spcPct val="150000"/>
              </a:lnSpc>
            </a:pPr>
            <a:r>
              <a:rPr lang="en-US" sz="2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Z - S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 = atomic number (protons) · S = shielding electrons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366000" y="5524500"/>
            <a:ext cx="8128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1B5E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Why Z</a:t>
            </a:r>
            <a:pPr>
              <a:lnSpc>
                <a:spcPct val="150000"/>
              </a:lnSpc>
            </a:pPr>
            <a:r>
              <a:rPr lang="en-US" sz="1800" b="1" baseline="-40000" dirty="0">
                <a:solidFill>
                  <a:srgbClr val="1B5E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eff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B5E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matters: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It explains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periodic trends. Atomic size, ionization energy, electron affinity, electronegativity — all trace back to how strongly the nucleus pulls on electrons.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3462000" y="8788400"/>
            <a:ext cx="203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Periodic Trends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1B5E5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048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5E5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Z</a:t>
            </a:r>
            <a:pPr>
              <a:lnSpc>
                <a:spcPct val="130000"/>
              </a:lnSpc>
            </a:pPr>
            <a:r>
              <a:rPr lang="en-US" sz="2800" b="1" baseline="-40000" dirty="0">
                <a:solidFill>
                  <a:srgbClr val="1B5E5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eff</a:t>
            </a:r>
            <a:pPr>
              <a:lnSpc>
                <a:spcPct val="130000"/>
              </a:lnSpc>
            </a:pPr>
            <a:r>
              <a:rPr lang="en-US" sz="2800" b="1" dirty="0">
                <a:solidFill>
                  <a:srgbClr val="1B5E5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Increases Across a Period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79500"/>
            <a:ext cx="14732000" cy="3556000"/>
          </a:xfrm>
          <a:prstGeom prst="roundRect">
            <a:avLst>
              <a:gd name="adj" fmla="val 6000"/>
            </a:avLst>
          </a:prstGeom>
          <a:solidFill>
            <a:srgbClr val="E8F0F0"/>
          </a:solidFill>
          <a:ln/>
        </p:spPr>
      </p:sp>
      <p:sp>
        <p:nvSpPr>
          <p:cNvPr id="5" name="Shape 3"/>
          <p:cNvSpPr/>
          <p:nvPr/>
        </p:nvSpPr>
        <p:spPr>
          <a:xfrm>
            <a:off x="1651000" y="1778000"/>
            <a:ext cx="1016000" cy="1016000"/>
          </a:xfrm>
          <a:prstGeom prst="ellipse">
            <a:avLst/>
          </a:prstGeom>
          <a:solidFill>
            <a:srgbClr val="D5A0A0"/>
          </a:solidFill>
          <a:ln/>
        </p:spPr>
      </p:sp>
      <p:sp>
        <p:nvSpPr>
          <p:cNvPr id="6" name="Text 4"/>
          <p:cNvSpPr/>
          <p:nvPr/>
        </p:nvSpPr>
        <p:spPr>
          <a:xfrm>
            <a:off x="1651000" y="3365500"/>
            <a:ext cx="101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51000" y="3746500"/>
            <a:ext cx="101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8A85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 = 11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397000" y="1524000"/>
            <a:ext cx="1524000" cy="1524000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1B5E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3000" y="1270000"/>
            <a:ext cx="2032000" cy="2032000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4843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33500" y="1397000"/>
            <a:ext cx="152400" cy="152400"/>
          </a:xfrm>
          <a:prstGeom prst="ellipse">
            <a:avLst/>
          </a:prstGeom>
          <a:solidFill>
            <a:srgbClr val="1B5E5E"/>
          </a:solidFill>
          <a:ln/>
        </p:spPr>
      </p:sp>
      <p:sp>
        <p:nvSpPr>
          <p:cNvPr id="11" name="Shape 9"/>
          <p:cNvSpPr/>
          <p:nvPr/>
        </p:nvSpPr>
        <p:spPr>
          <a:xfrm>
            <a:off x="2832100" y="1397000"/>
            <a:ext cx="152400" cy="152400"/>
          </a:xfrm>
          <a:prstGeom prst="ellipse">
            <a:avLst/>
          </a:prstGeom>
          <a:solidFill>
            <a:srgbClr val="1B5E5E"/>
          </a:solidFill>
          <a:ln/>
        </p:spPr>
      </p:sp>
      <p:sp>
        <p:nvSpPr>
          <p:cNvPr id="12" name="Shape 10"/>
          <p:cNvSpPr/>
          <p:nvPr/>
        </p:nvSpPr>
        <p:spPr>
          <a:xfrm>
            <a:off x="1333500" y="3022600"/>
            <a:ext cx="152400" cy="152400"/>
          </a:xfrm>
          <a:prstGeom prst="ellipse">
            <a:avLst/>
          </a:prstGeom>
          <a:solidFill>
            <a:srgbClr val="1B5E5E"/>
          </a:solidFill>
          <a:ln/>
        </p:spPr>
      </p:sp>
      <p:sp>
        <p:nvSpPr>
          <p:cNvPr id="13" name="Shape 11"/>
          <p:cNvSpPr/>
          <p:nvPr/>
        </p:nvSpPr>
        <p:spPr>
          <a:xfrm>
            <a:off x="2832100" y="3022600"/>
            <a:ext cx="152400" cy="152400"/>
          </a:xfrm>
          <a:prstGeom prst="ellipse">
            <a:avLst/>
          </a:prstGeom>
          <a:solidFill>
            <a:srgbClr val="1B5E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082800" y="1206500"/>
            <a:ext cx="152400" cy="152400"/>
          </a:xfrm>
          <a:prstGeom prst="ellipse">
            <a:avLst/>
          </a:prstGeom>
          <a:solidFill>
            <a:srgbClr val="C4843F"/>
          </a:solidFill>
          <a:ln/>
        </p:spPr>
      </p:sp>
      <p:sp>
        <p:nvSpPr>
          <p:cNvPr id="15" name="Shape 13"/>
          <p:cNvSpPr/>
          <p:nvPr/>
        </p:nvSpPr>
        <p:spPr>
          <a:xfrm>
            <a:off x="3683000" y="2159000"/>
            <a:ext cx="1524000" cy="0"/>
          </a:xfrm>
          <a:prstGeom prst="straightConnector1">
            <a:avLst/>
          </a:prstGeom>
          <a:noFill/>
          <a:ln w="38100">
            <a:solidFill>
              <a:srgbClr val="8A8580"/>
            </a:solidFill>
            <a:prstDash val="solid"/>
            <a:headEnd type="none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5842000" y="1778000"/>
            <a:ext cx="1016000" cy="1016000"/>
          </a:xfrm>
          <a:prstGeom prst="ellipse">
            <a:avLst/>
          </a:prstGeom>
          <a:solidFill>
            <a:srgbClr val="D5B0A0"/>
          </a:solidFill>
          <a:ln/>
        </p:spPr>
      </p:sp>
      <p:sp>
        <p:nvSpPr>
          <p:cNvPr id="17" name="Text 15"/>
          <p:cNvSpPr/>
          <p:nvPr/>
        </p:nvSpPr>
        <p:spPr>
          <a:xfrm>
            <a:off x="5842000" y="3365500"/>
            <a:ext cx="101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842000" y="3746500"/>
            <a:ext cx="101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8A85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 = 12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588000" y="1524000"/>
            <a:ext cx="1524000" cy="1524000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1B5E5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34000" y="1270000"/>
            <a:ext cx="2032000" cy="2032000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4843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74000" y="2159000"/>
            <a:ext cx="1524000" cy="0"/>
          </a:xfrm>
          <a:prstGeom prst="straightConnector1">
            <a:avLst/>
          </a:prstGeom>
          <a:noFill/>
          <a:ln w="38100">
            <a:solidFill>
              <a:srgbClr val="8A8580"/>
            </a:solidFill>
            <a:prstDash val="solid"/>
            <a:headEnd type="none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10033000" y="1778000"/>
            <a:ext cx="1016000" cy="1016000"/>
          </a:xfrm>
          <a:prstGeom prst="ellipse">
            <a:avLst/>
          </a:prstGeom>
          <a:solidFill>
            <a:srgbClr val="D5C0A0"/>
          </a:solidFill>
          <a:ln/>
        </p:spPr>
      </p:sp>
      <p:sp>
        <p:nvSpPr>
          <p:cNvPr id="23" name="Text 21"/>
          <p:cNvSpPr/>
          <p:nvPr/>
        </p:nvSpPr>
        <p:spPr>
          <a:xfrm>
            <a:off x="10033000" y="3365500"/>
            <a:ext cx="101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033000" y="3746500"/>
            <a:ext cx="101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8A85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 = 13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779000" y="1524000"/>
            <a:ext cx="1524000" cy="1524000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1B5E5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525000" y="1270000"/>
            <a:ext cx="2032000" cy="2032000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4843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065000" y="2159000"/>
            <a:ext cx="1524000" cy="0"/>
          </a:xfrm>
          <a:prstGeom prst="straightConnector1">
            <a:avLst/>
          </a:prstGeom>
          <a:noFill/>
          <a:ln w="38100">
            <a:solidFill>
              <a:srgbClr val="8A8580"/>
            </a:solidFill>
            <a:prstDash val="solid"/>
            <a:headEnd type="none"/>
            <a:tailEnd type="arrow"/>
          </a:ln>
        </p:spPr>
      </p:sp>
      <p:sp>
        <p:nvSpPr>
          <p:cNvPr id="28" name="Shape 26"/>
          <p:cNvSpPr/>
          <p:nvPr/>
        </p:nvSpPr>
        <p:spPr>
          <a:xfrm>
            <a:off x="14224000" y="1778000"/>
            <a:ext cx="1016000" cy="1016000"/>
          </a:xfrm>
          <a:prstGeom prst="ellipse">
            <a:avLst/>
          </a:prstGeom>
          <a:solidFill>
            <a:srgbClr val="D5E0C0"/>
          </a:solidFill>
          <a:ln/>
        </p:spPr>
      </p:sp>
      <p:sp>
        <p:nvSpPr>
          <p:cNvPr id="29" name="Text 27"/>
          <p:cNvSpPr/>
          <p:nvPr/>
        </p:nvSpPr>
        <p:spPr>
          <a:xfrm>
            <a:off x="14224000" y="3365500"/>
            <a:ext cx="101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4224000" y="3746500"/>
            <a:ext cx="101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8A85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 = 18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3970000" y="1524000"/>
            <a:ext cx="1524000" cy="1524000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1B5E5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3716000" y="1270000"/>
            <a:ext cx="2032000" cy="2032000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4843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83000" y="838200"/>
            <a:ext cx="12065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C484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↑ Z</a:t>
            </a:r>
            <a:pPr algn="ctr">
              <a:lnSpc>
                <a:spcPct val="100000"/>
              </a:lnSpc>
            </a:pPr>
            <a:r>
              <a:rPr lang="en-US" sz="1600" b="1" baseline="-40000" dirty="0">
                <a:solidFill>
                  <a:srgbClr val="C484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eff</a:t>
            </a:r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C484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increases →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683000" y="4699000"/>
            <a:ext cx="1206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8A85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Same n=3 shell — but more protons pulling each time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62000" y="5016500"/>
            <a:ext cx="14732000" cy="3048000"/>
          </a:xfrm>
          <a:prstGeom prst="roundRect">
            <a:avLst>
              <a:gd name="adj" fmla="val 6000"/>
            </a:avLst>
          </a:prstGeom>
          <a:solidFill>
            <a:srgbClr val="E8F0F0"/>
          </a:solidFill>
          <a:ln/>
        </p:spPr>
      </p:sp>
      <p:sp>
        <p:nvSpPr>
          <p:cNvPr id="36" name="Text 34"/>
          <p:cNvSpPr/>
          <p:nvPr/>
        </p:nvSpPr>
        <p:spPr>
          <a:xfrm>
            <a:off x="1143000" y="52070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5E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happens?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143000" y="5715000"/>
            <a:ext cx="13970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Same number of electron shells (same period)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More protons added → stronger nuclear charge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Added electrons go into the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same shell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poor shielding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Result: Z</a:t>
            </a:r>
            <a:pPr>
              <a:lnSpc>
                <a:spcPct val="160000"/>
              </a:lnSpc>
            </a:pPr>
            <a:r>
              <a:rPr lang="en-US" sz="1800" baseline="-400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eff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C484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increases significantly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across a period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3462000" y="8788400"/>
            <a:ext cx="203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Periodic Trends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1B5E5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048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5E5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Z</a:t>
            </a:r>
            <a:pPr>
              <a:lnSpc>
                <a:spcPct val="130000"/>
              </a:lnSpc>
            </a:pPr>
            <a:r>
              <a:rPr lang="en-US" sz="2800" b="1" baseline="-40000" dirty="0">
                <a:solidFill>
                  <a:srgbClr val="1B5E5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eff</a:t>
            </a:r>
            <a:pPr>
              <a:lnSpc>
                <a:spcPct val="130000"/>
              </a:lnSpc>
            </a:pPr>
            <a:r>
              <a:rPr lang="en-US" sz="2800" b="1" dirty="0">
                <a:solidFill>
                  <a:srgbClr val="1B5E5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Stays Similar Down a Group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540000" y="1270000"/>
            <a:ext cx="762000" cy="762000"/>
          </a:xfrm>
          <a:prstGeom prst="ellipse">
            <a:avLst/>
          </a:prstGeom>
          <a:solidFill>
            <a:srgbClr val="D5A0A0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0" y="2235200"/>
            <a:ext cx="127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</a:t>
            </a:r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(n=2)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349500" y="1079500"/>
            <a:ext cx="1143000" cy="1143000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1B5E5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59000" y="889000"/>
            <a:ext cx="1524000" cy="1524000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4843F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2540000" y="3302000"/>
            <a:ext cx="889000" cy="889000"/>
          </a:xfrm>
          <a:prstGeom prst="ellipse">
            <a:avLst/>
          </a:prstGeom>
          <a:solidFill>
            <a:srgbClr val="D5B0A0"/>
          </a:solidFill>
          <a:ln/>
        </p:spPr>
      </p:sp>
      <p:sp>
        <p:nvSpPr>
          <p:cNvPr id="9" name="Text 7"/>
          <p:cNvSpPr/>
          <p:nvPr/>
        </p:nvSpPr>
        <p:spPr>
          <a:xfrm>
            <a:off x="2159000" y="4991100"/>
            <a:ext cx="1651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</a:t>
            </a:r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(n=3)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286000" y="3048000"/>
            <a:ext cx="1397000" cy="1397000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1B5E5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32000" y="2794000"/>
            <a:ext cx="1905000" cy="1905000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4843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78000" y="2540000"/>
            <a:ext cx="2413000" cy="2413000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A8580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2476500" y="5842000"/>
            <a:ext cx="1016000" cy="1016000"/>
          </a:xfrm>
          <a:prstGeom prst="ellipse">
            <a:avLst/>
          </a:prstGeom>
          <a:solidFill>
            <a:srgbClr val="D5C0A0"/>
          </a:solidFill>
          <a:ln/>
        </p:spPr>
      </p:sp>
      <p:sp>
        <p:nvSpPr>
          <p:cNvPr id="14" name="Text 12"/>
          <p:cNvSpPr/>
          <p:nvPr/>
        </p:nvSpPr>
        <p:spPr>
          <a:xfrm>
            <a:off x="2159000" y="8229600"/>
            <a:ext cx="165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</a:t>
            </a:r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(n=4)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159000" y="5524500"/>
            <a:ext cx="1651000" cy="1651000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1B5E5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41500" y="5207000"/>
            <a:ext cx="2286000" cy="2286000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4843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24000" y="4889500"/>
            <a:ext cx="2921000" cy="2921000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A85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06500" y="4572000"/>
            <a:ext cx="3556000" cy="3556000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0A8A0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1270000" y="1651000"/>
            <a:ext cx="0" cy="5334000"/>
          </a:xfrm>
          <a:prstGeom prst="straightConnector1">
            <a:avLst/>
          </a:prstGeom>
          <a:noFill/>
          <a:ln w="38100">
            <a:solidFill>
              <a:srgbClr val="8A8580"/>
            </a:solidFill>
            <a:prstDash val="solid"/>
            <a:headEnd type="none"/>
            <a:tailEnd type="arrow"/>
          </a:ln>
        </p:spPr>
      </p:sp>
      <p:sp>
        <p:nvSpPr>
          <p:cNvPr id="20" name="Text 18"/>
          <p:cNvSpPr/>
          <p:nvPr/>
        </p:nvSpPr>
        <p:spPr>
          <a:xfrm>
            <a:off x="0" y="3556000"/>
            <a:ext cx="127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8A85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more shells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096000" y="1079500"/>
            <a:ext cx="9398000" cy="6858000"/>
          </a:xfrm>
          <a:prstGeom prst="roundRect">
            <a:avLst>
              <a:gd name="adj" fmla="val 6000"/>
            </a:avLst>
          </a:prstGeom>
          <a:solidFill>
            <a:srgbClr val="E8F0F0"/>
          </a:solidFill>
          <a:ln/>
        </p:spPr>
      </p:sp>
      <p:sp>
        <p:nvSpPr>
          <p:cNvPr id="22" name="Text 20"/>
          <p:cNvSpPr/>
          <p:nvPr/>
        </p:nvSpPr>
        <p:spPr>
          <a:xfrm>
            <a:off x="6477000" y="12700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5E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happens going down?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77000" y="1841500"/>
            <a:ext cx="8636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 new electron shell is added each step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Outer electrons are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farther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from the nucleus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More inner electrons =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more shielding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extra nuclear charge is mostly canceled out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77000" y="4699000"/>
            <a:ext cx="8636000" cy="1270000"/>
          </a:xfrm>
          <a:prstGeom prst="roundRect">
            <a:avLst>
              <a:gd name="adj" fmla="val 8000"/>
            </a:avLst>
          </a:prstGeom>
          <a:solidFill>
            <a:srgbClr val="1B5E5E"/>
          </a:solidFill>
          <a:ln/>
        </p:spPr>
      </p:sp>
      <p:sp>
        <p:nvSpPr>
          <p:cNvPr id="25" name="Text 23"/>
          <p:cNvSpPr/>
          <p:nvPr/>
        </p:nvSpPr>
        <p:spPr>
          <a:xfrm>
            <a:off x="6731000" y="4826000"/>
            <a:ext cx="812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Result: Z</a:t>
            </a:r>
            <a:pPr algn="ctr">
              <a:lnSpc>
                <a:spcPct val="140000"/>
              </a:lnSpc>
            </a:pPr>
            <a:r>
              <a:rPr lang="en-US" sz="2000" b="1" baseline="-40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eff</a:t>
            </a:r>
            <a:pPr algn="ctr">
              <a:lnSpc>
                <a:spcPct val="14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increases only slightly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outer electron "feels" a similar pull in each case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77000" y="6286500"/>
            <a:ext cx="8636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C484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Takeaway: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Going down a group, the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increasing atomic size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(more shells) has a much bigger effect than the small increase in Z</a:t>
            </a:r>
            <a:pPr>
              <a:lnSpc>
                <a:spcPct val="150000"/>
              </a:lnSpc>
            </a:pPr>
            <a:r>
              <a:rPr lang="en-US" sz="1800" baseline="-400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eff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3462000" y="8788400"/>
            <a:ext cx="203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Periodic Trends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5E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dig24ngleip3e/mnt/agents/output/topic5_periodic_trends/images/8_Periodic_Trends_Atomic_Radius_Patterns.png">    </p:cNvPr>
          <p:cNvPicPr>
            <a:picLocks noChangeAspect="1"/>
          </p:cNvPicPr>
          <p:nvPr/>
        </p:nvPicPr>
        <p:blipFill>
          <a:blip r:embed="rId1"/>
          <a:srcRect l="481" r="481" t="0" b="0"/>
          <a:stretch/>
        </p:blipFill>
        <p:spPr>
          <a:xfrm>
            <a:off x="0" y="0"/>
            <a:ext cx="73152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775200" y="0"/>
            <a:ext cx="2540000" cy="9144000"/>
          </a:xfrm>
          <a:prstGeom prst="rect">
            <a:avLst/>
          </a:prstGeom>
          <a:gradFill rotWithShape="1" flip="none">
            <a:gsLst>
              <a:gs pos="0">
                <a:srgbClr val="1B5E5E">
                  <a:alpha val="0"/>
                </a:srgbClr>
              </a:gs>
              <a:gs pos="100000">
                <a:srgbClr val="1B5E5E"/>
              </a:gs>
            </a:gsLst>
            <a:lin ang="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8128000" y="2540000"/>
            <a:ext cx="254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C484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8128000" y="3810000"/>
            <a:ext cx="1016000" cy="50800"/>
          </a:xfrm>
          <a:prstGeom prst="rect">
            <a:avLst/>
          </a:prstGeom>
          <a:solidFill>
            <a:srgbClr val="C4843F"/>
          </a:solidFill>
          <a:ln/>
        </p:spPr>
      </p:sp>
      <p:sp>
        <p:nvSpPr>
          <p:cNvPr id="6" name="Text 3"/>
          <p:cNvSpPr/>
          <p:nvPr/>
        </p:nvSpPr>
        <p:spPr>
          <a:xfrm>
            <a:off x="8128000" y="4064000"/>
            <a:ext cx="711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Atomic &amp; Ionic Radius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128000" y="4826000"/>
            <a:ext cx="711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 big are atoms and ions?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1B5E5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048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5E5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What Is Atomic Radius?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79500"/>
            <a:ext cx="7112000" cy="4445000"/>
          </a:xfrm>
          <a:prstGeom prst="roundRect">
            <a:avLst>
              <a:gd name="adj" fmla="val 6000"/>
            </a:avLst>
          </a:prstGeom>
          <a:solidFill>
            <a:srgbClr val="E8F0F0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0" y="2540000"/>
            <a:ext cx="635000" cy="635000"/>
          </a:xfrm>
          <a:prstGeom prst="ellipse">
            <a:avLst/>
          </a:prstGeom>
          <a:solidFill>
            <a:srgbClr val="1B5E5E"/>
          </a:solidFill>
          <a:ln/>
        </p:spPr>
      </p:sp>
      <p:sp>
        <p:nvSpPr>
          <p:cNvPr id="6" name="Text 4"/>
          <p:cNvSpPr/>
          <p:nvPr/>
        </p:nvSpPr>
        <p:spPr>
          <a:xfrm>
            <a:off x="1778000" y="4089400"/>
            <a:ext cx="127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Nucleus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651000" y="1905000"/>
            <a:ext cx="1905000" cy="1905000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4843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34000" y="2540000"/>
            <a:ext cx="635000" cy="635000"/>
          </a:xfrm>
          <a:prstGeom prst="ellipse">
            <a:avLst/>
          </a:prstGeom>
          <a:solidFill>
            <a:srgbClr val="1B5E5E"/>
          </a:solidFill>
          <a:ln/>
        </p:spPr>
      </p:sp>
      <p:sp>
        <p:nvSpPr>
          <p:cNvPr id="9" name="Shape 7"/>
          <p:cNvSpPr/>
          <p:nvPr/>
        </p:nvSpPr>
        <p:spPr>
          <a:xfrm>
            <a:off x="4699000" y="1905000"/>
            <a:ext cx="1905000" cy="1905000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4843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03500" y="2857500"/>
            <a:ext cx="3048000" cy="0"/>
          </a:xfrm>
          <a:prstGeom prst="straightConnector1">
            <a:avLst/>
          </a:prstGeom>
          <a:noFill/>
          <a:ln w="25400">
            <a:solidFill>
              <a:srgbClr val="8A8580"/>
            </a:solidFill>
            <a:prstDash val="sysDot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2603500" y="4064000"/>
            <a:ext cx="1524000" cy="0"/>
          </a:xfrm>
          <a:prstGeom prst="straightConnector1">
            <a:avLst/>
          </a:prstGeom>
          <a:noFill/>
          <a:ln w="38100">
            <a:solidFill>
              <a:srgbClr val="C4843F"/>
            </a:solidFill>
            <a:prstDash val="solid"/>
            <a:headEnd type="none"/>
            <a:tailEnd type="arrow"/>
          </a:ln>
        </p:spPr>
      </p:sp>
      <p:sp>
        <p:nvSpPr>
          <p:cNvPr id="12" name="Text 10"/>
          <p:cNvSpPr/>
          <p:nvPr/>
        </p:nvSpPr>
        <p:spPr>
          <a:xfrm>
            <a:off x="2603500" y="4508500"/>
            <a:ext cx="152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C484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</a:t>
            </a:r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C484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radius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2000" y="5842000"/>
            <a:ext cx="711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Atomic radius = </a:t>
            </a:r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C484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½ × distance between nuclei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382000" y="1079500"/>
            <a:ext cx="7112000" cy="1651000"/>
          </a:xfrm>
          <a:prstGeom prst="roundRect">
            <a:avLst>
              <a:gd name="adj" fmla="val 8000"/>
            </a:avLst>
          </a:prstGeom>
          <a:solidFill>
            <a:srgbClr val="E8F0F0"/>
          </a:solidFill>
          <a:ln/>
        </p:spPr>
      </p:sp>
      <p:sp>
        <p:nvSpPr>
          <p:cNvPr id="15" name="Shape 13"/>
          <p:cNvSpPr/>
          <p:nvPr/>
        </p:nvSpPr>
        <p:spPr>
          <a:xfrm>
            <a:off x="8677275" y="13335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145226" y="358517"/>
                </a:moveTo>
                <a:cubicBezTo>
                  <a:pt x="132239" y="371505"/>
                  <a:pt x="111125" y="371505"/>
                  <a:pt x="98068" y="358517"/>
                </a:cubicBezTo>
                <a:lnTo>
                  <a:pt x="19516" y="279966"/>
                </a:lnTo>
                <a:cubicBezTo>
                  <a:pt x="6529" y="266978"/>
                  <a:pt x="6529" y="245864"/>
                  <a:pt x="19516" y="232807"/>
                </a:cubicBezTo>
                <a:lnTo>
                  <a:pt x="31323" y="221000"/>
                </a:lnTo>
                <a:lnTo>
                  <a:pt x="82371" y="272048"/>
                </a:lnTo>
                <a:cubicBezTo>
                  <a:pt x="88900" y="278576"/>
                  <a:pt x="99457" y="278576"/>
                  <a:pt x="105916" y="272048"/>
                </a:cubicBezTo>
                <a:cubicBezTo>
                  <a:pt x="112375" y="265519"/>
                  <a:pt x="112445" y="254962"/>
                  <a:pt x="105916" y="248503"/>
                </a:cubicBezTo>
                <a:lnTo>
                  <a:pt x="54868" y="197455"/>
                </a:lnTo>
                <a:lnTo>
                  <a:pt x="78413" y="173911"/>
                </a:lnTo>
                <a:lnTo>
                  <a:pt x="113764" y="209262"/>
                </a:lnTo>
                <a:cubicBezTo>
                  <a:pt x="120293" y="215791"/>
                  <a:pt x="130850" y="215791"/>
                  <a:pt x="137309" y="209262"/>
                </a:cubicBezTo>
                <a:cubicBezTo>
                  <a:pt x="143768" y="202734"/>
                  <a:pt x="143837" y="192177"/>
                  <a:pt x="137309" y="185718"/>
                </a:cubicBezTo>
                <a:lnTo>
                  <a:pt x="101957" y="150366"/>
                </a:lnTo>
                <a:lnTo>
                  <a:pt x="125502" y="126821"/>
                </a:lnTo>
                <a:lnTo>
                  <a:pt x="176550" y="177869"/>
                </a:lnTo>
                <a:cubicBezTo>
                  <a:pt x="183078" y="184398"/>
                  <a:pt x="193635" y="184398"/>
                  <a:pt x="200094" y="177869"/>
                </a:cubicBezTo>
                <a:cubicBezTo>
                  <a:pt x="206554" y="171341"/>
                  <a:pt x="206623" y="160784"/>
                  <a:pt x="200094" y="154325"/>
                </a:cubicBezTo>
                <a:lnTo>
                  <a:pt x="149046" y="103277"/>
                </a:lnTo>
                <a:lnTo>
                  <a:pt x="172591" y="79732"/>
                </a:lnTo>
                <a:lnTo>
                  <a:pt x="207943" y="115084"/>
                </a:lnTo>
                <a:cubicBezTo>
                  <a:pt x="214471" y="121612"/>
                  <a:pt x="225028" y="121612"/>
                  <a:pt x="231487" y="115084"/>
                </a:cubicBezTo>
                <a:cubicBezTo>
                  <a:pt x="237946" y="108555"/>
                  <a:pt x="238016" y="97998"/>
                  <a:pt x="231487" y="91539"/>
                </a:cubicBezTo>
                <a:lnTo>
                  <a:pt x="196136" y="56188"/>
                </a:lnTo>
                <a:lnTo>
                  <a:pt x="219680" y="32643"/>
                </a:lnTo>
                <a:lnTo>
                  <a:pt x="270728" y="83691"/>
                </a:lnTo>
                <a:cubicBezTo>
                  <a:pt x="277257" y="90220"/>
                  <a:pt x="287814" y="90220"/>
                  <a:pt x="294273" y="83691"/>
                </a:cubicBezTo>
                <a:cubicBezTo>
                  <a:pt x="300732" y="77162"/>
                  <a:pt x="300801" y="66606"/>
                  <a:pt x="294273" y="60146"/>
                </a:cubicBezTo>
                <a:lnTo>
                  <a:pt x="243225" y="9098"/>
                </a:lnTo>
                <a:lnTo>
                  <a:pt x="255032" y="-2709"/>
                </a:lnTo>
                <a:cubicBezTo>
                  <a:pt x="268020" y="-15696"/>
                  <a:pt x="289133" y="-15696"/>
                  <a:pt x="302191" y="-2709"/>
                </a:cubicBezTo>
                <a:lnTo>
                  <a:pt x="380950" y="75634"/>
                </a:lnTo>
                <a:cubicBezTo>
                  <a:pt x="393938" y="88622"/>
                  <a:pt x="393938" y="109736"/>
                  <a:pt x="380950" y="122793"/>
                </a:cubicBezTo>
                <a:lnTo>
                  <a:pt x="145226" y="358517"/>
                </a:lnTo>
                <a:close/>
              </a:path>
            </a:pathLst>
          </a:custGeom>
          <a:solidFill>
            <a:srgbClr val="1B5E5E"/>
          </a:solidFill>
          <a:ln/>
        </p:spPr>
      </p:sp>
      <p:sp>
        <p:nvSpPr>
          <p:cNvPr id="16" name="Text 14"/>
          <p:cNvSpPr/>
          <p:nvPr/>
        </p:nvSpPr>
        <p:spPr>
          <a:xfrm>
            <a:off x="9207500" y="1333500"/>
            <a:ext cx="596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5E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Measured in picometers (pm)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699500" y="1778000"/>
            <a:ext cx="647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 pm = 10</a:t>
            </a:r>
            <a:pPr>
              <a:lnSpc>
                <a:spcPct val="140000"/>
              </a:lnSpc>
            </a:pPr>
            <a:r>
              <a:rPr lang="en-US" sz="1600" baseline="300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-12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m. Typical atomic radii range from 30 to 300 pm.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382000" y="2984500"/>
            <a:ext cx="7112000" cy="1651000"/>
          </a:xfrm>
          <a:prstGeom prst="roundRect">
            <a:avLst>
              <a:gd name="adj" fmla="val 8000"/>
            </a:avLst>
          </a:prstGeom>
          <a:solidFill>
            <a:srgbClr val="E8F0F0"/>
          </a:solidFill>
          <a:ln/>
        </p:spPr>
      </p:sp>
      <p:sp>
        <p:nvSpPr>
          <p:cNvPr id="19" name="Shape 17"/>
          <p:cNvSpPr/>
          <p:nvPr/>
        </p:nvSpPr>
        <p:spPr>
          <a:xfrm>
            <a:off x="8677275" y="32385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0" y="233363"/>
                </a:moveTo>
                <a:cubicBezTo>
                  <a:pt x="0" y="288578"/>
                  <a:pt x="44797" y="333375"/>
                  <a:pt x="100013" y="333375"/>
                </a:cubicBezTo>
                <a:lnTo>
                  <a:pt x="311150" y="333375"/>
                </a:lnTo>
                <a:cubicBezTo>
                  <a:pt x="360253" y="333375"/>
                  <a:pt x="400050" y="293578"/>
                  <a:pt x="400050" y="244475"/>
                </a:cubicBezTo>
                <a:cubicBezTo>
                  <a:pt x="400050" y="208637"/>
                  <a:pt x="378867" y="177731"/>
                  <a:pt x="348307" y="163701"/>
                </a:cubicBezTo>
                <a:cubicBezTo>
                  <a:pt x="352961" y="154603"/>
                  <a:pt x="355600" y="144254"/>
                  <a:pt x="355600" y="133350"/>
                </a:cubicBezTo>
                <a:cubicBezTo>
                  <a:pt x="355600" y="96540"/>
                  <a:pt x="325735" y="66675"/>
                  <a:pt x="288925" y="66675"/>
                </a:cubicBezTo>
                <a:cubicBezTo>
                  <a:pt x="276632" y="66675"/>
                  <a:pt x="265172" y="70009"/>
                  <a:pt x="255310" y="75773"/>
                </a:cubicBezTo>
                <a:cubicBezTo>
                  <a:pt x="238571" y="43964"/>
                  <a:pt x="205165" y="22225"/>
                  <a:pt x="166688" y="22225"/>
                </a:cubicBezTo>
                <a:cubicBezTo>
                  <a:pt x="111472" y="22225"/>
                  <a:pt x="66675" y="67022"/>
                  <a:pt x="66675" y="122238"/>
                </a:cubicBezTo>
                <a:cubicBezTo>
                  <a:pt x="66675" y="127794"/>
                  <a:pt x="67161" y="133281"/>
                  <a:pt x="67995" y="138559"/>
                </a:cubicBezTo>
                <a:cubicBezTo>
                  <a:pt x="28476" y="151894"/>
                  <a:pt x="0" y="189329"/>
                  <a:pt x="0" y="233363"/>
                </a:cubicBezTo>
                <a:close/>
              </a:path>
            </a:pathLst>
          </a:custGeom>
          <a:solidFill>
            <a:srgbClr val="1B5E5E"/>
          </a:solidFill>
          <a:ln/>
        </p:spPr>
      </p:sp>
      <p:sp>
        <p:nvSpPr>
          <p:cNvPr id="20" name="Text 18"/>
          <p:cNvSpPr/>
          <p:nvPr/>
        </p:nvSpPr>
        <p:spPr>
          <a:xfrm>
            <a:off x="9207500" y="3238500"/>
            <a:ext cx="596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5E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sharp edge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699500" y="3683000"/>
            <a:ext cx="647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Electrons exist as a probability cloud. Radius is a defined measurement, not a physical boundary.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382000" y="4889500"/>
            <a:ext cx="7112000" cy="1651000"/>
          </a:xfrm>
          <a:prstGeom prst="roundRect">
            <a:avLst>
              <a:gd name="adj" fmla="val 8000"/>
            </a:avLst>
          </a:prstGeom>
          <a:solidFill>
            <a:srgbClr val="1B5E5E"/>
          </a:solidFill>
          <a:ln/>
        </p:spPr>
      </p:sp>
      <p:sp>
        <p:nvSpPr>
          <p:cNvPr id="23" name="Shape 21"/>
          <p:cNvSpPr/>
          <p:nvPr/>
        </p:nvSpPr>
        <p:spPr>
          <a:xfrm>
            <a:off x="8721725" y="51435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235307" y="-6876"/>
                </a:moveTo>
                <a:cubicBezTo>
                  <a:pt x="243572" y="-903"/>
                  <a:pt x="246628" y="9932"/>
                  <a:pt x="242878" y="19377"/>
                </a:cubicBezTo>
                <a:lnTo>
                  <a:pt x="188426" y="155575"/>
                </a:lnTo>
                <a:lnTo>
                  <a:pt x="288925" y="155575"/>
                </a:lnTo>
                <a:cubicBezTo>
                  <a:pt x="298301" y="155575"/>
                  <a:pt x="306636" y="161409"/>
                  <a:pt x="309830" y="170230"/>
                </a:cubicBezTo>
                <a:cubicBezTo>
                  <a:pt x="313025" y="179050"/>
                  <a:pt x="310317" y="188913"/>
                  <a:pt x="303163" y="194885"/>
                </a:cubicBezTo>
                <a:lnTo>
                  <a:pt x="103138" y="361573"/>
                </a:lnTo>
                <a:cubicBezTo>
                  <a:pt x="95290" y="368102"/>
                  <a:pt x="84108" y="368449"/>
                  <a:pt x="75843" y="362476"/>
                </a:cubicBezTo>
                <a:cubicBezTo>
                  <a:pt x="67578" y="356503"/>
                  <a:pt x="64522" y="345668"/>
                  <a:pt x="68272" y="336223"/>
                </a:cubicBezTo>
                <a:lnTo>
                  <a:pt x="122724" y="200025"/>
                </a:lnTo>
                <a:lnTo>
                  <a:pt x="22225" y="200025"/>
                </a:lnTo>
                <a:cubicBezTo>
                  <a:pt x="12849" y="200025"/>
                  <a:pt x="4514" y="194191"/>
                  <a:pt x="1320" y="185370"/>
                </a:cubicBezTo>
                <a:cubicBezTo>
                  <a:pt x="-1875" y="176550"/>
                  <a:pt x="833" y="166688"/>
                  <a:pt x="7987" y="160715"/>
                </a:cubicBezTo>
                <a:lnTo>
                  <a:pt x="208012" y="-5973"/>
                </a:lnTo>
                <a:cubicBezTo>
                  <a:pt x="215860" y="-12502"/>
                  <a:pt x="227042" y="-12849"/>
                  <a:pt x="235307" y="-6876"/>
                </a:cubicBezTo>
                <a:close/>
              </a:path>
            </a:pathLst>
          </a:custGeom>
          <a:solidFill>
            <a:srgbClr val="C4843F"/>
          </a:solidFill>
          <a:ln/>
        </p:spPr>
      </p:sp>
      <p:sp>
        <p:nvSpPr>
          <p:cNvPr id="24" name="Text 22"/>
          <p:cNvSpPr/>
          <p:nvPr/>
        </p:nvSpPr>
        <p:spPr>
          <a:xfrm>
            <a:off x="9207500" y="5143500"/>
            <a:ext cx="596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Bonded atoms only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699500" y="5588000"/>
            <a:ext cx="647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Radius is measured between two identical bonded atoms — not for isolated atoms.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3462000" y="8788400"/>
            <a:ext cx="203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Periodic Trends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1B5E5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048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5E5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Atomic Radius Decreases Across a Period</a:t>
            </a:r>
            <a:endParaRPr lang="en-US" sz="2800" dirty="0"/>
          </a:p>
        </p:txBody>
      </p:sp>
      <p:pic>
        <p:nvPicPr>
          <p:cNvPr id="4" name="Image 0" descr="https://kimi-img.moonshot.cn/pub/slides/okc/dig24ngleip3e/mnt/agents/output/topic5_periodic_trends/images/1_Atomic_Radius_In_Periodic_Table_In.png">    </p:cNvPr>
          <p:cNvPicPr>
            <a:picLocks noChangeAspect="1"/>
          </p:cNvPicPr>
          <p:nvPr/>
        </p:nvPicPr>
        <p:blipFill>
          <a:blip r:embed="rId1"/>
          <a:srcRect l="4327" r="4327" t="0" b="0"/>
          <a:stretch/>
        </p:blipFill>
        <p:spPr>
          <a:xfrm>
            <a:off x="762000" y="1079500"/>
            <a:ext cx="8636000" cy="5080000"/>
          </a:xfrm>
          <a:prstGeom prst="roundRect">
            <a:avLst>
              <a:gd name="adj" fmla="val 8000"/>
            </a:avLst>
          </a:prstGeom>
        </p:spPr>
      </p:pic>
      <p:sp>
        <p:nvSpPr>
          <p:cNvPr id="5" name="Shape 2"/>
          <p:cNvSpPr/>
          <p:nvPr/>
        </p:nvSpPr>
        <p:spPr>
          <a:xfrm>
            <a:off x="9906000" y="1079500"/>
            <a:ext cx="5588000" cy="5080000"/>
          </a:xfrm>
          <a:prstGeom prst="roundRect">
            <a:avLst>
              <a:gd name="adj" fmla="val 6000"/>
            </a:avLst>
          </a:prstGeom>
          <a:solidFill>
            <a:srgbClr val="E8F0F0"/>
          </a:solidFill>
          <a:ln/>
        </p:spPr>
      </p:sp>
      <p:sp>
        <p:nvSpPr>
          <p:cNvPr id="6" name="Text 3"/>
          <p:cNvSpPr/>
          <p:nvPr/>
        </p:nvSpPr>
        <p:spPr>
          <a:xfrm>
            <a:off x="10223500" y="12700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C484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TREND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0223500" y="1778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8394" y="208419"/>
                </a:moveTo>
                <a:cubicBezTo>
                  <a:pt x="-2768" y="219581"/>
                  <a:pt x="-2768" y="237708"/>
                  <a:pt x="8394" y="248870"/>
                </a:cubicBezTo>
                <a:lnTo>
                  <a:pt x="151269" y="391745"/>
                </a:lnTo>
                <a:cubicBezTo>
                  <a:pt x="162431" y="402908"/>
                  <a:pt x="180558" y="402908"/>
                  <a:pt x="191720" y="391745"/>
                </a:cubicBezTo>
                <a:cubicBezTo>
                  <a:pt x="202883" y="380583"/>
                  <a:pt x="202883" y="362456"/>
                  <a:pt x="191720" y="351294"/>
                </a:cubicBezTo>
                <a:lnTo>
                  <a:pt x="97601" y="257175"/>
                </a:lnTo>
                <a:lnTo>
                  <a:pt x="428625" y="257175"/>
                </a:lnTo>
                <a:cubicBezTo>
                  <a:pt x="444431" y="257175"/>
                  <a:pt x="457200" y="244406"/>
                  <a:pt x="457200" y="228600"/>
                </a:cubicBezTo>
                <a:cubicBezTo>
                  <a:pt x="457200" y="212794"/>
                  <a:pt x="444431" y="200025"/>
                  <a:pt x="428625" y="200025"/>
                </a:cubicBezTo>
                <a:lnTo>
                  <a:pt x="97601" y="200025"/>
                </a:lnTo>
                <a:lnTo>
                  <a:pt x="191720" y="105906"/>
                </a:lnTo>
                <a:cubicBezTo>
                  <a:pt x="202883" y="94744"/>
                  <a:pt x="202883" y="76617"/>
                  <a:pt x="191720" y="65455"/>
                </a:cubicBezTo>
                <a:cubicBezTo>
                  <a:pt x="180558" y="54293"/>
                  <a:pt x="162431" y="54293"/>
                  <a:pt x="151269" y="65455"/>
                </a:cubicBezTo>
                <a:lnTo>
                  <a:pt x="8394" y="208330"/>
                </a:lnTo>
                <a:close/>
              </a:path>
            </a:pathLst>
          </a:custGeom>
          <a:solidFill>
            <a:srgbClr val="C4843F"/>
          </a:solidFill>
          <a:ln/>
        </p:spPr>
      </p:sp>
      <p:sp>
        <p:nvSpPr>
          <p:cNvPr id="8" name="Text 5"/>
          <p:cNvSpPr/>
          <p:nvPr/>
        </p:nvSpPr>
        <p:spPr>
          <a:xfrm>
            <a:off x="10858500" y="1778000"/>
            <a:ext cx="431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Radius decreases →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223500" y="2540000"/>
            <a:ext cx="495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5E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Why?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223500" y="2946400"/>
            <a:ext cx="4953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Same shell, more protons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stronger Z</a:t>
            </a:r>
            <a:pPr>
              <a:lnSpc>
                <a:spcPct val="150000"/>
              </a:lnSpc>
            </a:pPr>
            <a:r>
              <a:rPr lang="en-US" sz="1600" baseline="-400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eff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electrons pulled tighter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C484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smaller radius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0223500" y="4699000"/>
            <a:ext cx="4953000" cy="1270000"/>
          </a:xfrm>
          <a:prstGeom prst="roundRect">
            <a:avLst>
              <a:gd name="adj" fmla="val 8000"/>
            </a:avLst>
          </a:prstGeom>
          <a:solidFill>
            <a:srgbClr val="1B5E5E"/>
          </a:solidFill>
          <a:ln/>
        </p:spPr>
      </p:sp>
      <p:sp>
        <p:nvSpPr>
          <p:cNvPr id="12" name="Text 9"/>
          <p:cNvSpPr/>
          <p:nvPr/>
        </p:nvSpPr>
        <p:spPr>
          <a:xfrm>
            <a:off x="10414000" y="4826000"/>
            <a:ext cx="457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Example: Period 2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 (152 pm) → Ne (38 pm)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62000" y="6477000"/>
            <a:ext cx="147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1B5E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Left to Right:</a:t>
            </a:r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More protons + same shell = stronger pull = </a:t>
            </a:r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C484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smaller atoms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3462000" y="8788400"/>
            <a:ext cx="203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Periodic Trends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1B5E5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048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5E5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Atomic Radius Increases Down a Group</a:t>
            </a:r>
            <a:endParaRPr lang="en-US" sz="2800" dirty="0"/>
          </a:p>
        </p:txBody>
      </p:sp>
      <p:pic>
        <p:nvPicPr>
          <p:cNvPr id="4" name="Image 0" descr="https://kimi-img.moonshot.cn/pub/slides/okc/dig24ngleip3e/mnt/agents/output/topic5_periodic_trends/images/10_1_7_Periodic_Trends_AP_Chemistry.png">    </p:cNvPr>
          <p:cNvPicPr>
            <a:picLocks noChangeAspect="1"/>
          </p:cNvPicPr>
          <p:nvPr/>
        </p:nvPicPr>
        <p:blipFill>
          <a:blip r:embed="rId1"/>
          <a:srcRect l="0" r="0" t="5363" b="5363"/>
          <a:stretch/>
        </p:blipFill>
        <p:spPr>
          <a:xfrm>
            <a:off x="762000" y="1079500"/>
            <a:ext cx="7112000" cy="5842000"/>
          </a:xfrm>
          <a:prstGeom prst="roundRect">
            <a:avLst>
              <a:gd name="adj" fmla="val 8000"/>
            </a:avLst>
          </a:prstGeom>
        </p:spPr>
      </p:pic>
      <p:sp>
        <p:nvSpPr>
          <p:cNvPr id="5" name="Shape 2"/>
          <p:cNvSpPr/>
          <p:nvPr/>
        </p:nvSpPr>
        <p:spPr>
          <a:xfrm>
            <a:off x="8382000" y="1079500"/>
            <a:ext cx="7112000" cy="5842000"/>
          </a:xfrm>
          <a:prstGeom prst="roundRect">
            <a:avLst>
              <a:gd name="adj" fmla="val 6000"/>
            </a:avLst>
          </a:prstGeom>
          <a:solidFill>
            <a:srgbClr val="E8F0F0"/>
          </a:solidFill>
          <a:ln/>
        </p:spPr>
      </p:sp>
      <p:sp>
        <p:nvSpPr>
          <p:cNvPr id="6" name="Text 3"/>
          <p:cNvSpPr/>
          <p:nvPr/>
        </p:nvSpPr>
        <p:spPr>
          <a:xfrm>
            <a:off x="8699500" y="12700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C484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TREND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756650" y="177800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151269" y="448806"/>
                </a:moveTo>
                <a:cubicBezTo>
                  <a:pt x="162431" y="459968"/>
                  <a:pt x="180558" y="459968"/>
                  <a:pt x="191720" y="448806"/>
                </a:cubicBezTo>
                <a:lnTo>
                  <a:pt x="334595" y="305931"/>
                </a:lnTo>
                <a:cubicBezTo>
                  <a:pt x="345758" y="294769"/>
                  <a:pt x="345758" y="276642"/>
                  <a:pt x="334595" y="265480"/>
                </a:cubicBezTo>
                <a:cubicBezTo>
                  <a:pt x="323433" y="254318"/>
                  <a:pt x="305306" y="254318"/>
                  <a:pt x="294144" y="265480"/>
                </a:cubicBezTo>
                <a:lnTo>
                  <a:pt x="200025" y="359599"/>
                </a:lnTo>
                <a:lnTo>
                  <a:pt x="200025" y="28575"/>
                </a:lnTo>
                <a:cubicBezTo>
                  <a:pt x="200025" y="12769"/>
                  <a:pt x="187256" y="0"/>
                  <a:pt x="171450" y="0"/>
                </a:cubicBezTo>
                <a:cubicBezTo>
                  <a:pt x="155644" y="0"/>
                  <a:pt x="142875" y="12769"/>
                  <a:pt x="142875" y="28575"/>
                </a:cubicBezTo>
                <a:lnTo>
                  <a:pt x="142875" y="359599"/>
                </a:lnTo>
                <a:lnTo>
                  <a:pt x="48756" y="265480"/>
                </a:lnTo>
                <a:cubicBezTo>
                  <a:pt x="37594" y="254317"/>
                  <a:pt x="19467" y="254317"/>
                  <a:pt x="8305" y="265480"/>
                </a:cubicBezTo>
                <a:cubicBezTo>
                  <a:pt x="-2858" y="276642"/>
                  <a:pt x="-2858" y="294769"/>
                  <a:pt x="8305" y="305931"/>
                </a:cubicBezTo>
                <a:lnTo>
                  <a:pt x="151180" y="448806"/>
                </a:lnTo>
                <a:close/>
              </a:path>
            </a:pathLst>
          </a:custGeom>
          <a:solidFill>
            <a:srgbClr val="C4843F"/>
          </a:solidFill>
          <a:ln/>
        </p:spPr>
      </p:sp>
      <p:sp>
        <p:nvSpPr>
          <p:cNvPr id="8" name="Text 5"/>
          <p:cNvSpPr/>
          <p:nvPr/>
        </p:nvSpPr>
        <p:spPr>
          <a:xfrm>
            <a:off x="9334500" y="1778000"/>
            <a:ext cx="584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Radius increases ↓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699500" y="2540000"/>
            <a:ext cx="647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5E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Why?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699500" y="2946400"/>
            <a:ext cx="6477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New electron shell added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outer electrons farther from nucleus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more shielding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C484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larger radius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699500" y="4889500"/>
            <a:ext cx="6477000" cy="1778000"/>
          </a:xfrm>
          <a:prstGeom prst="roundRect">
            <a:avLst>
              <a:gd name="adj" fmla="val 8000"/>
            </a:avLst>
          </a:prstGeom>
          <a:solidFill>
            <a:srgbClr val="1B5E5E"/>
          </a:solidFill>
          <a:ln/>
        </p:spPr>
      </p:sp>
      <p:sp>
        <p:nvSpPr>
          <p:cNvPr id="12" name="Text 9"/>
          <p:cNvSpPr/>
          <p:nvPr/>
        </p:nvSpPr>
        <p:spPr>
          <a:xfrm>
            <a:off x="8953500" y="5016500"/>
            <a:ext cx="5969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Example: Group 1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 (152 pm) → Na (186 pm)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K (227 pm) → Rb (248 pm)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3462000" y="8788400"/>
            <a:ext cx="203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Periodic Trends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1B5E5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048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5E5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Ionic Radius — Cations vs. Anions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79500"/>
            <a:ext cx="7112000" cy="6858000"/>
          </a:xfrm>
          <a:prstGeom prst="roundRect">
            <a:avLst>
              <a:gd name="adj" fmla="val 6000"/>
            </a:avLst>
          </a:prstGeom>
          <a:solidFill>
            <a:srgbClr val="E8F0F0"/>
          </a:solidFill>
          <a:ln/>
        </p:spPr>
      </p:sp>
      <p:sp>
        <p:nvSpPr>
          <p:cNvPr id="5" name="Text 3"/>
          <p:cNvSpPr/>
          <p:nvPr/>
        </p:nvSpPr>
        <p:spPr>
          <a:xfrm>
            <a:off x="1079500" y="12700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1B5E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CATION (+)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032000" y="1905000"/>
            <a:ext cx="1016000" cy="1016000"/>
          </a:xfrm>
          <a:prstGeom prst="ellipse">
            <a:avLst/>
          </a:prstGeom>
          <a:solidFill>
            <a:srgbClr val="B8D4D4"/>
          </a:solidFill>
          <a:ln/>
        </p:spPr>
      </p:sp>
      <p:sp>
        <p:nvSpPr>
          <p:cNvPr id="7" name="Text 5"/>
          <p:cNvSpPr/>
          <p:nvPr/>
        </p:nvSpPr>
        <p:spPr>
          <a:xfrm>
            <a:off x="1778000" y="2984500"/>
            <a:ext cx="152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 atom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556000" y="2349500"/>
            <a:ext cx="1016000" cy="0"/>
          </a:xfrm>
          <a:prstGeom prst="straightConnector1">
            <a:avLst/>
          </a:prstGeom>
          <a:noFill/>
          <a:ln w="25400">
            <a:solidFill>
              <a:srgbClr val="C4843F"/>
            </a:solidFill>
            <a:prstDash val="solid"/>
            <a:headEnd type="none"/>
            <a:tailEnd type="arrow"/>
          </a:ln>
        </p:spPr>
      </p:sp>
      <p:sp>
        <p:nvSpPr>
          <p:cNvPr id="9" name="Shape 7"/>
          <p:cNvSpPr/>
          <p:nvPr/>
        </p:nvSpPr>
        <p:spPr>
          <a:xfrm>
            <a:off x="5080000" y="2095500"/>
            <a:ext cx="635000" cy="635000"/>
          </a:xfrm>
          <a:prstGeom prst="ellipse">
            <a:avLst/>
          </a:prstGeom>
          <a:solidFill>
            <a:srgbClr val="1B5E5E"/>
          </a:solidFill>
          <a:ln/>
        </p:spPr>
      </p:sp>
      <p:sp>
        <p:nvSpPr>
          <p:cNvPr id="10" name="Text 8"/>
          <p:cNvSpPr/>
          <p:nvPr/>
        </p:nvSpPr>
        <p:spPr>
          <a:xfrm>
            <a:off x="4826000" y="2794000"/>
            <a:ext cx="1143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1B5E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Na⁺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56000" y="3175000"/>
            <a:ext cx="101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C484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loses e⁻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79500" y="3810000"/>
            <a:ext cx="6477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B5E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Why smaller?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Lost valence shell electron(s)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Less electron-electron repulsion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Same protons pulling fewer e⁻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C484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Radius shrinks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79500" y="5969000"/>
            <a:ext cx="6477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 atom: 186 pm → Na⁺ ion: </a:t>
            </a:r>
            <a:pPr>
              <a:lnSpc>
                <a:spcPct val="100000"/>
              </a:lnSpc>
            </a:pPr>
            <a:r>
              <a:rPr lang="en-US" sz="1600" b="1" dirty="0">
                <a:solidFill>
                  <a:srgbClr val="C484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102 pm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382000" y="1079500"/>
            <a:ext cx="7112000" cy="6858000"/>
          </a:xfrm>
          <a:prstGeom prst="roundRect">
            <a:avLst>
              <a:gd name="adj" fmla="val 6000"/>
            </a:avLst>
          </a:prstGeom>
          <a:solidFill>
            <a:srgbClr val="E8F0F0"/>
          </a:solidFill>
          <a:ln/>
        </p:spPr>
      </p:sp>
      <p:sp>
        <p:nvSpPr>
          <p:cNvPr id="15" name="Text 13"/>
          <p:cNvSpPr/>
          <p:nvPr/>
        </p:nvSpPr>
        <p:spPr>
          <a:xfrm>
            <a:off x="8699500" y="12700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C484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ANION (-)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652000" y="1905000"/>
            <a:ext cx="1016000" cy="1016000"/>
          </a:xfrm>
          <a:prstGeom prst="ellipse">
            <a:avLst/>
          </a:prstGeom>
          <a:solidFill>
            <a:srgbClr val="E8D5C0"/>
          </a:solidFill>
          <a:ln/>
        </p:spPr>
      </p:sp>
      <p:sp>
        <p:nvSpPr>
          <p:cNvPr id="17" name="Text 15"/>
          <p:cNvSpPr/>
          <p:nvPr/>
        </p:nvSpPr>
        <p:spPr>
          <a:xfrm>
            <a:off x="9398000" y="2984500"/>
            <a:ext cx="152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 atom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1176000" y="2349500"/>
            <a:ext cx="1016000" cy="0"/>
          </a:xfrm>
          <a:prstGeom prst="straightConnector1">
            <a:avLst/>
          </a:prstGeom>
          <a:noFill/>
          <a:ln w="25400">
            <a:solidFill>
              <a:srgbClr val="C4843F"/>
            </a:solidFill>
            <a:prstDash val="solid"/>
            <a:headEnd type="none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12700000" y="1778000"/>
            <a:ext cx="1270000" cy="1270000"/>
          </a:xfrm>
          <a:prstGeom prst="ellipse">
            <a:avLst/>
          </a:prstGeom>
          <a:solidFill>
            <a:srgbClr val="D4A070"/>
          </a:solidFill>
          <a:ln/>
        </p:spPr>
      </p:sp>
      <p:sp>
        <p:nvSpPr>
          <p:cNvPr id="20" name="Text 18"/>
          <p:cNvSpPr/>
          <p:nvPr/>
        </p:nvSpPr>
        <p:spPr>
          <a:xfrm>
            <a:off x="12827000" y="3111500"/>
            <a:ext cx="101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C484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Cl⁻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176000" y="3175000"/>
            <a:ext cx="101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C484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gains e⁻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699500" y="3810000"/>
            <a:ext cx="6477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C484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Why larger?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Gained electron(s) into existing shell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More electron-electron repulsion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Same protons pulling more e⁻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C484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Radius expands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699500" y="5969000"/>
            <a:ext cx="6477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 atom: 100 pm → Cl⁻ ion: </a:t>
            </a:r>
            <a:pPr>
              <a:lnSpc>
                <a:spcPct val="100000"/>
              </a:lnSpc>
            </a:pPr>
            <a:r>
              <a:rPr lang="en-US" sz="1600" b="1" dirty="0">
                <a:solidFill>
                  <a:srgbClr val="C484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181 pm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462000" y="8788400"/>
            <a:ext cx="203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Periodic Trends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1B5E5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048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5E5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Isoelectronic Series: Same e⁻, Different Z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016000"/>
            <a:ext cx="147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Same number of electrons — but different nuclear charge → </a:t>
            </a:r>
            <a:pPr>
              <a:lnSpc>
                <a:spcPct val="100000"/>
              </a:lnSpc>
            </a:pPr>
            <a:r>
              <a:rPr lang="en-US" sz="1800" b="1" dirty="0">
                <a:solidFill>
                  <a:srgbClr val="C484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different sizes</a:t>
            </a:r>
            <a:endParaRPr lang="en-US" sz="1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651000"/>
          <a:ext cx="14732000" cy="2540000"/>
        </p:xfrm>
        <a:graphic>
          <a:graphicData uri="http://schemas.openxmlformats.org/drawingml/2006/table">
            <a:tbl>
              <a:tblPr/>
              <a:tblGrid>
                <a:gridCol w="2946400"/>
                <a:gridCol w="2946400"/>
                <a:gridCol w="2946400"/>
                <a:gridCol w="2946400"/>
                <a:gridCol w="2946400"/>
              </a:tblGrid>
              <a:tr h="10160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Species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5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O²⁻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5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F⁻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5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Na⁺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5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Mg²⁺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5E"/>
                    </a:solidFill>
                  </a:tcPr>
                </a:tc>
              </a:tr>
              <a:tr h="1524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Radius (pm)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C4843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140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133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102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C4843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72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62000" y="4445000"/>
            <a:ext cx="147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8A85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have 10 electrons (same as Ne) — but nuclear charge increases: O (8+) → F (9+) → Na (11+) → Mg (12+)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62000" y="5080000"/>
            <a:ext cx="14732000" cy="3048000"/>
          </a:xfrm>
          <a:prstGeom prst="roundRect">
            <a:avLst>
              <a:gd name="adj" fmla="val 6000"/>
            </a:avLst>
          </a:prstGeom>
          <a:solidFill>
            <a:srgbClr val="E8F0F0"/>
          </a:solidFill>
          <a:ln/>
        </p:spPr>
      </p:sp>
      <p:sp>
        <p:nvSpPr>
          <p:cNvPr id="8" name="Shape 5"/>
          <p:cNvSpPr/>
          <p:nvPr/>
        </p:nvSpPr>
        <p:spPr>
          <a:xfrm>
            <a:off x="1651000" y="5461000"/>
            <a:ext cx="1778000" cy="1778000"/>
          </a:xfrm>
          <a:prstGeom prst="ellipse">
            <a:avLst/>
          </a:prstGeom>
          <a:solidFill>
            <a:srgbClr val="D5A0A0"/>
          </a:solidFill>
          <a:ln/>
        </p:spPr>
      </p:sp>
      <p:sp>
        <p:nvSpPr>
          <p:cNvPr id="9" name="Text 6"/>
          <p:cNvSpPr/>
          <p:nvPr/>
        </p:nvSpPr>
        <p:spPr>
          <a:xfrm>
            <a:off x="1651000" y="7302500"/>
            <a:ext cx="177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O²⁻</a:t>
            </a:r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140 pm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318000" y="5588000"/>
            <a:ext cx="1524000" cy="1524000"/>
          </a:xfrm>
          <a:prstGeom prst="ellipse">
            <a:avLst/>
          </a:prstGeom>
          <a:solidFill>
            <a:srgbClr val="D5B8A0"/>
          </a:solidFill>
          <a:ln/>
        </p:spPr>
      </p:sp>
      <p:sp>
        <p:nvSpPr>
          <p:cNvPr id="11" name="Text 8"/>
          <p:cNvSpPr/>
          <p:nvPr/>
        </p:nvSpPr>
        <p:spPr>
          <a:xfrm>
            <a:off x="4318000" y="7175500"/>
            <a:ext cx="152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F⁻</a:t>
            </a:r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133 pm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858000" y="5905500"/>
            <a:ext cx="1016000" cy="1016000"/>
          </a:xfrm>
          <a:prstGeom prst="ellipse">
            <a:avLst/>
          </a:prstGeom>
          <a:solidFill>
            <a:srgbClr val="1B5E5E"/>
          </a:solidFill>
          <a:ln/>
        </p:spPr>
      </p:sp>
      <p:sp>
        <p:nvSpPr>
          <p:cNvPr id="13" name="Text 10"/>
          <p:cNvSpPr/>
          <p:nvPr/>
        </p:nvSpPr>
        <p:spPr>
          <a:xfrm>
            <a:off x="6756400" y="6985000"/>
            <a:ext cx="12065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1B5E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</a:t>
            </a:r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1B5E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38 pm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9144000" y="5715000"/>
            <a:ext cx="1270000" cy="1270000"/>
          </a:xfrm>
          <a:prstGeom prst="ellipse">
            <a:avLst/>
          </a:prstGeom>
          <a:solidFill>
            <a:srgbClr val="A0C0C0"/>
          </a:solidFill>
          <a:ln/>
        </p:spPr>
      </p:sp>
      <p:sp>
        <p:nvSpPr>
          <p:cNvPr id="15" name="Text 12"/>
          <p:cNvSpPr/>
          <p:nvPr/>
        </p:nvSpPr>
        <p:spPr>
          <a:xfrm>
            <a:off x="9105900" y="7048500"/>
            <a:ext cx="13335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Na⁺</a:t>
            </a:r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102 pm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11684000" y="5842000"/>
            <a:ext cx="1016000" cy="1016000"/>
          </a:xfrm>
          <a:prstGeom prst="ellipse">
            <a:avLst/>
          </a:prstGeom>
          <a:solidFill>
            <a:srgbClr val="80B0B0"/>
          </a:solidFill>
          <a:ln/>
        </p:spPr>
      </p:sp>
      <p:sp>
        <p:nvSpPr>
          <p:cNvPr id="17" name="Text 14"/>
          <p:cNvSpPr/>
          <p:nvPr/>
        </p:nvSpPr>
        <p:spPr>
          <a:xfrm>
            <a:off x="11518900" y="6985000"/>
            <a:ext cx="13335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Mg²⁺</a:t>
            </a:r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72 pm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2032000" y="7747000"/>
            <a:ext cx="10922000" cy="0"/>
          </a:xfrm>
          <a:prstGeom prst="straightConnector1">
            <a:avLst/>
          </a:prstGeom>
          <a:noFill/>
          <a:ln w="38100">
            <a:solidFill>
              <a:srgbClr val="C4843F"/>
            </a:solidFill>
            <a:prstDash val="solid"/>
            <a:headEnd type="none"/>
            <a:tailEnd type="arrow"/>
          </a:ln>
        </p:spPr>
      </p:sp>
      <p:sp>
        <p:nvSpPr>
          <p:cNvPr id="19" name="Text 16"/>
          <p:cNvSpPr/>
          <p:nvPr/>
        </p:nvSpPr>
        <p:spPr>
          <a:xfrm>
            <a:off x="5080000" y="78486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C484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More protons = stronger pull = smaller radius →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3462000" y="8788400"/>
            <a:ext cx="203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Periodic Trends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5E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dig24ngleip3e/mnt/agents/output/topic5_periodic_trends/images/7_Ionization_Energy_GeeksforGeeks.png">    </p:cNvPr>
          <p:cNvPicPr>
            <a:picLocks noChangeAspect="1"/>
          </p:cNvPicPr>
          <p:nvPr/>
        </p:nvPicPr>
        <p:blipFill>
          <a:blip r:embed="rId1"/>
          <a:srcRect l="27160" r="27160" t="0" b="0"/>
          <a:stretch/>
        </p:blipFill>
        <p:spPr>
          <a:xfrm>
            <a:off x="0" y="0"/>
            <a:ext cx="73152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775200" y="0"/>
            <a:ext cx="2540000" cy="9144000"/>
          </a:xfrm>
          <a:prstGeom prst="rect">
            <a:avLst/>
          </a:prstGeom>
          <a:gradFill rotWithShape="1" flip="none">
            <a:gsLst>
              <a:gs pos="0">
                <a:srgbClr val="1B5E5E">
                  <a:alpha val="0"/>
                </a:srgbClr>
              </a:gs>
              <a:gs pos="100000">
                <a:srgbClr val="1B5E5E"/>
              </a:gs>
            </a:gsLst>
            <a:lin ang="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8128000" y="2540000"/>
            <a:ext cx="254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C484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8128000" y="3810000"/>
            <a:ext cx="1016000" cy="50800"/>
          </a:xfrm>
          <a:prstGeom prst="rect">
            <a:avLst/>
          </a:prstGeom>
          <a:solidFill>
            <a:srgbClr val="C4843F"/>
          </a:solidFill>
          <a:ln/>
        </p:spPr>
      </p:sp>
      <p:sp>
        <p:nvSpPr>
          <p:cNvPr id="6" name="Text 3"/>
          <p:cNvSpPr/>
          <p:nvPr/>
        </p:nvSpPr>
        <p:spPr>
          <a:xfrm>
            <a:off x="8128000" y="4064000"/>
            <a:ext cx="711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Ionization Energy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128000" y="4826000"/>
            <a:ext cx="711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 much energy to remove an electron?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1B5E5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048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5E5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What Is Ionization Energy?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79500"/>
            <a:ext cx="14732000" cy="1651000"/>
          </a:xfrm>
          <a:prstGeom prst="roundRect">
            <a:avLst>
              <a:gd name="adj" fmla="val 6000"/>
            </a:avLst>
          </a:prstGeom>
          <a:solidFill>
            <a:srgbClr val="1B5E5E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1206500"/>
            <a:ext cx="1397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X(g) → X⁺(g) + e⁻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1968500"/>
            <a:ext cx="139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Energy required to remove one mole of electrons from one mole of gaseous atoms (kJ/mol)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3111500"/>
            <a:ext cx="7112000" cy="3556000"/>
          </a:xfrm>
          <a:prstGeom prst="roundRect">
            <a:avLst>
              <a:gd name="adj" fmla="val 6000"/>
            </a:avLst>
          </a:prstGeom>
          <a:solidFill>
            <a:srgbClr val="E8F0F0"/>
          </a:solidFill>
          <a:ln/>
        </p:spPr>
      </p:sp>
      <p:sp>
        <p:nvSpPr>
          <p:cNvPr id="8" name="Text 6"/>
          <p:cNvSpPr/>
          <p:nvPr/>
        </p:nvSpPr>
        <p:spPr>
          <a:xfrm>
            <a:off x="1079500" y="33020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1B5E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FIRST IE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79500" y="3810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27000" y="76200"/>
                </a:moveTo>
                <a:cubicBezTo>
                  <a:pt x="141049" y="76200"/>
                  <a:pt x="152400" y="64849"/>
                  <a:pt x="152400" y="50800"/>
                </a:cubicBezTo>
                <a:cubicBezTo>
                  <a:pt x="152400" y="36751"/>
                  <a:pt x="141049" y="25400"/>
                  <a:pt x="127000" y="25400"/>
                </a:cubicBezTo>
                <a:lnTo>
                  <a:pt x="76200" y="25400"/>
                </a:lnTo>
                <a:cubicBezTo>
                  <a:pt x="34131" y="25400"/>
                  <a:pt x="0" y="59531"/>
                  <a:pt x="0" y="101600"/>
                </a:cubicBezTo>
                <a:lnTo>
                  <a:pt x="0" y="304800"/>
                </a:lnTo>
                <a:cubicBezTo>
                  <a:pt x="0" y="346869"/>
                  <a:pt x="34131" y="381000"/>
                  <a:pt x="76200" y="381000"/>
                </a:cubicBezTo>
                <a:lnTo>
                  <a:pt x="127000" y="381000"/>
                </a:lnTo>
                <a:cubicBezTo>
                  <a:pt x="141049" y="381000"/>
                  <a:pt x="152400" y="369649"/>
                  <a:pt x="152400" y="355600"/>
                </a:cubicBezTo>
                <a:cubicBezTo>
                  <a:pt x="152400" y="341551"/>
                  <a:pt x="141049" y="330200"/>
                  <a:pt x="127000" y="330200"/>
                </a:cubicBezTo>
                <a:lnTo>
                  <a:pt x="76200" y="330200"/>
                </a:lnTo>
                <a:cubicBezTo>
                  <a:pt x="62151" y="330200"/>
                  <a:pt x="50800" y="318849"/>
                  <a:pt x="50800" y="304800"/>
                </a:cubicBezTo>
                <a:lnTo>
                  <a:pt x="50800" y="101600"/>
                </a:lnTo>
                <a:cubicBezTo>
                  <a:pt x="50800" y="87551"/>
                  <a:pt x="62151" y="76200"/>
                  <a:pt x="76200" y="76200"/>
                </a:cubicBezTo>
                <a:lnTo>
                  <a:pt x="127000" y="76200"/>
                </a:lnTo>
                <a:close/>
                <a:moveTo>
                  <a:pt x="398939" y="221139"/>
                </a:moveTo>
                <a:cubicBezTo>
                  <a:pt x="408861" y="211217"/>
                  <a:pt x="408861" y="195104"/>
                  <a:pt x="398939" y="185182"/>
                </a:cubicBezTo>
                <a:lnTo>
                  <a:pt x="297339" y="83582"/>
                </a:lnTo>
                <a:cubicBezTo>
                  <a:pt x="287417" y="73660"/>
                  <a:pt x="271304" y="73660"/>
                  <a:pt x="261382" y="83582"/>
                </a:cubicBezTo>
                <a:cubicBezTo>
                  <a:pt x="251460" y="93504"/>
                  <a:pt x="251460" y="109617"/>
                  <a:pt x="261382" y="119539"/>
                </a:cubicBezTo>
                <a:lnTo>
                  <a:pt x="319643" y="177800"/>
                </a:lnTo>
                <a:lnTo>
                  <a:pt x="152400" y="177800"/>
                </a:lnTo>
                <a:cubicBezTo>
                  <a:pt x="138351" y="177800"/>
                  <a:pt x="127000" y="189151"/>
                  <a:pt x="127000" y="203200"/>
                </a:cubicBezTo>
                <a:cubicBezTo>
                  <a:pt x="127000" y="217249"/>
                  <a:pt x="138351" y="228600"/>
                  <a:pt x="152400" y="228600"/>
                </a:cubicBezTo>
                <a:lnTo>
                  <a:pt x="319643" y="228600"/>
                </a:lnTo>
                <a:lnTo>
                  <a:pt x="261382" y="286861"/>
                </a:lnTo>
                <a:cubicBezTo>
                  <a:pt x="251460" y="296783"/>
                  <a:pt x="251460" y="312896"/>
                  <a:pt x="261382" y="322818"/>
                </a:cubicBezTo>
                <a:cubicBezTo>
                  <a:pt x="271304" y="332740"/>
                  <a:pt x="287417" y="332740"/>
                  <a:pt x="297339" y="322818"/>
                </a:cubicBezTo>
                <a:lnTo>
                  <a:pt x="398939" y="221218"/>
                </a:lnTo>
                <a:close/>
              </a:path>
            </a:pathLst>
          </a:custGeom>
          <a:solidFill>
            <a:srgbClr val="1B5E5E"/>
          </a:solidFill>
          <a:ln/>
        </p:spPr>
      </p:sp>
      <p:sp>
        <p:nvSpPr>
          <p:cNvPr id="10" name="Text 8"/>
          <p:cNvSpPr/>
          <p:nvPr/>
        </p:nvSpPr>
        <p:spPr>
          <a:xfrm>
            <a:off x="1651000" y="3746500"/>
            <a:ext cx="5969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Removing the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first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electron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 a neutral atom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Easiest electron to remove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79500" y="5588000"/>
            <a:ext cx="6477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8A85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Example: Na → Na⁺ + e⁻ IE₁ = 496 kJ/mol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382000" y="3111500"/>
            <a:ext cx="7112000" cy="3556000"/>
          </a:xfrm>
          <a:prstGeom prst="roundRect">
            <a:avLst>
              <a:gd name="adj" fmla="val 6000"/>
            </a:avLst>
          </a:prstGeom>
          <a:solidFill>
            <a:srgbClr val="E8F0F0"/>
          </a:solidFill>
          <a:ln/>
        </p:spPr>
      </p:sp>
      <p:sp>
        <p:nvSpPr>
          <p:cNvPr id="13" name="Text 11"/>
          <p:cNvSpPr/>
          <p:nvPr/>
        </p:nvSpPr>
        <p:spPr>
          <a:xfrm>
            <a:off x="8699500" y="33020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C484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SECOND IE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750300" y="3810000"/>
            <a:ext cx="304800" cy="406400"/>
          </a:xfrm>
          <a:custGeom>
            <a:avLst/>
            <a:gdLst/>
            <a:ahLst/>
            <a:cxnLst/>
            <a:rect l="l" t="t" r="r" b="b"/>
            <a:pathLst>
              <a:path w="304800" h="406400">
                <a:moveTo>
                  <a:pt x="101600" y="76200"/>
                </a:moveTo>
                <a:lnTo>
                  <a:pt x="101600" y="127000"/>
                </a:lnTo>
                <a:lnTo>
                  <a:pt x="203200" y="127000"/>
                </a:lnTo>
                <a:lnTo>
                  <a:pt x="203200" y="76200"/>
                </a:lnTo>
                <a:cubicBezTo>
                  <a:pt x="203200" y="48181"/>
                  <a:pt x="180419" y="25400"/>
                  <a:pt x="152400" y="25400"/>
                </a:cubicBezTo>
                <a:cubicBezTo>
                  <a:pt x="124381" y="25400"/>
                  <a:pt x="101600" y="48181"/>
                  <a:pt x="101600" y="76200"/>
                </a:cubicBezTo>
                <a:close/>
                <a:moveTo>
                  <a:pt x="50800" y="127000"/>
                </a:moveTo>
                <a:lnTo>
                  <a:pt x="50800" y="76200"/>
                </a:lnTo>
                <a:cubicBezTo>
                  <a:pt x="50800" y="20082"/>
                  <a:pt x="96282" y="-25400"/>
                  <a:pt x="152400" y="-25400"/>
                </a:cubicBezTo>
                <a:cubicBezTo>
                  <a:pt x="208518" y="-25400"/>
                  <a:pt x="254000" y="20082"/>
                  <a:pt x="254000" y="76200"/>
                </a:cubicBezTo>
                <a:lnTo>
                  <a:pt x="254000" y="127000"/>
                </a:lnTo>
                <a:cubicBezTo>
                  <a:pt x="282019" y="127000"/>
                  <a:pt x="304800" y="149781"/>
                  <a:pt x="304800" y="177800"/>
                </a:cubicBezTo>
                <a:lnTo>
                  <a:pt x="304800" y="355600"/>
                </a:lnTo>
                <a:cubicBezTo>
                  <a:pt x="304800" y="383619"/>
                  <a:pt x="282019" y="406400"/>
                  <a:pt x="254000" y="406400"/>
                </a:cubicBezTo>
                <a:lnTo>
                  <a:pt x="50800" y="406400"/>
                </a:lnTo>
                <a:cubicBezTo>
                  <a:pt x="22781" y="406400"/>
                  <a:pt x="0" y="383619"/>
                  <a:pt x="0" y="355600"/>
                </a:cubicBezTo>
                <a:lnTo>
                  <a:pt x="0" y="177800"/>
                </a:lnTo>
                <a:cubicBezTo>
                  <a:pt x="0" y="149781"/>
                  <a:pt x="22781" y="127000"/>
                  <a:pt x="50800" y="127000"/>
                </a:cubicBezTo>
                <a:close/>
              </a:path>
            </a:pathLst>
          </a:custGeom>
          <a:solidFill>
            <a:srgbClr val="C4843F"/>
          </a:solidFill>
          <a:ln/>
        </p:spPr>
      </p:sp>
      <p:sp>
        <p:nvSpPr>
          <p:cNvPr id="15" name="Text 13"/>
          <p:cNvSpPr/>
          <p:nvPr/>
        </p:nvSpPr>
        <p:spPr>
          <a:xfrm>
            <a:off x="9271000" y="3746500"/>
            <a:ext cx="5969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Removing the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second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electron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 a positive ion (harder!)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Always: IE₂ &gt; IE₁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99500" y="5588000"/>
            <a:ext cx="6477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8A85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Example: Na⁺ → Na²⁺ + e⁻ IE₂ = 4562 kJ/mol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7048500"/>
            <a:ext cx="14732000" cy="1016000"/>
          </a:xfrm>
          <a:prstGeom prst="roundRect">
            <a:avLst>
              <a:gd name="adj" fmla="val 8000"/>
            </a:avLst>
          </a:prstGeom>
          <a:solidFill>
            <a:srgbClr val="C4843F"/>
          </a:solidFill>
          <a:ln/>
        </p:spPr>
      </p:sp>
      <p:sp>
        <p:nvSpPr>
          <p:cNvPr id="18" name="Text 16"/>
          <p:cNvSpPr/>
          <p:nvPr/>
        </p:nvSpPr>
        <p:spPr>
          <a:xfrm>
            <a:off x="1143000" y="7175500"/>
            <a:ext cx="1397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Big jump in IE reveals valence electron count!</a:t>
            </a:r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Na: IE₁ = 496, IE₂ = 4562 → 1 valence e⁻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462000" y="8788400"/>
            <a:ext cx="203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Periodic Trends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1B5E5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048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5E5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Ionization Energy Increases Across a Period</a:t>
            </a:r>
            <a:endParaRPr lang="en-US" sz="2800" dirty="0"/>
          </a:p>
        </p:txBody>
      </p:sp>
      <p:pic>
        <p:nvPicPr>
          <p:cNvPr id="4" name="Image 0" descr="https://kimi-img.moonshot.cn/pub/slides/okc/dig24ngleip3e/mnt/agents/output/topic5_periodic_trends/images/7_Ionization_Energy_GeeksforGeeks.png">    </p:cNvPr>
          <p:cNvPicPr>
            <a:picLocks noChangeAspect="1"/>
          </p:cNvPicPr>
          <p:nvPr/>
        </p:nvPicPr>
        <p:blipFill>
          <a:blip r:embed="rId1"/>
          <a:srcRect l="37" r="38" t="0" b="0"/>
          <a:stretch/>
        </p:blipFill>
        <p:spPr>
          <a:xfrm>
            <a:off x="762000" y="1079500"/>
            <a:ext cx="8890000" cy="5080000"/>
          </a:xfrm>
          <a:prstGeom prst="roundRect">
            <a:avLst>
              <a:gd name="adj" fmla="val 8000"/>
            </a:avLst>
          </a:prstGeom>
        </p:spPr>
      </p:pic>
      <p:sp>
        <p:nvSpPr>
          <p:cNvPr id="5" name="Shape 2"/>
          <p:cNvSpPr/>
          <p:nvPr/>
        </p:nvSpPr>
        <p:spPr>
          <a:xfrm>
            <a:off x="10160000" y="1079500"/>
            <a:ext cx="5334000" cy="5080000"/>
          </a:xfrm>
          <a:prstGeom prst="roundRect">
            <a:avLst>
              <a:gd name="adj" fmla="val 6000"/>
            </a:avLst>
          </a:prstGeom>
          <a:solidFill>
            <a:srgbClr val="E8F0F0"/>
          </a:solidFill>
          <a:ln/>
        </p:spPr>
      </p:sp>
      <p:sp>
        <p:nvSpPr>
          <p:cNvPr id="6" name="Text 3"/>
          <p:cNvSpPr/>
          <p:nvPr/>
        </p:nvSpPr>
        <p:spPr>
          <a:xfrm>
            <a:off x="10477500" y="12700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C484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TREND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0477500" y="1778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48806" y="248781"/>
                </a:moveTo>
                <a:cubicBezTo>
                  <a:pt x="459968" y="237619"/>
                  <a:pt x="459968" y="219492"/>
                  <a:pt x="448806" y="208330"/>
                </a:cubicBezTo>
                <a:lnTo>
                  <a:pt x="305931" y="65455"/>
                </a:lnTo>
                <a:cubicBezTo>
                  <a:pt x="294769" y="54293"/>
                  <a:pt x="276642" y="54293"/>
                  <a:pt x="265480" y="65455"/>
                </a:cubicBezTo>
                <a:cubicBezTo>
                  <a:pt x="254318" y="76617"/>
                  <a:pt x="254318" y="94744"/>
                  <a:pt x="265480" y="105906"/>
                </a:cubicBezTo>
                <a:lnTo>
                  <a:pt x="359599" y="200025"/>
                </a:lnTo>
                <a:lnTo>
                  <a:pt x="28575" y="200025"/>
                </a:lnTo>
                <a:cubicBezTo>
                  <a:pt x="12769" y="200025"/>
                  <a:pt x="0" y="212794"/>
                  <a:pt x="0" y="228600"/>
                </a:cubicBezTo>
                <a:cubicBezTo>
                  <a:pt x="0" y="244406"/>
                  <a:pt x="12769" y="257175"/>
                  <a:pt x="28575" y="257175"/>
                </a:cubicBezTo>
                <a:lnTo>
                  <a:pt x="359599" y="257175"/>
                </a:lnTo>
                <a:lnTo>
                  <a:pt x="265480" y="351294"/>
                </a:lnTo>
                <a:cubicBezTo>
                  <a:pt x="254317" y="362456"/>
                  <a:pt x="254317" y="380583"/>
                  <a:pt x="265480" y="391745"/>
                </a:cubicBezTo>
                <a:cubicBezTo>
                  <a:pt x="276642" y="402908"/>
                  <a:pt x="294769" y="402908"/>
                  <a:pt x="305931" y="391745"/>
                </a:cubicBezTo>
                <a:lnTo>
                  <a:pt x="448806" y="248870"/>
                </a:lnTo>
                <a:close/>
              </a:path>
            </a:pathLst>
          </a:custGeom>
          <a:solidFill>
            <a:srgbClr val="C4843F"/>
          </a:solidFill>
          <a:ln/>
        </p:spPr>
      </p:sp>
      <p:sp>
        <p:nvSpPr>
          <p:cNvPr id="8" name="Text 5"/>
          <p:cNvSpPr/>
          <p:nvPr/>
        </p:nvSpPr>
        <p:spPr>
          <a:xfrm>
            <a:off x="11112500" y="177800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IE increases →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477500" y="2540000"/>
            <a:ext cx="469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5E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Why?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477500" y="2946400"/>
            <a:ext cx="4699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Higher Z</a:t>
            </a:r>
            <a:pPr>
              <a:lnSpc>
                <a:spcPct val="150000"/>
              </a:lnSpc>
            </a:pPr>
            <a:r>
              <a:rPr lang="en-US" sz="1600" baseline="-400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eff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stronger hold on electrons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harder to remove an e⁻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C484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higher IE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0477500" y="4889500"/>
            <a:ext cx="4699000" cy="1079500"/>
          </a:xfrm>
          <a:prstGeom prst="roundRect">
            <a:avLst>
              <a:gd name="adj" fmla="val 8000"/>
            </a:avLst>
          </a:prstGeom>
          <a:solidFill>
            <a:srgbClr val="1B5E5E"/>
          </a:solidFill>
          <a:ln/>
        </p:spPr>
      </p:sp>
      <p:sp>
        <p:nvSpPr>
          <p:cNvPr id="12" name="Text 9"/>
          <p:cNvSpPr/>
          <p:nvPr/>
        </p:nvSpPr>
        <p:spPr>
          <a:xfrm>
            <a:off x="10668000" y="5016500"/>
            <a:ext cx="4318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Period 3 (kJ/mol):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 496 → Mg 738 → Al 578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62000" y="6477000"/>
            <a:ext cx="1473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1B5E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General rule:</a:t>
            </a:r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Metals have </a:t>
            </a:r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C484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 IE</a:t>
            </a:r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(lose e⁻ easily) · Nonmetals have </a:t>
            </a:r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C484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IE</a:t>
            </a:r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(hold e⁻ tightly)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3462000" y="8788400"/>
            <a:ext cx="203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Periodic Trends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1B5E5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048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5E5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Ionization Energy Decreases Down a Group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762000" y="1079500"/>
          <a:ext cx="8382000" cy="5080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9652000" y="1079500"/>
            <a:ext cx="5842000" cy="5080000"/>
          </a:xfrm>
          <a:prstGeom prst="roundRect">
            <a:avLst>
              <a:gd name="adj" fmla="val 6000"/>
            </a:avLst>
          </a:prstGeom>
          <a:solidFill>
            <a:srgbClr val="E8F0F0"/>
          </a:solidFill>
          <a:ln/>
        </p:spPr>
      </p:sp>
      <p:sp>
        <p:nvSpPr>
          <p:cNvPr id="6" name="Text 3"/>
          <p:cNvSpPr/>
          <p:nvPr/>
        </p:nvSpPr>
        <p:spPr>
          <a:xfrm>
            <a:off x="9969500" y="12700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C484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TREND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0026650" y="177800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151269" y="448806"/>
                </a:moveTo>
                <a:cubicBezTo>
                  <a:pt x="162431" y="459968"/>
                  <a:pt x="180558" y="459968"/>
                  <a:pt x="191720" y="448806"/>
                </a:cubicBezTo>
                <a:lnTo>
                  <a:pt x="334595" y="305931"/>
                </a:lnTo>
                <a:cubicBezTo>
                  <a:pt x="345758" y="294769"/>
                  <a:pt x="345758" y="276642"/>
                  <a:pt x="334595" y="265480"/>
                </a:cubicBezTo>
                <a:cubicBezTo>
                  <a:pt x="323433" y="254318"/>
                  <a:pt x="305306" y="254318"/>
                  <a:pt x="294144" y="265480"/>
                </a:cubicBezTo>
                <a:lnTo>
                  <a:pt x="200025" y="359599"/>
                </a:lnTo>
                <a:lnTo>
                  <a:pt x="200025" y="28575"/>
                </a:lnTo>
                <a:cubicBezTo>
                  <a:pt x="200025" y="12769"/>
                  <a:pt x="187256" y="0"/>
                  <a:pt x="171450" y="0"/>
                </a:cubicBezTo>
                <a:cubicBezTo>
                  <a:pt x="155644" y="0"/>
                  <a:pt x="142875" y="12769"/>
                  <a:pt x="142875" y="28575"/>
                </a:cubicBezTo>
                <a:lnTo>
                  <a:pt x="142875" y="359599"/>
                </a:lnTo>
                <a:lnTo>
                  <a:pt x="48756" y="265480"/>
                </a:lnTo>
                <a:cubicBezTo>
                  <a:pt x="37594" y="254317"/>
                  <a:pt x="19467" y="254317"/>
                  <a:pt x="8305" y="265480"/>
                </a:cubicBezTo>
                <a:cubicBezTo>
                  <a:pt x="-2858" y="276642"/>
                  <a:pt x="-2858" y="294769"/>
                  <a:pt x="8305" y="305931"/>
                </a:cubicBezTo>
                <a:lnTo>
                  <a:pt x="151180" y="448806"/>
                </a:lnTo>
                <a:close/>
              </a:path>
            </a:pathLst>
          </a:custGeom>
          <a:solidFill>
            <a:srgbClr val="C4843F"/>
          </a:solidFill>
          <a:ln/>
        </p:spPr>
      </p:sp>
      <p:sp>
        <p:nvSpPr>
          <p:cNvPr id="8" name="Text 5"/>
          <p:cNvSpPr/>
          <p:nvPr/>
        </p:nvSpPr>
        <p:spPr>
          <a:xfrm>
            <a:off x="10604500" y="1778000"/>
            <a:ext cx="457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IE decreases ↓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969500" y="2540000"/>
            <a:ext cx="520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5E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Why?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969500" y="2946400"/>
            <a:ext cx="5207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Outer electrons are farther away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more shielding from inner shells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weaker attraction to nucleus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C484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easier to remove = lower IE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9969500" y="4889500"/>
            <a:ext cx="5207000" cy="1079500"/>
          </a:xfrm>
          <a:prstGeom prst="roundRect">
            <a:avLst>
              <a:gd name="adj" fmla="val 8000"/>
            </a:avLst>
          </a:prstGeom>
          <a:solidFill>
            <a:srgbClr val="1B5E5E"/>
          </a:solidFill>
          <a:ln/>
        </p:spPr>
      </p:sp>
      <p:sp>
        <p:nvSpPr>
          <p:cNvPr id="12" name="Text 9"/>
          <p:cNvSpPr/>
          <p:nvPr/>
        </p:nvSpPr>
        <p:spPr>
          <a:xfrm>
            <a:off x="10160000" y="5016500"/>
            <a:ext cx="4826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Group 1 (kJ/mol):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 520 &gt; Na 496 &gt; K 419 &gt; Rb 403 &gt; Cs 376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3462000" y="8788400"/>
            <a:ext cx="203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Periodic Trends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1B5E5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048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5E5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Exceptions to the IE Trend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79500"/>
            <a:ext cx="7239000" cy="6858000"/>
          </a:xfrm>
          <a:prstGeom prst="roundRect">
            <a:avLst>
              <a:gd name="adj" fmla="val 6000"/>
            </a:avLst>
          </a:prstGeom>
          <a:solidFill>
            <a:srgbClr val="E8F0F0"/>
          </a:solidFill>
          <a:ln/>
        </p:spPr>
      </p:sp>
      <p:sp>
        <p:nvSpPr>
          <p:cNvPr id="5" name="Text 3"/>
          <p:cNvSpPr/>
          <p:nvPr/>
        </p:nvSpPr>
        <p:spPr>
          <a:xfrm>
            <a:off x="1079500" y="1270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1B5E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DROP: GROUP 2 → 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79500" y="1778000"/>
            <a:ext cx="660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 (900) &gt; </a:t>
            </a:r>
            <a:pPr>
              <a:lnSpc>
                <a:spcPct val="100000"/>
              </a:lnSpc>
            </a:pPr>
            <a:r>
              <a:rPr lang="en-US" sz="1800" b="1" dirty="0">
                <a:solidFill>
                  <a:srgbClr val="C484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 (801)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· Mg (738) &gt; </a:t>
            </a:r>
            <a:pPr>
              <a:lnSpc>
                <a:spcPct val="100000"/>
              </a:lnSpc>
            </a:pPr>
            <a:r>
              <a:rPr lang="en-US" sz="1800" b="1" dirty="0">
                <a:solidFill>
                  <a:srgbClr val="C484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 (578)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9500" y="2413000"/>
            <a:ext cx="660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Group 2: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ns² (full s-subshell)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Group 3: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ns² np¹ (one p electron)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p electron is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higher energy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partially shielded by s electrons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524000" y="4381500"/>
            <a:ext cx="2540000" cy="457200"/>
          </a:xfrm>
          <a:prstGeom prst="roundRect">
            <a:avLst>
              <a:gd name="adj" fmla="val 8000"/>
            </a:avLst>
          </a:prstGeom>
          <a:solidFill>
            <a:srgbClr val="1B5E5E"/>
          </a:solidFill>
          <a:ln/>
        </p:spPr>
      </p:sp>
      <p:sp>
        <p:nvSpPr>
          <p:cNvPr id="9" name="Text 7"/>
          <p:cNvSpPr/>
          <p:nvPr/>
        </p:nvSpPr>
        <p:spPr>
          <a:xfrm>
            <a:off x="1651000" y="4419600"/>
            <a:ext cx="2286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ns²</a:t>
            </a:r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full = stable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18000" y="4635500"/>
            <a:ext cx="762000" cy="0"/>
          </a:xfrm>
          <a:prstGeom prst="straightConnector1">
            <a:avLst/>
          </a:prstGeom>
          <a:noFill/>
          <a:ln w="25400">
            <a:solidFill>
              <a:srgbClr val="C4843F"/>
            </a:solidFill>
            <a:prstDash val="solid"/>
            <a:headEnd type="none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5334000" y="4381500"/>
            <a:ext cx="2540000" cy="457200"/>
          </a:xfrm>
          <a:prstGeom prst="roundRect">
            <a:avLst>
              <a:gd name="adj" fmla="val 8000"/>
            </a:avLst>
          </a:prstGeom>
          <a:solidFill>
            <a:srgbClr val="C4843F"/>
          </a:solidFill>
          <a:ln/>
        </p:spPr>
      </p:sp>
      <p:sp>
        <p:nvSpPr>
          <p:cNvPr id="12" name="Text 10"/>
          <p:cNvSpPr/>
          <p:nvPr/>
        </p:nvSpPr>
        <p:spPr>
          <a:xfrm>
            <a:off x="5461000" y="4419600"/>
            <a:ext cx="2286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np¹</a:t>
            </a:r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higher 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79500" y="5461000"/>
            <a:ext cx="660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p¹ electron is easier to remove than a full s² electron →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C484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IE drops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382000" y="1079500"/>
            <a:ext cx="7112000" cy="6858000"/>
          </a:xfrm>
          <a:prstGeom prst="roundRect">
            <a:avLst>
              <a:gd name="adj" fmla="val 6000"/>
            </a:avLst>
          </a:prstGeom>
          <a:solidFill>
            <a:srgbClr val="E8F0F0"/>
          </a:solidFill>
          <a:ln/>
        </p:spPr>
      </p:sp>
      <p:sp>
        <p:nvSpPr>
          <p:cNvPr id="15" name="Text 13"/>
          <p:cNvSpPr/>
          <p:nvPr/>
        </p:nvSpPr>
        <p:spPr>
          <a:xfrm>
            <a:off x="8699500" y="1270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C484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DROP: GROUP 15 → 16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99500" y="1778000"/>
            <a:ext cx="6477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 (1402) &gt; </a:t>
            </a:r>
            <a:pPr>
              <a:lnSpc>
                <a:spcPct val="100000"/>
              </a:lnSpc>
            </a:pPr>
            <a:r>
              <a:rPr lang="en-US" sz="1800" b="1" dirty="0">
                <a:solidFill>
                  <a:srgbClr val="C484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 (1314)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· P (1012) &gt; </a:t>
            </a:r>
            <a:pPr>
              <a:lnSpc>
                <a:spcPct val="100000"/>
              </a:lnSpc>
            </a:pPr>
            <a:r>
              <a:rPr lang="en-US" sz="1800" b="1" dirty="0">
                <a:solidFill>
                  <a:srgbClr val="C484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 (1000)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699500" y="2413000"/>
            <a:ext cx="6477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Group 15: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np³ (half-filled = stable)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Group 16: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np⁴ (paired electrons)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paired e⁻ in same orbital repel each other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one e⁻ is easier to remove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144000" y="4381500"/>
            <a:ext cx="2540000" cy="457200"/>
          </a:xfrm>
          <a:prstGeom prst="roundRect">
            <a:avLst>
              <a:gd name="adj" fmla="val 8000"/>
            </a:avLst>
          </a:prstGeom>
          <a:solidFill>
            <a:srgbClr val="1B5E5E"/>
          </a:solidFill>
          <a:ln/>
        </p:spPr>
      </p:sp>
      <p:sp>
        <p:nvSpPr>
          <p:cNvPr id="19" name="Text 17"/>
          <p:cNvSpPr/>
          <p:nvPr/>
        </p:nvSpPr>
        <p:spPr>
          <a:xfrm>
            <a:off x="9271000" y="4419600"/>
            <a:ext cx="2286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np³</a:t>
            </a:r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half-full = stable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1938000" y="4635500"/>
            <a:ext cx="762000" cy="0"/>
          </a:xfrm>
          <a:prstGeom prst="straightConnector1">
            <a:avLst/>
          </a:prstGeom>
          <a:noFill/>
          <a:ln w="25400">
            <a:solidFill>
              <a:srgbClr val="C4843F"/>
            </a:solidFill>
            <a:prstDash val="solid"/>
            <a:headEnd type="none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12954000" y="4381500"/>
            <a:ext cx="2540000" cy="457200"/>
          </a:xfrm>
          <a:prstGeom prst="roundRect">
            <a:avLst>
              <a:gd name="adj" fmla="val 8000"/>
            </a:avLst>
          </a:prstGeom>
          <a:solidFill>
            <a:srgbClr val="C4843F"/>
          </a:solidFill>
          <a:ln/>
        </p:spPr>
      </p:sp>
      <p:sp>
        <p:nvSpPr>
          <p:cNvPr id="22" name="Text 20"/>
          <p:cNvSpPr/>
          <p:nvPr/>
        </p:nvSpPr>
        <p:spPr>
          <a:xfrm>
            <a:off x="13081000" y="4419600"/>
            <a:ext cx="2286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np⁴</a:t>
            </a:r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paired = repel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699500" y="5461000"/>
            <a:ext cx="647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Electron pairing adds repulsion →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C484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IE drops slightly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462000" y="8788400"/>
            <a:ext cx="203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Periodic Trends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5E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dig24ngleip3e/mnt/agents/output/topic5_periodic_trends/images/5_Periodic_Trends_in_Electron_Affinit.png">    </p:cNvPr>
          <p:cNvPicPr>
            <a:picLocks noChangeAspect="1"/>
          </p:cNvPicPr>
          <p:nvPr/>
        </p:nvPicPr>
        <p:blipFill>
          <a:blip r:embed="rId1"/>
          <a:srcRect l="23257" r="23257" t="0" b="0"/>
          <a:stretch/>
        </p:blipFill>
        <p:spPr>
          <a:xfrm>
            <a:off x="0" y="0"/>
            <a:ext cx="73152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775200" y="0"/>
            <a:ext cx="2540000" cy="9144000"/>
          </a:xfrm>
          <a:prstGeom prst="rect">
            <a:avLst/>
          </a:prstGeom>
          <a:gradFill rotWithShape="1" flip="none">
            <a:gsLst>
              <a:gs pos="0">
                <a:srgbClr val="1B5E5E">
                  <a:alpha val="0"/>
                </a:srgbClr>
              </a:gs>
              <a:gs pos="100000">
                <a:srgbClr val="1B5E5E"/>
              </a:gs>
            </a:gsLst>
            <a:lin ang="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8128000" y="2540000"/>
            <a:ext cx="254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C484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8128000" y="3810000"/>
            <a:ext cx="1016000" cy="50800"/>
          </a:xfrm>
          <a:prstGeom prst="rect">
            <a:avLst/>
          </a:prstGeom>
          <a:solidFill>
            <a:srgbClr val="C4843F"/>
          </a:solidFill>
          <a:ln/>
        </p:spPr>
      </p:sp>
      <p:sp>
        <p:nvSpPr>
          <p:cNvPr id="6" name="Text 3"/>
          <p:cNvSpPr/>
          <p:nvPr/>
        </p:nvSpPr>
        <p:spPr>
          <a:xfrm>
            <a:off x="8128000" y="4064000"/>
            <a:ext cx="711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Electron Affinity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128000" y="4826000"/>
            <a:ext cx="711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Energy change when adding an electron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1B5E5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048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5E5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What Is Electron Affinity?</a:t>
            </a:r>
            <a:endParaRPr lang="en-US" sz="2800" dirty="0"/>
          </a:p>
        </p:txBody>
      </p:sp>
      <p:pic>
        <p:nvPicPr>
          <p:cNvPr id="4" name="Image 0" descr="https://kimi-img.moonshot.cn/pub/slides/okc/dig24ngleip3e/mnt/agents/output/topic5_periodic_trends/images/1_Electron_Affinity_Definition_Chart.png">    </p:cNvPr>
          <p:cNvPicPr>
            <a:picLocks noChangeAspect="1"/>
          </p:cNvPicPr>
          <p:nvPr/>
        </p:nvPicPr>
        <p:blipFill>
          <a:blip r:embed="rId1"/>
          <a:srcRect l="0" r="0" t="-3770" b="-3770"/>
          <a:stretch/>
        </p:blipFill>
        <p:spPr>
          <a:xfrm>
            <a:off x="762000" y="1079500"/>
            <a:ext cx="6604000" cy="4318000"/>
          </a:xfrm>
          <a:prstGeom prst="roundRect">
            <a:avLst>
              <a:gd name="adj" fmla="val 8000"/>
            </a:avLst>
          </a:prstGeom>
        </p:spPr>
      </p:pic>
      <p:sp>
        <p:nvSpPr>
          <p:cNvPr id="5" name="Shape 2"/>
          <p:cNvSpPr/>
          <p:nvPr/>
        </p:nvSpPr>
        <p:spPr>
          <a:xfrm>
            <a:off x="7874000" y="1079500"/>
            <a:ext cx="7620000" cy="1524000"/>
          </a:xfrm>
          <a:prstGeom prst="roundRect">
            <a:avLst>
              <a:gd name="adj" fmla="val 6000"/>
            </a:avLst>
          </a:prstGeom>
          <a:solidFill>
            <a:srgbClr val="1B5E5E"/>
          </a:solidFill>
          <a:ln/>
        </p:spPr>
      </p:sp>
      <p:sp>
        <p:nvSpPr>
          <p:cNvPr id="6" name="Text 3"/>
          <p:cNvSpPr/>
          <p:nvPr/>
        </p:nvSpPr>
        <p:spPr>
          <a:xfrm>
            <a:off x="8191500" y="1206500"/>
            <a:ext cx="698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X(g) + e⁻ → X⁻(g)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191500" y="1905000"/>
            <a:ext cx="6985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Energy change when an atom gains an electron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874000" y="2921000"/>
            <a:ext cx="7620000" cy="1270000"/>
          </a:xfrm>
          <a:prstGeom prst="roundRect">
            <a:avLst>
              <a:gd name="adj" fmla="val 8000"/>
            </a:avLst>
          </a:prstGeom>
          <a:solidFill>
            <a:srgbClr val="E8F0F0"/>
          </a:solidFill>
          <a:ln/>
        </p:spPr>
      </p:sp>
      <p:sp>
        <p:nvSpPr>
          <p:cNvPr id="9" name="Shape 6"/>
          <p:cNvSpPr/>
          <p:nvPr/>
        </p:nvSpPr>
        <p:spPr>
          <a:xfrm>
            <a:off x="8213725" y="31750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111472" y="-18336"/>
                </a:moveTo>
                <a:cubicBezTo>
                  <a:pt x="117931" y="-23753"/>
                  <a:pt x="127446" y="-23545"/>
                  <a:pt x="133628" y="-17711"/>
                </a:cubicBezTo>
                <a:cubicBezTo>
                  <a:pt x="142171" y="-9654"/>
                  <a:pt x="149810" y="-764"/>
                  <a:pt x="157172" y="8265"/>
                </a:cubicBezTo>
                <a:cubicBezTo>
                  <a:pt x="166549" y="19725"/>
                  <a:pt x="177800" y="34865"/>
                  <a:pt x="188635" y="52854"/>
                </a:cubicBezTo>
                <a:cubicBezTo>
                  <a:pt x="192246" y="48131"/>
                  <a:pt x="195580" y="43964"/>
                  <a:pt x="198497" y="40422"/>
                </a:cubicBezTo>
                <a:cubicBezTo>
                  <a:pt x="199261" y="39519"/>
                  <a:pt x="200025" y="38546"/>
                  <a:pt x="200789" y="37574"/>
                </a:cubicBezTo>
                <a:cubicBezTo>
                  <a:pt x="206276" y="30768"/>
                  <a:pt x="213082" y="22225"/>
                  <a:pt x="222181" y="22225"/>
                </a:cubicBezTo>
                <a:cubicBezTo>
                  <a:pt x="231487" y="22225"/>
                  <a:pt x="238016" y="30490"/>
                  <a:pt x="243572" y="37574"/>
                </a:cubicBezTo>
                <a:cubicBezTo>
                  <a:pt x="244475" y="38755"/>
                  <a:pt x="245378" y="39866"/>
                  <a:pt x="246281" y="40908"/>
                </a:cubicBezTo>
                <a:cubicBezTo>
                  <a:pt x="253434" y="49520"/>
                  <a:pt x="262950" y="61952"/>
                  <a:pt x="272465" y="77301"/>
                </a:cubicBezTo>
                <a:cubicBezTo>
                  <a:pt x="291356" y="107791"/>
                  <a:pt x="311081" y="151199"/>
                  <a:pt x="311081" y="199956"/>
                </a:cubicBezTo>
                <a:cubicBezTo>
                  <a:pt x="311081" y="285869"/>
                  <a:pt x="241419" y="355531"/>
                  <a:pt x="155506" y="355531"/>
                </a:cubicBezTo>
                <a:cubicBezTo>
                  <a:pt x="69592" y="355531"/>
                  <a:pt x="0" y="285939"/>
                  <a:pt x="0" y="200025"/>
                </a:cubicBezTo>
                <a:cubicBezTo>
                  <a:pt x="0" y="136753"/>
                  <a:pt x="28545" y="81955"/>
                  <a:pt x="55910" y="43755"/>
                </a:cubicBezTo>
                <a:cubicBezTo>
                  <a:pt x="69731" y="24517"/>
                  <a:pt x="83483" y="9098"/>
                  <a:pt x="93831" y="-1459"/>
                </a:cubicBezTo>
                <a:cubicBezTo>
                  <a:pt x="99526" y="-7293"/>
                  <a:pt x="105291" y="-13057"/>
                  <a:pt x="111542" y="-18266"/>
                </a:cubicBezTo>
                <a:close/>
                <a:moveTo>
                  <a:pt x="156756" y="288925"/>
                </a:moveTo>
                <a:cubicBezTo>
                  <a:pt x="174327" y="288925"/>
                  <a:pt x="189885" y="284063"/>
                  <a:pt x="204539" y="274340"/>
                </a:cubicBezTo>
                <a:cubicBezTo>
                  <a:pt x="233779" y="253921"/>
                  <a:pt x="241627" y="213082"/>
                  <a:pt x="224056" y="180995"/>
                </a:cubicBezTo>
                <a:cubicBezTo>
                  <a:pt x="220930" y="174744"/>
                  <a:pt x="212943" y="174327"/>
                  <a:pt x="208429" y="179606"/>
                </a:cubicBezTo>
                <a:lnTo>
                  <a:pt x="190927" y="199956"/>
                </a:lnTo>
                <a:cubicBezTo>
                  <a:pt x="186343" y="205234"/>
                  <a:pt x="178078" y="205095"/>
                  <a:pt x="173772" y="199608"/>
                </a:cubicBezTo>
                <a:cubicBezTo>
                  <a:pt x="161756" y="184259"/>
                  <a:pt x="139670" y="156270"/>
                  <a:pt x="128419" y="141962"/>
                </a:cubicBezTo>
                <a:cubicBezTo>
                  <a:pt x="124668" y="137170"/>
                  <a:pt x="117862" y="136406"/>
                  <a:pt x="113486" y="140643"/>
                </a:cubicBezTo>
                <a:cubicBezTo>
                  <a:pt x="100776" y="153005"/>
                  <a:pt x="77718" y="180092"/>
                  <a:pt x="77718" y="213082"/>
                </a:cubicBezTo>
                <a:cubicBezTo>
                  <a:pt x="77718" y="260727"/>
                  <a:pt x="112861" y="288925"/>
                  <a:pt x="156686" y="288925"/>
                </a:cubicBezTo>
                <a:close/>
              </a:path>
            </a:pathLst>
          </a:custGeom>
          <a:solidFill>
            <a:srgbClr val="C4843F"/>
          </a:solidFill>
          <a:ln/>
        </p:spPr>
      </p:sp>
      <p:sp>
        <p:nvSpPr>
          <p:cNvPr id="10" name="Text 7"/>
          <p:cNvSpPr/>
          <p:nvPr/>
        </p:nvSpPr>
        <p:spPr>
          <a:xfrm>
            <a:off x="8699500" y="3111500"/>
            <a:ext cx="6477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C484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Negative EA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energy released (exothermic)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More negative = stronger attraction for electrons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874000" y="4445000"/>
            <a:ext cx="7620000" cy="1270000"/>
          </a:xfrm>
          <a:prstGeom prst="roundRect">
            <a:avLst>
              <a:gd name="adj" fmla="val 8000"/>
            </a:avLst>
          </a:prstGeom>
          <a:solidFill>
            <a:srgbClr val="E8F0F0"/>
          </a:solidFill>
          <a:ln/>
        </p:spPr>
      </p:sp>
      <p:sp>
        <p:nvSpPr>
          <p:cNvPr id="12" name="Shape 9"/>
          <p:cNvSpPr/>
          <p:nvPr/>
        </p:nvSpPr>
        <p:spPr>
          <a:xfrm>
            <a:off x="8191500" y="4699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00164" y="0"/>
                </a:moveTo>
                <a:cubicBezTo>
                  <a:pt x="200164" y="-12293"/>
                  <a:pt x="190232" y="-22225"/>
                  <a:pt x="177939" y="-22225"/>
                </a:cubicBezTo>
                <a:cubicBezTo>
                  <a:pt x="165646" y="-22225"/>
                  <a:pt x="155714" y="-12293"/>
                  <a:pt x="155714" y="0"/>
                </a:cubicBezTo>
                <a:lnTo>
                  <a:pt x="155714" y="43130"/>
                </a:lnTo>
                <a:lnTo>
                  <a:pt x="145296" y="32712"/>
                </a:lnTo>
                <a:cubicBezTo>
                  <a:pt x="138767" y="26184"/>
                  <a:pt x="128210" y="26184"/>
                  <a:pt x="121751" y="32712"/>
                </a:cubicBezTo>
                <a:cubicBezTo>
                  <a:pt x="115292" y="39241"/>
                  <a:pt x="115223" y="49798"/>
                  <a:pt x="121751" y="56257"/>
                </a:cubicBezTo>
                <a:lnTo>
                  <a:pt x="155783" y="90289"/>
                </a:lnTo>
                <a:lnTo>
                  <a:pt x="155783" y="139323"/>
                </a:lnTo>
                <a:lnTo>
                  <a:pt x="113278" y="114806"/>
                </a:lnTo>
                <a:lnTo>
                  <a:pt x="100846" y="68342"/>
                </a:lnTo>
                <a:cubicBezTo>
                  <a:pt x="98485" y="59452"/>
                  <a:pt x="89317" y="54173"/>
                  <a:pt x="80427" y="56535"/>
                </a:cubicBezTo>
                <a:cubicBezTo>
                  <a:pt x="71537" y="58896"/>
                  <a:pt x="66189" y="68064"/>
                  <a:pt x="68550" y="76954"/>
                </a:cubicBezTo>
                <a:lnTo>
                  <a:pt x="72370" y="91192"/>
                </a:lnTo>
                <a:lnTo>
                  <a:pt x="35074" y="69661"/>
                </a:lnTo>
                <a:cubicBezTo>
                  <a:pt x="24448" y="63550"/>
                  <a:pt x="10835" y="67161"/>
                  <a:pt x="4723" y="77788"/>
                </a:cubicBezTo>
                <a:cubicBezTo>
                  <a:pt x="-1389" y="88414"/>
                  <a:pt x="2222" y="102027"/>
                  <a:pt x="12849" y="108139"/>
                </a:cubicBezTo>
                <a:lnTo>
                  <a:pt x="50145" y="129669"/>
                </a:lnTo>
                <a:lnTo>
                  <a:pt x="35907" y="133489"/>
                </a:lnTo>
                <a:cubicBezTo>
                  <a:pt x="27017" y="135850"/>
                  <a:pt x="21739" y="145018"/>
                  <a:pt x="24100" y="153908"/>
                </a:cubicBezTo>
                <a:cubicBezTo>
                  <a:pt x="26462" y="162798"/>
                  <a:pt x="35629" y="168077"/>
                  <a:pt x="44519" y="165715"/>
                </a:cubicBezTo>
                <a:lnTo>
                  <a:pt x="90984" y="153283"/>
                </a:lnTo>
                <a:lnTo>
                  <a:pt x="133489" y="177800"/>
                </a:lnTo>
                <a:lnTo>
                  <a:pt x="90984" y="202317"/>
                </a:lnTo>
                <a:lnTo>
                  <a:pt x="44519" y="189885"/>
                </a:lnTo>
                <a:cubicBezTo>
                  <a:pt x="35629" y="187523"/>
                  <a:pt x="26462" y="192802"/>
                  <a:pt x="24100" y="201692"/>
                </a:cubicBezTo>
                <a:cubicBezTo>
                  <a:pt x="21739" y="210582"/>
                  <a:pt x="27017" y="219750"/>
                  <a:pt x="35907" y="222111"/>
                </a:cubicBezTo>
                <a:lnTo>
                  <a:pt x="50145" y="225931"/>
                </a:lnTo>
                <a:lnTo>
                  <a:pt x="12849" y="247461"/>
                </a:lnTo>
                <a:cubicBezTo>
                  <a:pt x="2223" y="253573"/>
                  <a:pt x="-1389" y="267186"/>
                  <a:pt x="4723" y="277813"/>
                </a:cubicBezTo>
                <a:cubicBezTo>
                  <a:pt x="10835" y="288439"/>
                  <a:pt x="24447" y="292120"/>
                  <a:pt x="35074" y="285939"/>
                </a:cubicBezTo>
                <a:lnTo>
                  <a:pt x="72370" y="264408"/>
                </a:lnTo>
                <a:lnTo>
                  <a:pt x="68550" y="278646"/>
                </a:lnTo>
                <a:cubicBezTo>
                  <a:pt x="66189" y="287536"/>
                  <a:pt x="71467" y="296704"/>
                  <a:pt x="80357" y="299065"/>
                </a:cubicBezTo>
                <a:cubicBezTo>
                  <a:pt x="89247" y="301427"/>
                  <a:pt x="98415" y="296148"/>
                  <a:pt x="100776" y="287258"/>
                </a:cubicBezTo>
                <a:lnTo>
                  <a:pt x="113209" y="240794"/>
                </a:lnTo>
                <a:lnTo>
                  <a:pt x="155714" y="216277"/>
                </a:lnTo>
                <a:lnTo>
                  <a:pt x="155714" y="265311"/>
                </a:lnTo>
                <a:lnTo>
                  <a:pt x="121682" y="299343"/>
                </a:lnTo>
                <a:cubicBezTo>
                  <a:pt x="115153" y="305872"/>
                  <a:pt x="115153" y="316428"/>
                  <a:pt x="121682" y="322888"/>
                </a:cubicBezTo>
                <a:cubicBezTo>
                  <a:pt x="128210" y="329347"/>
                  <a:pt x="138767" y="329416"/>
                  <a:pt x="145226" y="322888"/>
                </a:cubicBezTo>
                <a:lnTo>
                  <a:pt x="155644" y="312470"/>
                </a:lnTo>
                <a:lnTo>
                  <a:pt x="155644" y="355600"/>
                </a:lnTo>
                <a:cubicBezTo>
                  <a:pt x="155644" y="367893"/>
                  <a:pt x="165576" y="377825"/>
                  <a:pt x="177869" y="377825"/>
                </a:cubicBezTo>
                <a:cubicBezTo>
                  <a:pt x="190163" y="377825"/>
                  <a:pt x="200094" y="367893"/>
                  <a:pt x="200094" y="355600"/>
                </a:cubicBezTo>
                <a:lnTo>
                  <a:pt x="200094" y="312470"/>
                </a:lnTo>
                <a:lnTo>
                  <a:pt x="210512" y="322888"/>
                </a:lnTo>
                <a:cubicBezTo>
                  <a:pt x="217041" y="329416"/>
                  <a:pt x="227598" y="329416"/>
                  <a:pt x="234057" y="322888"/>
                </a:cubicBezTo>
                <a:cubicBezTo>
                  <a:pt x="240516" y="316359"/>
                  <a:pt x="240586" y="305802"/>
                  <a:pt x="234057" y="299343"/>
                </a:cubicBezTo>
                <a:lnTo>
                  <a:pt x="200025" y="265311"/>
                </a:lnTo>
                <a:lnTo>
                  <a:pt x="200025" y="216277"/>
                </a:lnTo>
                <a:lnTo>
                  <a:pt x="242530" y="240794"/>
                </a:lnTo>
                <a:lnTo>
                  <a:pt x="254962" y="287258"/>
                </a:lnTo>
                <a:cubicBezTo>
                  <a:pt x="257324" y="296148"/>
                  <a:pt x="266492" y="301427"/>
                  <a:pt x="275382" y="299065"/>
                </a:cubicBezTo>
                <a:cubicBezTo>
                  <a:pt x="284272" y="296704"/>
                  <a:pt x="289550" y="287536"/>
                  <a:pt x="287189" y="278646"/>
                </a:cubicBezTo>
                <a:lnTo>
                  <a:pt x="283369" y="264408"/>
                </a:lnTo>
                <a:lnTo>
                  <a:pt x="320665" y="285939"/>
                </a:lnTo>
                <a:cubicBezTo>
                  <a:pt x="331291" y="292050"/>
                  <a:pt x="344904" y="288439"/>
                  <a:pt x="351016" y="277812"/>
                </a:cubicBezTo>
                <a:cubicBezTo>
                  <a:pt x="357128" y="267186"/>
                  <a:pt x="353516" y="253573"/>
                  <a:pt x="342890" y="247461"/>
                </a:cubicBezTo>
                <a:lnTo>
                  <a:pt x="305594" y="225931"/>
                </a:lnTo>
                <a:lnTo>
                  <a:pt x="319832" y="222111"/>
                </a:lnTo>
                <a:cubicBezTo>
                  <a:pt x="328722" y="219750"/>
                  <a:pt x="334000" y="210582"/>
                  <a:pt x="331639" y="201692"/>
                </a:cubicBezTo>
                <a:cubicBezTo>
                  <a:pt x="329277" y="192802"/>
                  <a:pt x="320109" y="187523"/>
                  <a:pt x="311219" y="189885"/>
                </a:cubicBezTo>
                <a:lnTo>
                  <a:pt x="264755" y="202317"/>
                </a:lnTo>
                <a:lnTo>
                  <a:pt x="222250" y="177800"/>
                </a:lnTo>
                <a:lnTo>
                  <a:pt x="264755" y="153283"/>
                </a:lnTo>
                <a:lnTo>
                  <a:pt x="311219" y="165715"/>
                </a:lnTo>
                <a:cubicBezTo>
                  <a:pt x="320109" y="168077"/>
                  <a:pt x="329277" y="162798"/>
                  <a:pt x="331639" y="153908"/>
                </a:cubicBezTo>
                <a:cubicBezTo>
                  <a:pt x="334000" y="145018"/>
                  <a:pt x="328722" y="135850"/>
                  <a:pt x="319832" y="133489"/>
                </a:cubicBezTo>
                <a:lnTo>
                  <a:pt x="305594" y="129669"/>
                </a:lnTo>
                <a:lnTo>
                  <a:pt x="342890" y="108139"/>
                </a:lnTo>
                <a:cubicBezTo>
                  <a:pt x="353516" y="102027"/>
                  <a:pt x="357197" y="88414"/>
                  <a:pt x="351016" y="77787"/>
                </a:cubicBezTo>
                <a:cubicBezTo>
                  <a:pt x="344835" y="67161"/>
                  <a:pt x="331291" y="63550"/>
                  <a:pt x="320665" y="69661"/>
                </a:cubicBezTo>
                <a:lnTo>
                  <a:pt x="283369" y="91192"/>
                </a:lnTo>
                <a:lnTo>
                  <a:pt x="287189" y="76954"/>
                </a:lnTo>
                <a:cubicBezTo>
                  <a:pt x="289550" y="68064"/>
                  <a:pt x="284272" y="58896"/>
                  <a:pt x="275382" y="56535"/>
                </a:cubicBezTo>
                <a:cubicBezTo>
                  <a:pt x="266492" y="54173"/>
                  <a:pt x="257324" y="59452"/>
                  <a:pt x="254962" y="68342"/>
                </a:cubicBezTo>
                <a:lnTo>
                  <a:pt x="242530" y="114806"/>
                </a:lnTo>
                <a:lnTo>
                  <a:pt x="200025" y="139323"/>
                </a:lnTo>
                <a:lnTo>
                  <a:pt x="200025" y="90289"/>
                </a:lnTo>
                <a:lnTo>
                  <a:pt x="234057" y="56257"/>
                </a:lnTo>
                <a:cubicBezTo>
                  <a:pt x="240586" y="49728"/>
                  <a:pt x="240586" y="39172"/>
                  <a:pt x="234057" y="32712"/>
                </a:cubicBezTo>
                <a:cubicBezTo>
                  <a:pt x="227528" y="26253"/>
                  <a:pt x="216972" y="26184"/>
                  <a:pt x="210512" y="32712"/>
                </a:cubicBezTo>
                <a:lnTo>
                  <a:pt x="200094" y="43130"/>
                </a:lnTo>
                <a:lnTo>
                  <a:pt x="200094" y="0"/>
                </a:lnTo>
                <a:close/>
              </a:path>
            </a:pathLst>
          </a:custGeom>
          <a:solidFill>
            <a:srgbClr val="1B5E5E"/>
          </a:solidFill>
          <a:ln/>
        </p:spPr>
      </p:sp>
      <p:sp>
        <p:nvSpPr>
          <p:cNvPr id="13" name="Text 10"/>
          <p:cNvSpPr/>
          <p:nvPr/>
        </p:nvSpPr>
        <p:spPr>
          <a:xfrm>
            <a:off x="8699500" y="4635500"/>
            <a:ext cx="6477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B5E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Positive EA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energy absorbed (endothermic)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Adding an electron is unfavorable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62000" y="5969000"/>
            <a:ext cx="14732000" cy="1778000"/>
          </a:xfrm>
          <a:prstGeom prst="roundRect">
            <a:avLst>
              <a:gd name="adj" fmla="val 6000"/>
            </a:avLst>
          </a:prstGeom>
          <a:solidFill>
            <a:srgbClr val="C4843F"/>
          </a:solidFill>
          <a:ln/>
        </p:spPr>
      </p:sp>
      <p:sp>
        <p:nvSpPr>
          <p:cNvPr id="15" name="Shape 12"/>
          <p:cNvSpPr/>
          <p:nvPr/>
        </p:nvSpPr>
        <p:spPr>
          <a:xfrm>
            <a:off x="1114425" y="64135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276374" y="-16877"/>
                </a:moveTo>
                <a:cubicBezTo>
                  <a:pt x="272713" y="-24021"/>
                  <a:pt x="265301" y="-28575"/>
                  <a:pt x="257264" y="-28575"/>
                </a:cubicBezTo>
                <a:cubicBezTo>
                  <a:pt x="249228" y="-28575"/>
                  <a:pt x="241816" y="-24021"/>
                  <a:pt x="238155" y="-16877"/>
                </a:cubicBezTo>
                <a:lnTo>
                  <a:pt x="172432" y="111889"/>
                </a:lnTo>
                <a:lnTo>
                  <a:pt x="29647" y="134570"/>
                </a:lnTo>
                <a:cubicBezTo>
                  <a:pt x="21699" y="135821"/>
                  <a:pt x="15091" y="141446"/>
                  <a:pt x="12591" y="149126"/>
                </a:cubicBezTo>
                <a:cubicBezTo>
                  <a:pt x="10091" y="156805"/>
                  <a:pt x="12144" y="165199"/>
                  <a:pt x="17770" y="170914"/>
                </a:cubicBezTo>
                <a:lnTo>
                  <a:pt x="119926" y="273159"/>
                </a:lnTo>
                <a:lnTo>
                  <a:pt x="97423" y="415945"/>
                </a:lnTo>
                <a:cubicBezTo>
                  <a:pt x="96173" y="423892"/>
                  <a:pt x="99477" y="431929"/>
                  <a:pt x="105995" y="436662"/>
                </a:cubicBezTo>
                <a:cubicBezTo>
                  <a:pt x="112514" y="441394"/>
                  <a:pt x="121087" y="442109"/>
                  <a:pt x="128320" y="438448"/>
                </a:cubicBezTo>
                <a:lnTo>
                  <a:pt x="257264" y="372904"/>
                </a:lnTo>
                <a:lnTo>
                  <a:pt x="386120" y="438448"/>
                </a:lnTo>
                <a:cubicBezTo>
                  <a:pt x="393263" y="442109"/>
                  <a:pt x="401925" y="441394"/>
                  <a:pt x="408444" y="436662"/>
                </a:cubicBezTo>
                <a:cubicBezTo>
                  <a:pt x="414963" y="431929"/>
                  <a:pt x="418267" y="423982"/>
                  <a:pt x="417016" y="415945"/>
                </a:cubicBezTo>
                <a:lnTo>
                  <a:pt x="394424" y="273159"/>
                </a:lnTo>
                <a:lnTo>
                  <a:pt x="496580" y="170914"/>
                </a:lnTo>
                <a:cubicBezTo>
                  <a:pt x="502295" y="165199"/>
                  <a:pt x="504259" y="156805"/>
                  <a:pt x="501759" y="149126"/>
                </a:cubicBezTo>
                <a:cubicBezTo>
                  <a:pt x="499259" y="141446"/>
                  <a:pt x="492740" y="135821"/>
                  <a:pt x="484703" y="134570"/>
                </a:cubicBezTo>
                <a:lnTo>
                  <a:pt x="342007" y="111889"/>
                </a:lnTo>
                <a:lnTo>
                  <a:pt x="276374" y="-16877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1778000" y="6223000"/>
            <a:ext cx="13335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Halogens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(Group 17) have the most negative EA — they really want that extra electron to fill their valence shell and achieve a noble gas configuration.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3462000" y="8788400"/>
            <a:ext cx="203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Periodic Trends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1B5E5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048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5E5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Electron Affinity Trend</a:t>
            </a:r>
            <a:endParaRPr lang="en-US" sz="2800" dirty="0"/>
          </a:p>
        </p:txBody>
      </p:sp>
      <p:pic>
        <p:nvPicPr>
          <p:cNvPr id="4" name="Image 0" descr="https://kimi-img.moonshot.cn/pub/slides/okc/dig24ngleip3e/mnt/agents/output/topic5_periodic_trends/images/5_Periodic_Trends_in_Electron_Affinit.png">    </p:cNvPr>
          <p:cNvPicPr>
            <a:picLocks noChangeAspect="1"/>
          </p:cNvPicPr>
          <p:nvPr/>
        </p:nvPicPr>
        <p:blipFill>
          <a:blip r:embed="rId1"/>
          <a:srcRect l="0" r="0" t="2635" b="2635"/>
          <a:stretch/>
        </p:blipFill>
        <p:spPr>
          <a:xfrm>
            <a:off x="762000" y="1079500"/>
            <a:ext cx="7620000" cy="4826000"/>
          </a:xfrm>
          <a:prstGeom prst="roundRect">
            <a:avLst>
              <a:gd name="adj" fmla="val 8000"/>
            </a:avLst>
          </a:prstGeom>
        </p:spPr>
      </p:pic>
      <p:sp>
        <p:nvSpPr>
          <p:cNvPr id="5" name="Shape 2"/>
          <p:cNvSpPr/>
          <p:nvPr/>
        </p:nvSpPr>
        <p:spPr>
          <a:xfrm>
            <a:off x="8890000" y="1079500"/>
            <a:ext cx="6604000" cy="4826000"/>
          </a:xfrm>
          <a:prstGeom prst="roundRect">
            <a:avLst>
              <a:gd name="adj" fmla="val 6000"/>
            </a:avLst>
          </a:prstGeom>
          <a:solidFill>
            <a:srgbClr val="E8F0F0"/>
          </a:solidFill>
          <a:ln/>
        </p:spPr>
      </p:sp>
      <p:sp>
        <p:nvSpPr>
          <p:cNvPr id="6" name="Text 3"/>
          <p:cNvSpPr/>
          <p:nvPr/>
        </p:nvSpPr>
        <p:spPr>
          <a:xfrm>
            <a:off x="9207500" y="12700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C484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GENERAL PATTERN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9207500" y="1841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99204" y="165854"/>
                </a:moveTo>
                <a:cubicBezTo>
                  <a:pt x="306645" y="158413"/>
                  <a:pt x="306645" y="146328"/>
                  <a:pt x="299204" y="138886"/>
                </a:cubicBezTo>
                <a:lnTo>
                  <a:pt x="203954" y="43636"/>
                </a:lnTo>
                <a:cubicBezTo>
                  <a:pt x="196513" y="36195"/>
                  <a:pt x="184428" y="36195"/>
                  <a:pt x="176986" y="43636"/>
                </a:cubicBezTo>
                <a:cubicBezTo>
                  <a:pt x="169545" y="51078"/>
                  <a:pt x="169545" y="63163"/>
                  <a:pt x="176986" y="70604"/>
                </a:cubicBezTo>
                <a:lnTo>
                  <a:pt x="239732" y="133350"/>
                </a:lnTo>
                <a:lnTo>
                  <a:pt x="19050" y="133350"/>
                </a:lnTo>
                <a:cubicBezTo>
                  <a:pt x="8513" y="133350"/>
                  <a:pt x="0" y="141863"/>
                  <a:pt x="0" y="152400"/>
                </a:cubicBezTo>
                <a:cubicBezTo>
                  <a:pt x="0" y="162937"/>
                  <a:pt x="8513" y="171450"/>
                  <a:pt x="19050" y="171450"/>
                </a:cubicBezTo>
                <a:lnTo>
                  <a:pt x="239732" y="171450"/>
                </a:lnTo>
                <a:lnTo>
                  <a:pt x="176986" y="234196"/>
                </a:lnTo>
                <a:cubicBezTo>
                  <a:pt x="169545" y="241637"/>
                  <a:pt x="169545" y="253722"/>
                  <a:pt x="176986" y="261164"/>
                </a:cubicBezTo>
                <a:cubicBezTo>
                  <a:pt x="184428" y="268605"/>
                  <a:pt x="196513" y="268605"/>
                  <a:pt x="203954" y="261164"/>
                </a:cubicBezTo>
                <a:lnTo>
                  <a:pt x="299204" y="165914"/>
                </a:lnTo>
                <a:close/>
              </a:path>
            </a:pathLst>
          </a:custGeom>
          <a:solidFill>
            <a:srgbClr val="C4843F"/>
          </a:solidFill>
          <a:ln/>
        </p:spPr>
      </p:sp>
      <p:sp>
        <p:nvSpPr>
          <p:cNvPr id="8" name="Text 5"/>
          <p:cNvSpPr/>
          <p:nvPr/>
        </p:nvSpPr>
        <p:spPr>
          <a:xfrm>
            <a:off x="9652000" y="1778000"/>
            <a:ext cx="5461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Left → Right: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EA becomes more negative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Nonmetals strongly attract electrons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9245600" y="28575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00846" y="299204"/>
                </a:moveTo>
                <a:cubicBezTo>
                  <a:pt x="108287" y="306645"/>
                  <a:pt x="120372" y="306645"/>
                  <a:pt x="127814" y="299204"/>
                </a:cubicBezTo>
                <a:lnTo>
                  <a:pt x="223064" y="203954"/>
                </a:lnTo>
                <a:cubicBezTo>
                  <a:pt x="230505" y="196513"/>
                  <a:pt x="230505" y="184428"/>
                  <a:pt x="223064" y="176986"/>
                </a:cubicBezTo>
                <a:cubicBezTo>
                  <a:pt x="215622" y="169545"/>
                  <a:pt x="203537" y="169545"/>
                  <a:pt x="196096" y="176986"/>
                </a:cubicBezTo>
                <a:lnTo>
                  <a:pt x="133350" y="239732"/>
                </a:lnTo>
                <a:lnTo>
                  <a:pt x="133350" y="19050"/>
                </a:lnTo>
                <a:cubicBezTo>
                  <a:pt x="133350" y="8513"/>
                  <a:pt x="124837" y="0"/>
                  <a:pt x="114300" y="0"/>
                </a:cubicBezTo>
                <a:cubicBezTo>
                  <a:pt x="103763" y="0"/>
                  <a:pt x="95250" y="8513"/>
                  <a:pt x="95250" y="19050"/>
                </a:cubicBezTo>
                <a:lnTo>
                  <a:pt x="95250" y="239732"/>
                </a:lnTo>
                <a:lnTo>
                  <a:pt x="32504" y="176986"/>
                </a:lnTo>
                <a:cubicBezTo>
                  <a:pt x="25063" y="169545"/>
                  <a:pt x="12978" y="169545"/>
                  <a:pt x="5536" y="176986"/>
                </a:cubicBezTo>
                <a:cubicBezTo>
                  <a:pt x="-1905" y="184428"/>
                  <a:pt x="-1905" y="196513"/>
                  <a:pt x="5536" y="203954"/>
                </a:cubicBezTo>
                <a:lnTo>
                  <a:pt x="100786" y="299204"/>
                </a:lnTo>
                <a:close/>
              </a:path>
            </a:pathLst>
          </a:custGeom>
          <a:solidFill>
            <a:srgbClr val="1B5E5E"/>
          </a:solidFill>
          <a:ln/>
        </p:spPr>
      </p:sp>
      <p:sp>
        <p:nvSpPr>
          <p:cNvPr id="10" name="Text 7"/>
          <p:cNvSpPr/>
          <p:nvPr/>
        </p:nvSpPr>
        <p:spPr>
          <a:xfrm>
            <a:off x="9652000" y="2794000"/>
            <a:ext cx="5461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Top → Bottom: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EA becomes less negative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Larger atoms hold added e⁻ less tightly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207500" y="38735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1B5E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EXCEPTIONS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207500" y="4254500"/>
            <a:ext cx="5969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Group 2 &amp; 15: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low/positive EA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(full/half-full subshells = stable)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Noble gases: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positive EA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(already stable — don't want e⁻)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62000" y="6286500"/>
            <a:ext cx="1473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1B5E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idea:</a:t>
            </a:r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Atoms want to reach a </a:t>
            </a:r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C484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stable electron configuration</a:t>
            </a:r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EA reflects how much they "want" that extra e⁻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3462000" y="8788400"/>
            <a:ext cx="203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Periodic Trends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B5E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dig24ngleip3e/mnt/agents/output/topic5_periodic_trends/images/2_File_Periodic_table_Pauling_electronegatvity.png">    </p:cNvPr>
          <p:cNvPicPr>
            <a:picLocks noChangeAspect="1"/>
          </p:cNvPicPr>
          <p:nvPr/>
        </p:nvPicPr>
        <p:blipFill>
          <a:blip r:embed="rId1"/>
          <a:srcRect l="22123" r="22123" t="0" b="0"/>
          <a:stretch/>
        </p:blipFill>
        <p:spPr>
          <a:xfrm>
            <a:off x="0" y="0"/>
            <a:ext cx="73152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775200" y="0"/>
            <a:ext cx="2540000" cy="9144000"/>
          </a:xfrm>
          <a:prstGeom prst="rect">
            <a:avLst/>
          </a:prstGeom>
          <a:gradFill rotWithShape="1" flip="none">
            <a:gsLst>
              <a:gs pos="0">
                <a:srgbClr val="1B5E5E">
                  <a:alpha val="0"/>
                </a:srgbClr>
              </a:gs>
              <a:gs pos="100000">
                <a:srgbClr val="1B5E5E"/>
              </a:gs>
            </a:gsLst>
            <a:lin ang="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8128000" y="2540000"/>
            <a:ext cx="254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C484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8128000" y="3810000"/>
            <a:ext cx="1016000" cy="50800"/>
          </a:xfrm>
          <a:prstGeom prst="rect">
            <a:avLst/>
          </a:prstGeom>
          <a:solidFill>
            <a:srgbClr val="C4843F"/>
          </a:solidFill>
          <a:ln/>
        </p:spPr>
      </p:sp>
      <p:sp>
        <p:nvSpPr>
          <p:cNvPr id="6" name="Text 3"/>
          <p:cNvSpPr/>
          <p:nvPr/>
        </p:nvSpPr>
        <p:spPr>
          <a:xfrm>
            <a:off x="8128000" y="4064000"/>
            <a:ext cx="711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Electronegativity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128000" y="4826000"/>
            <a:ext cx="711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 strongly does an atom attract bonding electrons?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1B5E5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048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5E5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What Is Electronegativity?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79500"/>
            <a:ext cx="14732000" cy="2032000"/>
          </a:xfrm>
          <a:prstGeom prst="roundRect">
            <a:avLst>
              <a:gd name="adj" fmla="val 6000"/>
            </a:avLst>
          </a:prstGeom>
          <a:solidFill>
            <a:srgbClr val="1B5E5E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1270000"/>
            <a:ext cx="1397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Ability of an atom to attract shared electrons in a chemical bond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2032000"/>
            <a:ext cx="1397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Unitless scale (Pauling scale) · Fluorine = 4.0 (most electronegative) · Francium = 0.7 (least)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3492500"/>
            <a:ext cx="7112000" cy="3556000"/>
          </a:xfrm>
          <a:prstGeom prst="roundRect">
            <a:avLst>
              <a:gd name="adj" fmla="val 6000"/>
            </a:avLst>
          </a:prstGeom>
          <a:solidFill>
            <a:srgbClr val="E8F0F0"/>
          </a:solidFill>
          <a:ln/>
        </p:spPr>
      </p:sp>
      <p:sp>
        <p:nvSpPr>
          <p:cNvPr id="8" name="Text 6"/>
          <p:cNvSpPr/>
          <p:nvPr/>
        </p:nvSpPr>
        <p:spPr>
          <a:xfrm>
            <a:off x="1079500" y="3683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1B5E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 THE SAME AS EA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79500" y="4127500"/>
            <a:ext cx="6477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Electron Affinity: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For an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isolated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atom in gas phase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Energy change (kJ/mol)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Electronegativity: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For an atom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 a bond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Relative attraction (unitless)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382000" y="3492500"/>
            <a:ext cx="7112000" cy="3556000"/>
          </a:xfrm>
          <a:prstGeom prst="roundRect">
            <a:avLst>
              <a:gd name="adj" fmla="val 6000"/>
            </a:avLst>
          </a:prstGeom>
          <a:solidFill>
            <a:srgbClr val="E8F0F0"/>
          </a:solidFill>
          <a:ln/>
        </p:spPr>
      </p:sp>
      <p:sp>
        <p:nvSpPr>
          <p:cNvPr id="11" name="Text 9"/>
          <p:cNvSpPr/>
          <p:nvPr/>
        </p:nvSpPr>
        <p:spPr>
          <a:xfrm>
            <a:off x="8699500" y="3683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C484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99500" y="4127500"/>
            <a:ext cx="6477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Determines: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Bond polarity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(ionic vs. covalent)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Which atom pulls electrons harder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Partial charges (δ+ and δ-)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Molecular polarity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462000" y="8788400"/>
            <a:ext cx="203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Periodic Trends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1B5E5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048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5E5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Electronegativity Trend</a:t>
            </a:r>
            <a:endParaRPr lang="en-US" sz="2800" dirty="0"/>
          </a:p>
        </p:txBody>
      </p:sp>
      <p:pic>
        <p:nvPicPr>
          <p:cNvPr id="4" name="Image 0" descr="https://kimi-img.moonshot.cn/pub/slides/okc/dig24ngleip3e/mnt/agents/output/topic5_periodic_trends/images/2_File_Periodic_table_Pauling_electronegatvity.png">    </p:cNvPr>
          <p:cNvPicPr>
            <a:picLocks noChangeAspect="1"/>
          </p:cNvPicPr>
          <p:nvPr/>
        </p:nvPicPr>
        <p:blipFill>
          <a:blip r:embed="rId1"/>
          <a:srcRect l="0" r="0" t="5161" b="5161"/>
          <a:stretch/>
        </p:blipFill>
        <p:spPr>
          <a:xfrm>
            <a:off x="762000" y="1079500"/>
            <a:ext cx="8128000" cy="5080000"/>
          </a:xfrm>
          <a:prstGeom prst="roundRect">
            <a:avLst>
              <a:gd name="adj" fmla="val 8000"/>
            </a:avLst>
          </a:prstGeom>
        </p:spPr>
      </p:pic>
      <p:sp>
        <p:nvSpPr>
          <p:cNvPr id="5" name="Shape 2"/>
          <p:cNvSpPr/>
          <p:nvPr/>
        </p:nvSpPr>
        <p:spPr>
          <a:xfrm>
            <a:off x="9398000" y="1079500"/>
            <a:ext cx="6096000" cy="5080000"/>
          </a:xfrm>
          <a:prstGeom prst="roundRect">
            <a:avLst>
              <a:gd name="adj" fmla="val 6000"/>
            </a:avLst>
          </a:prstGeom>
          <a:solidFill>
            <a:srgbClr val="E8F0F0"/>
          </a:solidFill>
          <a:ln/>
        </p:spPr>
      </p:sp>
      <p:sp>
        <p:nvSpPr>
          <p:cNvPr id="6" name="Text 3"/>
          <p:cNvSpPr/>
          <p:nvPr/>
        </p:nvSpPr>
        <p:spPr>
          <a:xfrm>
            <a:off x="9715500" y="12700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C484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TREND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9715500" y="1841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49071" y="193496"/>
                </a:moveTo>
                <a:cubicBezTo>
                  <a:pt x="357753" y="184815"/>
                  <a:pt x="357753" y="170716"/>
                  <a:pt x="349071" y="162034"/>
                </a:cubicBezTo>
                <a:lnTo>
                  <a:pt x="237946" y="50909"/>
                </a:lnTo>
                <a:cubicBezTo>
                  <a:pt x="229265" y="42228"/>
                  <a:pt x="215166" y="42228"/>
                  <a:pt x="206484" y="50909"/>
                </a:cubicBezTo>
                <a:cubicBezTo>
                  <a:pt x="197803" y="59591"/>
                  <a:pt x="197803" y="73690"/>
                  <a:pt x="206484" y="82371"/>
                </a:cubicBezTo>
                <a:lnTo>
                  <a:pt x="279688" y="155575"/>
                </a:lnTo>
                <a:lnTo>
                  <a:pt x="22225" y="155575"/>
                </a:lnTo>
                <a:cubicBezTo>
                  <a:pt x="9932" y="155575"/>
                  <a:pt x="0" y="165507"/>
                  <a:pt x="0" y="177800"/>
                </a:cubicBezTo>
                <a:cubicBezTo>
                  <a:pt x="0" y="190093"/>
                  <a:pt x="9932" y="200025"/>
                  <a:pt x="22225" y="200025"/>
                </a:cubicBezTo>
                <a:lnTo>
                  <a:pt x="279688" y="200025"/>
                </a:lnTo>
                <a:lnTo>
                  <a:pt x="206484" y="273229"/>
                </a:lnTo>
                <a:cubicBezTo>
                  <a:pt x="197802" y="281910"/>
                  <a:pt x="197802" y="296009"/>
                  <a:pt x="206484" y="304691"/>
                </a:cubicBezTo>
                <a:cubicBezTo>
                  <a:pt x="215166" y="313373"/>
                  <a:pt x="229265" y="313373"/>
                  <a:pt x="237946" y="304691"/>
                </a:cubicBezTo>
                <a:lnTo>
                  <a:pt x="349071" y="193566"/>
                </a:lnTo>
                <a:close/>
              </a:path>
            </a:pathLst>
          </a:custGeom>
          <a:solidFill>
            <a:srgbClr val="C4843F"/>
          </a:solidFill>
          <a:ln/>
        </p:spPr>
      </p:sp>
      <p:sp>
        <p:nvSpPr>
          <p:cNvPr id="8" name="Text 5"/>
          <p:cNvSpPr/>
          <p:nvPr/>
        </p:nvSpPr>
        <p:spPr>
          <a:xfrm>
            <a:off x="10223500" y="1778000"/>
            <a:ext cx="4953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Increases left to right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Higher Z</a:t>
            </a:r>
            <a:pPr>
              <a:lnSpc>
                <a:spcPct val="140000"/>
              </a:lnSpc>
            </a:pPr>
            <a:r>
              <a:rPr lang="en-US" sz="1600" baseline="-400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eff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stronger pull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9759950" y="28575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149046" y="12085"/>
                </a:moveTo>
                <a:cubicBezTo>
                  <a:pt x="140365" y="3403"/>
                  <a:pt x="126266" y="3403"/>
                  <a:pt x="117584" y="12085"/>
                </a:cubicBezTo>
                <a:lnTo>
                  <a:pt x="6459" y="123210"/>
                </a:lnTo>
                <a:cubicBezTo>
                  <a:pt x="-2222" y="131891"/>
                  <a:pt x="-2222" y="145990"/>
                  <a:pt x="6459" y="154672"/>
                </a:cubicBezTo>
                <a:cubicBezTo>
                  <a:pt x="15141" y="163354"/>
                  <a:pt x="29240" y="163354"/>
                  <a:pt x="37921" y="154672"/>
                </a:cubicBezTo>
                <a:lnTo>
                  <a:pt x="111125" y="81469"/>
                </a:lnTo>
                <a:lnTo>
                  <a:pt x="111125" y="338931"/>
                </a:lnTo>
                <a:cubicBezTo>
                  <a:pt x="111125" y="351224"/>
                  <a:pt x="121057" y="361156"/>
                  <a:pt x="133350" y="361156"/>
                </a:cubicBezTo>
                <a:cubicBezTo>
                  <a:pt x="145643" y="361156"/>
                  <a:pt x="155575" y="351224"/>
                  <a:pt x="155575" y="338931"/>
                </a:cubicBezTo>
                <a:lnTo>
                  <a:pt x="155575" y="81469"/>
                </a:lnTo>
                <a:lnTo>
                  <a:pt x="228779" y="154672"/>
                </a:lnTo>
                <a:cubicBezTo>
                  <a:pt x="237460" y="163354"/>
                  <a:pt x="251559" y="163354"/>
                  <a:pt x="260241" y="154672"/>
                </a:cubicBezTo>
                <a:cubicBezTo>
                  <a:pt x="268922" y="145990"/>
                  <a:pt x="268922" y="131891"/>
                  <a:pt x="260241" y="123210"/>
                </a:cubicBezTo>
                <a:lnTo>
                  <a:pt x="149116" y="12085"/>
                </a:lnTo>
                <a:close/>
              </a:path>
            </a:pathLst>
          </a:custGeom>
          <a:solidFill>
            <a:srgbClr val="1B5E5E"/>
          </a:solidFill>
          <a:ln/>
        </p:spPr>
      </p:sp>
      <p:sp>
        <p:nvSpPr>
          <p:cNvPr id="10" name="Text 7"/>
          <p:cNvSpPr/>
          <p:nvPr/>
        </p:nvSpPr>
        <p:spPr>
          <a:xfrm>
            <a:off x="10223500" y="2794000"/>
            <a:ext cx="4953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↑ Increases bottom to top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Smaller atoms = bonding e⁻ closer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715500" y="38735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1B5E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VALUES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715500" y="4254500"/>
            <a:ext cx="5461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 = 4.0 · O = 3.5 · N = 3.0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 = 2.5 · H = 2.1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Metals: EN &lt; 1.5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Nonmetals: EN &gt; 2.5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62000" y="6477000"/>
            <a:ext cx="147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1B5E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Fluorine</a:t>
            </a:r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the most electronegative element — it wants electrons </a:t>
            </a:r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C484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more than anything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3462000" y="8788400"/>
            <a:ext cx="203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Periodic Trends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1B5E5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048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5E5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All Trends — One Visual Summary</a:t>
            </a:r>
            <a:endParaRPr lang="en-US" sz="2800" dirty="0"/>
          </a:p>
        </p:txBody>
      </p:sp>
      <p:pic>
        <p:nvPicPr>
          <p:cNvPr id="4" name="Image 0" descr="https://kimi-img.moonshot.cn/pub/slides/okc/dig24ngleip3e/mnt/agents/output/topic5_periodic_trends/images/4_What_Is_Ionization_Energy_Definition.png">    </p:cNvPr>
          <p:cNvPicPr>
            <a:picLocks noChangeAspect="1"/>
          </p:cNvPicPr>
          <p:nvPr/>
        </p:nvPicPr>
        <p:blipFill>
          <a:blip r:embed="rId1"/>
          <a:srcRect l="0" r="0" t="5882" b="5882"/>
          <a:stretch/>
        </p:blipFill>
        <p:spPr>
          <a:xfrm>
            <a:off x="762000" y="1079500"/>
            <a:ext cx="8636000" cy="5080000"/>
          </a:xfrm>
          <a:prstGeom prst="roundRect">
            <a:avLst>
              <a:gd name="adj" fmla="val 8000"/>
            </a:avLst>
          </a:prstGeom>
        </p:spPr>
      </p:pic>
      <p:sp>
        <p:nvSpPr>
          <p:cNvPr id="5" name="Shape 2"/>
          <p:cNvSpPr/>
          <p:nvPr/>
        </p:nvSpPr>
        <p:spPr>
          <a:xfrm>
            <a:off x="9906000" y="1079500"/>
            <a:ext cx="5588000" cy="5080000"/>
          </a:xfrm>
          <a:prstGeom prst="roundRect">
            <a:avLst>
              <a:gd name="adj" fmla="val 6000"/>
            </a:avLst>
          </a:prstGeom>
          <a:solidFill>
            <a:srgbClr val="E8F0F0"/>
          </a:solidFill>
          <a:ln/>
        </p:spPr>
      </p:sp>
      <p:sp>
        <p:nvSpPr>
          <p:cNvPr id="6" name="Text 3"/>
          <p:cNvSpPr/>
          <p:nvPr/>
        </p:nvSpPr>
        <p:spPr>
          <a:xfrm>
            <a:off x="10223500" y="1270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C484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FOUR TRENDS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0240963" y="1841500"/>
            <a:ext cx="244475" cy="279400"/>
          </a:xfrm>
          <a:custGeom>
            <a:avLst/>
            <a:gdLst/>
            <a:ahLst/>
            <a:cxnLst/>
            <a:rect l="l" t="t" r="r" b="b"/>
            <a:pathLst>
              <a:path w="244475" h="279400">
                <a:moveTo>
                  <a:pt x="17463" y="17463"/>
                </a:moveTo>
                <a:cubicBezTo>
                  <a:pt x="7804" y="17463"/>
                  <a:pt x="0" y="25266"/>
                  <a:pt x="0" y="34925"/>
                </a:cubicBezTo>
                <a:lnTo>
                  <a:pt x="0" y="87313"/>
                </a:lnTo>
                <a:cubicBezTo>
                  <a:pt x="0" y="96971"/>
                  <a:pt x="7804" y="104775"/>
                  <a:pt x="17463" y="104775"/>
                </a:cubicBezTo>
                <a:cubicBezTo>
                  <a:pt x="27121" y="104775"/>
                  <a:pt x="34925" y="96971"/>
                  <a:pt x="34925" y="87313"/>
                </a:cubicBezTo>
                <a:lnTo>
                  <a:pt x="34925" y="52388"/>
                </a:lnTo>
                <a:lnTo>
                  <a:pt x="69850" y="52388"/>
                </a:lnTo>
                <a:cubicBezTo>
                  <a:pt x="79509" y="52388"/>
                  <a:pt x="87313" y="44584"/>
                  <a:pt x="87313" y="34925"/>
                </a:cubicBezTo>
                <a:cubicBezTo>
                  <a:pt x="87313" y="25266"/>
                  <a:pt x="79509" y="17463"/>
                  <a:pt x="69850" y="17463"/>
                </a:cubicBezTo>
                <a:lnTo>
                  <a:pt x="17463" y="17463"/>
                </a:lnTo>
                <a:close/>
                <a:moveTo>
                  <a:pt x="34925" y="192088"/>
                </a:moveTo>
                <a:cubicBezTo>
                  <a:pt x="34925" y="182429"/>
                  <a:pt x="27121" y="174625"/>
                  <a:pt x="17463" y="174625"/>
                </a:cubicBezTo>
                <a:cubicBezTo>
                  <a:pt x="7804" y="174625"/>
                  <a:pt x="0" y="182429"/>
                  <a:pt x="0" y="192088"/>
                </a:cubicBezTo>
                <a:lnTo>
                  <a:pt x="0" y="244475"/>
                </a:lnTo>
                <a:cubicBezTo>
                  <a:pt x="0" y="254134"/>
                  <a:pt x="7804" y="261938"/>
                  <a:pt x="17463" y="261938"/>
                </a:cubicBezTo>
                <a:lnTo>
                  <a:pt x="69850" y="261938"/>
                </a:lnTo>
                <a:cubicBezTo>
                  <a:pt x="79509" y="261938"/>
                  <a:pt x="87313" y="254134"/>
                  <a:pt x="87313" y="244475"/>
                </a:cubicBezTo>
                <a:cubicBezTo>
                  <a:pt x="87313" y="234816"/>
                  <a:pt x="79509" y="227013"/>
                  <a:pt x="69850" y="227013"/>
                </a:cubicBezTo>
                <a:lnTo>
                  <a:pt x="34925" y="227013"/>
                </a:lnTo>
                <a:lnTo>
                  <a:pt x="34925" y="192088"/>
                </a:lnTo>
                <a:close/>
                <a:moveTo>
                  <a:pt x="174625" y="17463"/>
                </a:moveTo>
                <a:cubicBezTo>
                  <a:pt x="164966" y="17463"/>
                  <a:pt x="157163" y="25266"/>
                  <a:pt x="157163" y="34925"/>
                </a:cubicBezTo>
                <a:cubicBezTo>
                  <a:pt x="157163" y="44584"/>
                  <a:pt x="164966" y="52388"/>
                  <a:pt x="174625" y="52388"/>
                </a:cubicBezTo>
                <a:lnTo>
                  <a:pt x="209550" y="52388"/>
                </a:lnTo>
                <a:lnTo>
                  <a:pt x="209550" y="87313"/>
                </a:lnTo>
                <a:cubicBezTo>
                  <a:pt x="209550" y="96971"/>
                  <a:pt x="217354" y="104775"/>
                  <a:pt x="227013" y="104775"/>
                </a:cubicBezTo>
                <a:cubicBezTo>
                  <a:pt x="236671" y="104775"/>
                  <a:pt x="244475" y="96971"/>
                  <a:pt x="244475" y="87313"/>
                </a:cubicBezTo>
                <a:lnTo>
                  <a:pt x="244475" y="34925"/>
                </a:lnTo>
                <a:cubicBezTo>
                  <a:pt x="244475" y="25266"/>
                  <a:pt x="236671" y="17463"/>
                  <a:pt x="227013" y="17463"/>
                </a:cubicBezTo>
                <a:lnTo>
                  <a:pt x="174625" y="17463"/>
                </a:lnTo>
                <a:close/>
                <a:moveTo>
                  <a:pt x="244475" y="192088"/>
                </a:moveTo>
                <a:cubicBezTo>
                  <a:pt x="244475" y="182429"/>
                  <a:pt x="236671" y="174625"/>
                  <a:pt x="227013" y="174625"/>
                </a:cubicBezTo>
                <a:cubicBezTo>
                  <a:pt x="217354" y="174625"/>
                  <a:pt x="209550" y="182429"/>
                  <a:pt x="209550" y="192088"/>
                </a:cubicBezTo>
                <a:lnTo>
                  <a:pt x="209550" y="227013"/>
                </a:lnTo>
                <a:lnTo>
                  <a:pt x="174625" y="227013"/>
                </a:lnTo>
                <a:cubicBezTo>
                  <a:pt x="164966" y="227013"/>
                  <a:pt x="157163" y="234816"/>
                  <a:pt x="157163" y="244475"/>
                </a:cubicBezTo>
                <a:cubicBezTo>
                  <a:pt x="157163" y="254134"/>
                  <a:pt x="164966" y="261938"/>
                  <a:pt x="174625" y="261938"/>
                </a:cubicBezTo>
                <a:lnTo>
                  <a:pt x="227013" y="261938"/>
                </a:lnTo>
                <a:cubicBezTo>
                  <a:pt x="236671" y="261938"/>
                  <a:pt x="244475" y="254134"/>
                  <a:pt x="244475" y="244475"/>
                </a:cubicBezTo>
                <a:lnTo>
                  <a:pt x="244475" y="192088"/>
                </a:lnTo>
                <a:close/>
              </a:path>
            </a:pathLst>
          </a:custGeom>
          <a:solidFill>
            <a:srgbClr val="1B5E5E"/>
          </a:solidFill>
          <a:ln/>
        </p:spPr>
      </p:sp>
      <p:sp>
        <p:nvSpPr>
          <p:cNvPr id="8" name="Text 5"/>
          <p:cNvSpPr/>
          <p:nvPr/>
        </p:nvSpPr>
        <p:spPr>
          <a:xfrm>
            <a:off x="10642600" y="1778000"/>
            <a:ext cx="457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Atomic Radius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Increases ↓ and ←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0240963" y="2667000"/>
            <a:ext cx="244475" cy="279400"/>
          </a:xfrm>
          <a:custGeom>
            <a:avLst/>
            <a:gdLst/>
            <a:ahLst/>
            <a:cxnLst/>
            <a:rect l="l" t="t" r="r" b="b"/>
            <a:pathLst>
              <a:path w="244475" h="279400">
                <a:moveTo>
                  <a:pt x="184884" y="-5402"/>
                </a:moveTo>
                <a:cubicBezTo>
                  <a:pt x="191378" y="-709"/>
                  <a:pt x="193779" y="7804"/>
                  <a:pt x="190832" y="15225"/>
                </a:cubicBezTo>
                <a:lnTo>
                  <a:pt x="148049" y="122238"/>
                </a:lnTo>
                <a:lnTo>
                  <a:pt x="227013" y="122238"/>
                </a:lnTo>
                <a:cubicBezTo>
                  <a:pt x="234379" y="122238"/>
                  <a:pt x="240928" y="126821"/>
                  <a:pt x="243438" y="133752"/>
                </a:cubicBezTo>
                <a:cubicBezTo>
                  <a:pt x="245948" y="140682"/>
                  <a:pt x="243820" y="148431"/>
                  <a:pt x="238199" y="153124"/>
                </a:cubicBezTo>
                <a:lnTo>
                  <a:pt x="81037" y="284093"/>
                </a:lnTo>
                <a:cubicBezTo>
                  <a:pt x="74870" y="289223"/>
                  <a:pt x="66085" y="289496"/>
                  <a:pt x="59591" y="284802"/>
                </a:cubicBezTo>
                <a:cubicBezTo>
                  <a:pt x="53097" y="280109"/>
                  <a:pt x="50696" y="271596"/>
                  <a:pt x="53643" y="264175"/>
                </a:cubicBezTo>
                <a:lnTo>
                  <a:pt x="96426" y="157163"/>
                </a:lnTo>
                <a:lnTo>
                  <a:pt x="17463" y="157163"/>
                </a:lnTo>
                <a:cubicBezTo>
                  <a:pt x="10096" y="157163"/>
                  <a:pt x="3547" y="152579"/>
                  <a:pt x="1037" y="145648"/>
                </a:cubicBezTo>
                <a:cubicBezTo>
                  <a:pt x="-1473" y="138718"/>
                  <a:pt x="655" y="130969"/>
                  <a:pt x="6276" y="126276"/>
                </a:cubicBezTo>
                <a:lnTo>
                  <a:pt x="163438" y="-4693"/>
                </a:lnTo>
                <a:cubicBezTo>
                  <a:pt x="169605" y="-9823"/>
                  <a:pt x="178390" y="-10096"/>
                  <a:pt x="184884" y="-5402"/>
                </a:cubicBezTo>
                <a:close/>
              </a:path>
            </a:pathLst>
          </a:custGeom>
          <a:solidFill>
            <a:srgbClr val="C4843F"/>
          </a:solidFill>
          <a:ln/>
        </p:spPr>
      </p:sp>
      <p:sp>
        <p:nvSpPr>
          <p:cNvPr id="10" name="Text 7"/>
          <p:cNvSpPr/>
          <p:nvPr/>
        </p:nvSpPr>
        <p:spPr>
          <a:xfrm>
            <a:off x="10642600" y="2603500"/>
            <a:ext cx="457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Ionization Energy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Increases ↑ and →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0240963" y="3492500"/>
            <a:ext cx="244475" cy="279400"/>
          </a:xfrm>
          <a:custGeom>
            <a:avLst/>
            <a:gdLst/>
            <a:ahLst/>
            <a:cxnLst/>
            <a:rect l="l" t="t" r="r" b="b"/>
            <a:pathLst>
              <a:path w="244475" h="279400">
                <a:moveTo>
                  <a:pt x="139700" y="34925"/>
                </a:moveTo>
                <a:cubicBezTo>
                  <a:pt x="139700" y="25266"/>
                  <a:pt x="131896" y="17463"/>
                  <a:pt x="122238" y="17463"/>
                </a:cubicBezTo>
                <a:cubicBezTo>
                  <a:pt x="112579" y="17463"/>
                  <a:pt x="104775" y="25266"/>
                  <a:pt x="104775" y="34925"/>
                </a:cubicBezTo>
                <a:lnTo>
                  <a:pt x="104775" y="122238"/>
                </a:lnTo>
                <a:lnTo>
                  <a:pt x="17463" y="122238"/>
                </a:lnTo>
                <a:cubicBezTo>
                  <a:pt x="7804" y="122238"/>
                  <a:pt x="0" y="130041"/>
                  <a:pt x="0" y="139700"/>
                </a:cubicBezTo>
                <a:cubicBezTo>
                  <a:pt x="0" y="149359"/>
                  <a:pt x="7804" y="157163"/>
                  <a:pt x="17463" y="157163"/>
                </a:cubicBezTo>
                <a:lnTo>
                  <a:pt x="104775" y="157163"/>
                </a:lnTo>
                <a:lnTo>
                  <a:pt x="104775" y="244475"/>
                </a:lnTo>
                <a:cubicBezTo>
                  <a:pt x="104775" y="254134"/>
                  <a:pt x="112579" y="261938"/>
                  <a:pt x="122238" y="261938"/>
                </a:cubicBezTo>
                <a:cubicBezTo>
                  <a:pt x="131896" y="261938"/>
                  <a:pt x="139700" y="254134"/>
                  <a:pt x="139700" y="244475"/>
                </a:cubicBezTo>
                <a:lnTo>
                  <a:pt x="139700" y="157163"/>
                </a:lnTo>
                <a:lnTo>
                  <a:pt x="227013" y="157163"/>
                </a:lnTo>
                <a:cubicBezTo>
                  <a:pt x="236671" y="157163"/>
                  <a:pt x="244475" y="149359"/>
                  <a:pt x="244475" y="139700"/>
                </a:cubicBezTo>
                <a:cubicBezTo>
                  <a:pt x="244475" y="130041"/>
                  <a:pt x="236671" y="122238"/>
                  <a:pt x="227013" y="122238"/>
                </a:cubicBezTo>
                <a:lnTo>
                  <a:pt x="139700" y="122238"/>
                </a:lnTo>
                <a:lnTo>
                  <a:pt x="139700" y="34925"/>
                </a:lnTo>
                <a:close/>
              </a:path>
            </a:pathLst>
          </a:custGeom>
          <a:solidFill>
            <a:srgbClr val="6B9E6B"/>
          </a:solidFill>
          <a:ln/>
        </p:spPr>
      </p:sp>
      <p:sp>
        <p:nvSpPr>
          <p:cNvPr id="12" name="Text 9"/>
          <p:cNvSpPr/>
          <p:nvPr/>
        </p:nvSpPr>
        <p:spPr>
          <a:xfrm>
            <a:off x="10642600" y="3429000"/>
            <a:ext cx="457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Electron Affinity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More negative → and ↑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0240963" y="4318000"/>
            <a:ext cx="244475" cy="279400"/>
          </a:xfrm>
          <a:custGeom>
            <a:avLst/>
            <a:gdLst/>
            <a:ahLst/>
            <a:cxnLst/>
            <a:rect l="l" t="t" r="r" b="b"/>
            <a:pathLst>
              <a:path w="244475" h="279400">
                <a:moveTo>
                  <a:pt x="0" y="96044"/>
                </a:moveTo>
                <a:lnTo>
                  <a:pt x="0" y="157163"/>
                </a:lnTo>
                <a:cubicBezTo>
                  <a:pt x="0" y="224666"/>
                  <a:pt x="54734" y="279400"/>
                  <a:pt x="122238" y="279400"/>
                </a:cubicBezTo>
                <a:cubicBezTo>
                  <a:pt x="189741" y="279400"/>
                  <a:pt x="244475" y="224666"/>
                  <a:pt x="244475" y="157163"/>
                </a:cubicBezTo>
                <a:lnTo>
                  <a:pt x="244475" y="96044"/>
                </a:lnTo>
                <a:lnTo>
                  <a:pt x="174625" y="96044"/>
                </a:lnTo>
                <a:lnTo>
                  <a:pt x="174625" y="157163"/>
                </a:lnTo>
                <a:cubicBezTo>
                  <a:pt x="174625" y="186085"/>
                  <a:pt x="151160" y="209550"/>
                  <a:pt x="122238" y="209550"/>
                </a:cubicBezTo>
                <a:cubicBezTo>
                  <a:pt x="93315" y="209550"/>
                  <a:pt x="69850" y="186085"/>
                  <a:pt x="69850" y="157163"/>
                </a:cubicBezTo>
                <a:lnTo>
                  <a:pt x="69850" y="96044"/>
                </a:lnTo>
                <a:lnTo>
                  <a:pt x="0" y="96044"/>
                </a:lnTo>
                <a:close/>
                <a:moveTo>
                  <a:pt x="0" y="69850"/>
                </a:moveTo>
                <a:lnTo>
                  <a:pt x="69850" y="69850"/>
                </a:lnTo>
                <a:lnTo>
                  <a:pt x="69850" y="34925"/>
                </a:lnTo>
                <a:cubicBezTo>
                  <a:pt x="69850" y="25266"/>
                  <a:pt x="62046" y="17463"/>
                  <a:pt x="52388" y="17463"/>
                </a:cubicBezTo>
                <a:lnTo>
                  <a:pt x="17463" y="17463"/>
                </a:lnTo>
                <a:cubicBezTo>
                  <a:pt x="7804" y="17463"/>
                  <a:pt x="0" y="25266"/>
                  <a:pt x="0" y="34925"/>
                </a:cubicBezTo>
                <a:lnTo>
                  <a:pt x="0" y="69850"/>
                </a:lnTo>
                <a:close/>
                <a:moveTo>
                  <a:pt x="174625" y="69850"/>
                </a:moveTo>
                <a:lnTo>
                  <a:pt x="244475" y="69850"/>
                </a:lnTo>
                <a:lnTo>
                  <a:pt x="244475" y="34925"/>
                </a:lnTo>
                <a:cubicBezTo>
                  <a:pt x="244475" y="25266"/>
                  <a:pt x="236671" y="17463"/>
                  <a:pt x="227013" y="17463"/>
                </a:cubicBezTo>
                <a:lnTo>
                  <a:pt x="192088" y="17463"/>
                </a:lnTo>
                <a:cubicBezTo>
                  <a:pt x="182429" y="17463"/>
                  <a:pt x="174625" y="25266"/>
                  <a:pt x="174625" y="34925"/>
                </a:cubicBezTo>
                <a:lnTo>
                  <a:pt x="174625" y="69850"/>
                </a:lnTo>
                <a:close/>
              </a:path>
            </a:pathLst>
          </a:custGeom>
          <a:solidFill>
            <a:srgbClr val="8B7EB8"/>
          </a:solidFill>
          <a:ln/>
        </p:spPr>
      </p:sp>
      <p:sp>
        <p:nvSpPr>
          <p:cNvPr id="14" name="Text 11"/>
          <p:cNvSpPr/>
          <p:nvPr/>
        </p:nvSpPr>
        <p:spPr>
          <a:xfrm>
            <a:off x="10642600" y="4254500"/>
            <a:ext cx="457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Electronegativity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Increases ↑ and →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62000" y="6604000"/>
            <a:ext cx="14732000" cy="1397000"/>
          </a:xfrm>
          <a:prstGeom prst="roundRect">
            <a:avLst>
              <a:gd name="adj" fmla="val 6000"/>
            </a:avLst>
          </a:prstGeom>
          <a:solidFill>
            <a:srgbClr val="1B5E5E"/>
          </a:solidFill>
          <a:ln/>
        </p:spPr>
      </p:sp>
      <p:sp>
        <p:nvSpPr>
          <p:cNvPr id="16" name="Text 13"/>
          <p:cNvSpPr/>
          <p:nvPr/>
        </p:nvSpPr>
        <p:spPr>
          <a:xfrm>
            <a:off x="1143000" y="6794500"/>
            <a:ext cx="1397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"Why" behind everything:</a:t>
            </a:r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Z</a:t>
            </a:r>
            <a:pPr algn="ctr">
              <a:lnSpc>
                <a:spcPct val="150000"/>
              </a:lnSpc>
            </a:pPr>
            <a:r>
              <a:rPr lang="en-US" sz="2000" baseline="-40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eff</a:t>
            </a:r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atomic size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 these two concepts and all trends follow logically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3462000" y="8788400"/>
            <a:ext cx="203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Periodic Trends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dig24ngleip3e/mnt/agents/output/topic5_periodic_trends/images/2_Periodic_Table_in_Black_and_Whit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778000" y="2032000"/>
            <a:ext cx="1270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2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Key Takeaways</a:t>
            </a:r>
            <a:endParaRPr lang="en-US" sz="4200" dirty="0"/>
          </a:p>
        </p:txBody>
      </p:sp>
      <p:sp>
        <p:nvSpPr>
          <p:cNvPr id="4" name="Shape 1"/>
          <p:cNvSpPr/>
          <p:nvPr/>
        </p:nvSpPr>
        <p:spPr>
          <a:xfrm>
            <a:off x="6858000" y="2857500"/>
            <a:ext cx="2540000" cy="38100"/>
          </a:xfrm>
          <a:prstGeom prst="rect">
            <a:avLst/>
          </a:prstGeom>
          <a:solidFill>
            <a:srgbClr val="C4843F"/>
          </a:solidFill>
          <a:ln/>
        </p:spPr>
      </p:sp>
      <p:sp>
        <p:nvSpPr>
          <p:cNvPr id="5" name="Text 2"/>
          <p:cNvSpPr/>
          <p:nvPr/>
        </p:nvSpPr>
        <p:spPr>
          <a:xfrm>
            <a:off x="2413000" y="3302000"/>
            <a:ext cx="1143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C484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</a:t>
            </a:r>
            <a:pPr algn="ctr">
              <a:lnSpc>
                <a:spcPct val="100000"/>
              </a:lnSpc>
            </a:pPr>
            <a:r>
              <a:rPr lang="en-US" sz="2000" b="1" baseline="-40000" dirty="0">
                <a:solidFill>
                  <a:srgbClr val="C484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eff</a:t>
            </a:r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drives everything — understand it and all trends follow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413000" y="3873500"/>
            <a:ext cx="1143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Across a period: Z</a:t>
            </a:r>
            <a:pPr algn="ctr">
              <a:lnSpc>
                <a:spcPct val="100000"/>
              </a:lnSpc>
            </a:pPr>
            <a:r>
              <a:rPr lang="en-US" sz="2000" baseline="-400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eff</a:t>
            </a:r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↑ → radius </a:t>
            </a:r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C484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↓</a:t>
            </a:r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IE </a:t>
            </a:r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C484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↑</a:t>
            </a:r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EN </a:t>
            </a:r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C484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↑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413000" y="4445000"/>
            <a:ext cx="1143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Down a group: shielding ↑ → radius </a:t>
            </a:r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C484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↑</a:t>
            </a:r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IE </a:t>
            </a:r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C484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↓</a:t>
            </a:r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EN </a:t>
            </a:r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C484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↓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2413000" y="5016500"/>
            <a:ext cx="1143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trends are interconnected — understand </a:t>
            </a:r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C484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WHY</a:t>
            </a:r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not just memorize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953000" y="6604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spc="300" kern="0" dirty="0">
                <a:solidFill>
                  <a:srgbClr val="FFFFFF">
                    <a:alpha val="4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TOPIC 6 · IONIC BONDING &amp; NOMENCLATURE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 5: Periodic Trends</dc:title>
  <dc:subject>Topic 5: Periodic Trends</dc:subject>
  <dc:creator>Kimi</dc:creator>
  <cp:lastModifiedBy>Kimi</cp:lastModifiedBy>
  <cp:revision>1</cp:revision>
  <dcterms:created xsi:type="dcterms:W3CDTF">2026-05-18T13:23:49Z</dcterms:created>
  <dcterms:modified xsi:type="dcterms:W3CDTF">2026-05-18T13:23:49Z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{"Label":"Topic 5: Periodic Trends","ContentProducer":"001191110108MACG2KBH8F10000","ProduceID":"19e3b396-d6e2-8ba8-8000-0000a7715c15","ReservedCode1":"","ContentPropagator":"001191110108MACG2KBH8F20000","PropagateID":"19e3b396-d6e2-8ba8-8000-0000a7715c15","ReservedCode2":""}</vt:lpwstr>
  </property>
</Properties>
</file>
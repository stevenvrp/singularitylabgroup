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Quattrocento Sans" charset="-122" pitchFamily="34"/>
      <p:regular r:id="rId27"/>
    </p:embeddedFont>
    <p:embeddedFont>
      <p:font typeface="Liter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evouy37idz74/mnt/agents/output/4a_quantum_numbers/images/5_Visual_representation_of_atomic_orbital.png">    </p:cNvPr>
          <p:cNvPicPr>
            <a:picLocks noChangeAspect="1"/>
          </p:cNvPicPr>
          <p:nvPr/>
        </p:nvPicPr>
        <p:blipFill>
          <a:blip r:embed="rId1"/>
          <a:srcRect l="0" r="0" t="265" b="26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4000"/>
                </a:srgbClr>
              </a:gs>
              <a:gs pos="55000">
                <a:srgbClr val="1B2A4A">
                  <a:alpha val="82000"/>
                </a:srgbClr>
              </a:gs>
              <a:gs pos="100000">
                <a:srgbClr val="1B2A4A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4A — GENERAL CHEMISTRY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16000" y="27305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QUANTUM NUMBERS</a:t>
            </a:r>
            <a:endParaRPr lang="en-US" sz="4200" dirty="0"/>
          </a:p>
          <a:p>
            <a:pPr>
              <a:lnSpc>
                <a:spcPct val="115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ATOMIC ORBITALS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4445000"/>
            <a:ext cx="1016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699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Quantum Mechanical Model of the Atom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n, l, m</a:t>
            </a:r>
            <a:pPr>
              <a:lnSpc>
                <a:spcPct val="160000"/>
              </a:lnSpc>
            </a:pPr>
            <a:r>
              <a:rPr lang="en-US" sz="1800" baseline="-40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</a:t>
            </a:r>
            <a:pPr>
              <a:lnSpc>
                <a:spcPct val="160000"/>
              </a:lnSpc>
            </a:pPr>
            <a:r>
              <a:rPr lang="en-US" sz="1800" baseline="-40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Orbital Shapes · Radial Nodes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16000" y="812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45-Minute Lecture · University General Chemistry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3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4572000" cy="1905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59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1844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Quantum Mechanical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57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classical physics failed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distributions &amp; wave functions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191000"/>
            <a:ext cx="4572000" cy="1905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31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43434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Quantum Numbers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016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n, l, m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complete address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Shells, subshells &amp; electron capacity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350000"/>
            <a:ext cx="4572000" cy="1905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47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65024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Orbital Shapes &amp; Nodes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7175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s, p, d orbital geometries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Radial &amp; angular nodes</a:t>
            </a:r>
            <a:endParaRPr lang="en-US" sz="1600" dirty="0"/>
          </a:p>
        </p:txBody>
      </p:sp>
      <p:pic>
        <p:nvPicPr>
          <p:cNvPr id="17" name="Image 0" descr="https://kimi-img.moonshot.cn/pub/slides/okc/aevouy37idz74/mnt/agents/output/4a_quantum_numbers/images/9_Electron_Cloud_Structure_Around_Atomic.png">    </p:cNvPr>
          <p:cNvPicPr>
            <a:picLocks noChangeAspect="1"/>
          </p:cNvPicPr>
          <p:nvPr/>
        </p:nvPicPr>
        <p:blipFill>
          <a:blip r:embed="rId1"/>
          <a:srcRect l="0" r="0" t="12162" b="12162"/>
          <a:stretch/>
        </p:blipFill>
        <p:spPr>
          <a:xfrm>
            <a:off x="6096000" y="1270000"/>
            <a:ext cx="9398000" cy="7112000"/>
          </a:xfrm>
          <a:prstGeom prst="roundRect">
            <a:avLst>
              <a:gd name="adj" fmla="val 8000"/>
            </a:avLst>
          </a:prstGeom>
        </p:spPr>
      </p:pic>
      <p:sp>
        <p:nvSpPr>
          <p:cNvPr id="18" name="Text 15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evouy37idz74/mnt/agents/output/4a_quantum_numbers/images/8_34_404_Quantum_Atom_Royalty_Free.png">    </p:cNvPr>
          <p:cNvPicPr>
            <a:picLocks noChangeAspect="1"/>
          </p:cNvPicPr>
          <p:nvPr/>
        </p:nvPicPr>
        <p:blipFill>
          <a:blip r:embed="rId1"/>
          <a:srcRect l="6412" r="641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1000"/>
                </a:srgbClr>
              </a:gs>
              <a:gs pos="50000">
                <a:srgbClr val="1B2A4A">
                  <a:alpha val="75000"/>
                </a:srgbClr>
              </a:gs>
              <a:gs pos="100000">
                <a:srgbClr val="1B2A4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spc="200" kern="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1016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990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QUANTUM MECHANICAL MODEL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Classical Failure to Quantum Success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Classical Physics Failed to Describe the Atom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pic>
        <p:nvPicPr>
          <p:cNvPr id="5" name="Image 0" descr="https://kimi-img.moonshot.cn/pub/slides/okc/aevouy37idz74/mnt/agents/output/4a_quantum_numbers/images/3_Bohr_model_Description_Hydrogen_Development.png">    </p:cNvPr>
          <p:cNvPicPr>
            <a:picLocks noChangeAspect="1"/>
          </p:cNvPicPr>
          <p:nvPr/>
        </p:nvPicPr>
        <p:blipFill>
          <a:blip r:embed="rId1"/>
          <a:srcRect l="-16" r="-16" t="0" b="0"/>
          <a:stretch/>
        </p:blipFill>
        <p:spPr>
          <a:xfrm>
            <a:off x="762000" y="1778000"/>
            <a:ext cx="6096000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59055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Bohr model — accurate for hydrogen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66000" y="1778000"/>
            <a:ext cx="812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Bohr Model (1913)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successfully explained hydrogen's line spectrum — but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failed completely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multi-electron atoms.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Fatal Flaw: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Classical electrodynamics predicts an orbiting electron should continuously radiate energy and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spiral into the nucleus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Yet atoms are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stable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This contradiction demanded a fundamentally new approach.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66000" y="6350000"/>
            <a:ext cx="8128000" cy="1143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0" y="6413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Electrons do NOT travel in predictable paths. A new model was needed.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Electrons Exist as Probability Distributions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889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17780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Born Interpretation (1926):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Probability Density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rgbClr val="C4915C"/>
                          </a:solidFill>
                        </a:rPr>
                        <m:t>∣</m:t>
                      </m:r>
                      <m:r>
                        <a:rPr lang="en-US" sz="1600" i="1" dirty="0">
                          <a:solidFill>
                            <a:srgbClr val="C4915C"/>
                          </a:solidFill>
                        </a:rPr>
                        <m:t>ψ</m:t>
                      </m:r>
                      <m:sSup>
                        <m:sSupPr>
                          <m:ctrlPr>
                            <a:rPr lang="en-US" sz="1100" dirty="0">
                              <a:solidFill>
                                <a:srgbClr val="C4915C"/>
                              </a:solidFill>
                            </a:rPr>
                          </m:ctrlPr>
                        </m:sSupPr>
                        <m:e>
                          <m:r>
                            <a:rPr lang="en-US" sz="1100" dirty="0">
                              <a:solidFill>
                                <a:srgbClr val="C4915C"/>
                              </a:solidFill>
                            </a:rPr>
                            <m:t>∣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C4915C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17780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Born Interpretation (1926):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Probability Density = 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|\psi|^2 )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62000" y="2921000"/>
                <a:ext cx="6858000" cy="355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In quantum mechanics, electrons are described by </a:t>
                </a:r>
                <a:pPr>
                  <a:lnSpc>
                    <a:spcPct val="170000"/>
                  </a:lnSpc>
                </a:pPr>
                <a:r>
                  <a:rPr lang="en-US" sz="1800" b="1" dirty="0">
                    <a:solidFill>
                      <a:srgbClr val="1B2A4A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wave functions</a:t>
                </a:r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(</a:t>
                </a:r>
                <a:pPr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/>
                        <m:t>ψ</m:t>
                      </m:r>
                    </m:oMath>
                  </m:oMathPara>
                </a14:m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).</a:t>
                </a:r>
                <a:endParaRPr lang="en-US" sz="2000" dirty="0"/>
              </a:p>
              <a:p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 square of the wave function 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/>
                        <m:t>∣</m:t>
                      </m:r>
                      <m:r>
                        <a:rPr lang="en-US" sz="2000" i="1" dirty="0"/>
                        <m:t>ψ</m:t>
                      </m:r>
                      <m:sSup>
                        <m:sSupPr>
                          <m:ctrlPr>
                            <a:rPr lang="en-US" sz="1400" dirty="0"/>
                          </m:ctrlPr>
                        </m:sSupPr>
                        <m:e>
                          <m:r>
                            <a:rPr lang="en-US" sz="1400" dirty="0"/>
                            <m:t>∣</m:t>
                          </m:r>
                        </m:e>
                        <m:sup>
                          <m:r>
                            <a:rPr lang="en-US" sz="1400" dirty="0"/>
                            <m:t>2</m:t>
                          </m:r>
                        </m:sup>
                      </m:sSup>
                    </m:oMath>
                  </m:oMathPara>
                </a14:m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gives the 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probability density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of finding an electron at a point.</a:t>
                </a:r>
                <a:endParaRPr lang="en-US" sz="2000" dirty="0"/>
              </a:p>
              <a:p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We can no longer pinpoint an electron's location — only the 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probability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of finding it in a certain region.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762000" y="2921000"/>
                <a:ext cx="6858000" cy="355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In quantum mechanics, electrons are described by </a:t>
                </a:r>
                <a:pPr>
                  <a:lnSpc>
                    <a:spcPct val="170000"/>
                  </a:lnSpc>
                </a:pPr>
                <a:r>
                  <a:rPr lang="en-US" sz="1800" b="1" dirty="0">
                    <a:solidFill>
                      <a:srgbClr val="1B2A4A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wave functions</a:t>
                </a:r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(</a:t>
                </a:r>
                <a:pPr>
                  <a:lnSpc>
                    <a:spcPct val="170000"/>
                  </a:lnSpc>
                </a:pPr>
                <a:r>
                  <a:rPr lang="en-US" sz="20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\psi )</a:t>
                </a:r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).</a:t>
                </a:r>
                <a:endParaRPr lang="en-US" sz="2000" dirty="0"/>
              </a:p>
              <a:p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 square of the wave function 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20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|\psi|^2 )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gives the 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probability density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of finding an electron at a point.</a:t>
                </a:r>
                <a:endParaRPr lang="en-US" sz="2000" dirty="0"/>
              </a:p>
              <a:p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We can no longer pinpoint an electron's location — only the 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probability</a:t>
                </a:r>
                <a:pPr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of finding it in a certain region.</a:t>
                </a:r>
                <a:endParaRPr lang="en-US" sz="2000" dirty="0"/>
              </a:p>
            </p:txBody>
          </p:sp>
        </mc:Fallback>
      </mc:AlternateContent>
      <p:pic>
        <p:nvPicPr>
          <p:cNvPr id="8" name="Image 0" descr="https://kimi-img.moonshot.cn/pub/slides/okc/aevouy37idz74/mnt/agents/output/4a_quantum_numbers/images/2_quantum_mechanics_Differences_between.png">    </p:cNvPr>
          <p:cNvPicPr>
            <a:picLocks noChangeAspect="1"/>
          </p:cNvPicPr>
          <p:nvPr/>
        </p:nvPicPr>
        <p:blipFill>
          <a:blip r:embed="rId1"/>
          <a:srcRect l="0" r="0" t="-16476" b="-16476"/>
          <a:stretch/>
        </p:blipFill>
        <p:spPr>
          <a:xfrm>
            <a:off x="8128000" y="2794000"/>
            <a:ext cx="7366000" cy="3810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0" name="Shape 7"/>
          <p:cNvSpPr/>
          <p:nvPr/>
        </p:nvSpPr>
        <p:spPr>
          <a:xfrm>
            <a:off x="1108075" y="711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356116"/>
                </a:moveTo>
                <a:cubicBezTo>
                  <a:pt x="189488" y="360670"/>
                  <a:pt x="179130" y="364778"/>
                  <a:pt x="168860" y="368171"/>
                </a:cubicBezTo>
                <a:cubicBezTo>
                  <a:pt x="183773" y="398353"/>
                  <a:pt x="196542" y="400050"/>
                  <a:pt x="200025" y="400050"/>
                </a:cubicBezTo>
                <a:cubicBezTo>
                  <a:pt x="203508" y="400050"/>
                  <a:pt x="216188" y="398353"/>
                  <a:pt x="231190" y="368171"/>
                </a:cubicBezTo>
                <a:cubicBezTo>
                  <a:pt x="221010" y="364688"/>
                  <a:pt x="210562" y="360670"/>
                  <a:pt x="200025" y="356116"/>
                </a:cubicBezTo>
                <a:close/>
                <a:moveTo>
                  <a:pt x="369689" y="228600"/>
                </a:moveTo>
                <a:cubicBezTo>
                  <a:pt x="399157" y="268962"/>
                  <a:pt x="409248" y="309771"/>
                  <a:pt x="390763" y="342900"/>
                </a:cubicBezTo>
                <a:cubicBezTo>
                  <a:pt x="372725" y="375315"/>
                  <a:pt x="334953" y="386923"/>
                  <a:pt x="287893" y="381476"/>
                </a:cubicBezTo>
                <a:cubicBezTo>
                  <a:pt x="268248" y="428000"/>
                  <a:pt x="238155" y="457200"/>
                  <a:pt x="200025" y="457200"/>
                </a:cubicBezTo>
                <a:cubicBezTo>
                  <a:pt x="161895" y="457200"/>
                  <a:pt x="131802" y="428000"/>
                  <a:pt x="112157" y="381476"/>
                </a:cubicBezTo>
                <a:cubicBezTo>
                  <a:pt x="65097" y="386923"/>
                  <a:pt x="27325" y="375315"/>
                  <a:pt x="9287" y="342900"/>
                </a:cubicBezTo>
                <a:cubicBezTo>
                  <a:pt x="-9198" y="309771"/>
                  <a:pt x="893" y="268962"/>
                  <a:pt x="30361" y="228600"/>
                </a:cubicBezTo>
                <a:cubicBezTo>
                  <a:pt x="893" y="188238"/>
                  <a:pt x="-9198" y="147429"/>
                  <a:pt x="9287" y="114300"/>
                </a:cubicBezTo>
                <a:cubicBezTo>
                  <a:pt x="27325" y="81885"/>
                  <a:pt x="65097" y="70277"/>
                  <a:pt x="112157" y="75724"/>
                </a:cubicBezTo>
                <a:cubicBezTo>
                  <a:pt x="131802" y="29200"/>
                  <a:pt x="161806" y="0"/>
                  <a:pt x="200025" y="0"/>
                </a:cubicBezTo>
                <a:cubicBezTo>
                  <a:pt x="238244" y="0"/>
                  <a:pt x="268248" y="29200"/>
                  <a:pt x="287893" y="75724"/>
                </a:cubicBezTo>
                <a:cubicBezTo>
                  <a:pt x="334953" y="70277"/>
                  <a:pt x="372725" y="81796"/>
                  <a:pt x="390763" y="114300"/>
                </a:cubicBezTo>
                <a:cubicBezTo>
                  <a:pt x="409248" y="147429"/>
                  <a:pt x="399157" y="188238"/>
                  <a:pt x="369689" y="228600"/>
                </a:cubicBezTo>
                <a:close/>
                <a:moveTo>
                  <a:pt x="310932" y="288786"/>
                </a:moveTo>
                <a:cubicBezTo>
                  <a:pt x="309414" y="301466"/>
                  <a:pt x="307449" y="313789"/>
                  <a:pt x="304949" y="325576"/>
                </a:cubicBezTo>
                <a:cubicBezTo>
                  <a:pt x="333345" y="326827"/>
                  <a:pt x="339417" y="317808"/>
                  <a:pt x="340846" y="315129"/>
                </a:cubicBezTo>
                <a:cubicBezTo>
                  <a:pt x="342900" y="311378"/>
                  <a:pt x="347097" y="299145"/>
                  <a:pt x="330220" y="272177"/>
                </a:cubicBezTo>
                <a:cubicBezTo>
                  <a:pt x="324148" y="277803"/>
                  <a:pt x="317718" y="283339"/>
                  <a:pt x="310932" y="288786"/>
                </a:cubicBezTo>
                <a:close/>
                <a:moveTo>
                  <a:pt x="304949" y="131713"/>
                </a:moveTo>
                <a:cubicBezTo>
                  <a:pt x="307449" y="143411"/>
                  <a:pt x="309414" y="155734"/>
                  <a:pt x="310932" y="168503"/>
                </a:cubicBezTo>
                <a:cubicBezTo>
                  <a:pt x="317718" y="173950"/>
                  <a:pt x="324148" y="179487"/>
                  <a:pt x="330220" y="185112"/>
                </a:cubicBezTo>
                <a:cubicBezTo>
                  <a:pt x="347097" y="158145"/>
                  <a:pt x="342900" y="145822"/>
                  <a:pt x="340846" y="142161"/>
                </a:cubicBezTo>
                <a:cubicBezTo>
                  <a:pt x="339417" y="139571"/>
                  <a:pt x="333345" y="130552"/>
                  <a:pt x="304949" y="131713"/>
                </a:cubicBezTo>
                <a:close/>
                <a:moveTo>
                  <a:pt x="231190" y="89029"/>
                </a:moveTo>
                <a:cubicBezTo>
                  <a:pt x="216188" y="58847"/>
                  <a:pt x="203508" y="57150"/>
                  <a:pt x="200025" y="57150"/>
                </a:cubicBezTo>
                <a:cubicBezTo>
                  <a:pt x="196542" y="57150"/>
                  <a:pt x="183862" y="58847"/>
                  <a:pt x="168860" y="89029"/>
                </a:cubicBezTo>
                <a:cubicBezTo>
                  <a:pt x="179040" y="92512"/>
                  <a:pt x="189488" y="96530"/>
                  <a:pt x="200025" y="101084"/>
                </a:cubicBezTo>
                <a:cubicBezTo>
                  <a:pt x="210562" y="96530"/>
                  <a:pt x="220920" y="92422"/>
                  <a:pt x="231190" y="89029"/>
                </a:cubicBezTo>
                <a:close/>
                <a:moveTo>
                  <a:pt x="89208" y="168414"/>
                </a:moveTo>
                <a:cubicBezTo>
                  <a:pt x="90726" y="155644"/>
                  <a:pt x="92690" y="143411"/>
                  <a:pt x="95190" y="131624"/>
                </a:cubicBezTo>
                <a:cubicBezTo>
                  <a:pt x="66794" y="130373"/>
                  <a:pt x="60722" y="139392"/>
                  <a:pt x="59293" y="142071"/>
                </a:cubicBezTo>
                <a:cubicBezTo>
                  <a:pt x="57239" y="145822"/>
                  <a:pt x="53042" y="158055"/>
                  <a:pt x="69919" y="185023"/>
                </a:cubicBezTo>
                <a:cubicBezTo>
                  <a:pt x="75992" y="179397"/>
                  <a:pt x="82421" y="173861"/>
                  <a:pt x="89208" y="168414"/>
                </a:cubicBezTo>
                <a:close/>
                <a:moveTo>
                  <a:pt x="69830" y="272177"/>
                </a:moveTo>
                <a:cubicBezTo>
                  <a:pt x="52953" y="299145"/>
                  <a:pt x="57150" y="311468"/>
                  <a:pt x="59204" y="315129"/>
                </a:cubicBezTo>
                <a:cubicBezTo>
                  <a:pt x="60633" y="317718"/>
                  <a:pt x="66705" y="326737"/>
                  <a:pt x="95101" y="325576"/>
                </a:cubicBezTo>
                <a:cubicBezTo>
                  <a:pt x="92601" y="313879"/>
                  <a:pt x="90636" y="301556"/>
                  <a:pt x="89118" y="288786"/>
                </a:cubicBezTo>
                <a:cubicBezTo>
                  <a:pt x="82332" y="283339"/>
                  <a:pt x="75902" y="277803"/>
                  <a:pt x="69830" y="272177"/>
                </a:cubicBezTo>
                <a:close/>
                <a:moveTo>
                  <a:pt x="271463" y="228600"/>
                </a:moveTo>
                <a:cubicBezTo>
                  <a:pt x="271463" y="189173"/>
                  <a:pt x="239452" y="157163"/>
                  <a:pt x="200025" y="157163"/>
                </a:cubicBezTo>
                <a:cubicBezTo>
                  <a:pt x="160598" y="157163"/>
                  <a:pt x="128588" y="189173"/>
                  <a:pt x="128588" y="228600"/>
                </a:cubicBezTo>
                <a:cubicBezTo>
                  <a:pt x="128588" y="268027"/>
                  <a:pt x="160598" y="300038"/>
                  <a:pt x="200025" y="300038"/>
                </a:cubicBezTo>
                <a:cubicBezTo>
                  <a:pt x="239452" y="300038"/>
                  <a:pt x="271463" y="268027"/>
                  <a:pt x="271463" y="228600"/>
                </a:cubicBezTo>
                <a:close/>
                <a:moveTo>
                  <a:pt x="200025" y="200025"/>
                </a:moveTo>
                <a:cubicBezTo>
                  <a:pt x="215796" y="200025"/>
                  <a:pt x="228600" y="212829"/>
                  <a:pt x="228600" y="228600"/>
                </a:cubicBezTo>
                <a:cubicBezTo>
                  <a:pt x="228600" y="244371"/>
                  <a:pt x="215796" y="257175"/>
                  <a:pt x="200025" y="257175"/>
                </a:cubicBezTo>
                <a:cubicBezTo>
                  <a:pt x="184254" y="257175"/>
                  <a:pt x="171450" y="244371"/>
                  <a:pt x="171450" y="228600"/>
                </a:cubicBezTo>
                <a:cubicBezTo>
                  <a:pt x="171450" y="212829"/>
                  <a:pt x="184254" y="200025"/>
                  <a:pt x="200025" y="200025"/>
                </a:cubicBezTo>
                <a:close/>
              </a:path>
            </a:pathLst>
          </a:custGeom>
          <a:solidFill>
            <a:srgbClr val="C4915C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8"/>
              <p:cNvSpPr/>
              <p:nvPr/>
            </p:nvSpPr>
            <p:spPr>
              <a:xfrm>
                <a:off x="1714500" y="6985000"/>
                <a:ext cx="13462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Definition: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C4915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orbital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is a region of space where there is a high probability (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/>
                        <m:t>&amp;gt;</m:t>
                      </m:r>
                      <m:r>
                        <a:rPr lang="en-US" sz="1600" dirty="0"/>
                        <m:t>90</m:t>
                      </m:r>
                      <m:r>
                        <a:rPr lang="en-US" sz="1600" dirty="0"/>
                        <m:t>%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) of finding an electron.</a:t>
                </a:r>
                <a:endParaRPr lang="en-US" sz="1600" dirty="0"/>
              </a:p>
            </p:txBody>
          </p:sp>
        </mc:Choice>
        <mc:Fallback xmlns="">
          <p:sp>
            <p:nvSpPr>
              <p:cNvPr id="11" name="Text 8"/>
              <p:cNvSpPr/>
              <p:nvPr/>
            </p:nvSpPr>
            <p:spPr>
              <a:xfrm>
                <a:off x="1714500" y="6985000"/>
                <a:ext cx="13462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Definition: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C4915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orbital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is a region of space where there is a high probability (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B2A4A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&gt;90\%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) of finding an electron.</a:t>
                </a:r>
                <a:endParaRPr lang="en-US" sz="1600" dirty="0"/>
              </a:p>
            </p:txBody>
          </p:sp>
        </mc:Fallback>
      </mc:AlternateContent>
      <p:sp>
        <p:nvSpPr>
          <p:cNvPr id="12" name="Text 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evouy37idz74/mnt/agents/output/4a_quantum_numbers/images/3_Atomic_Orbitals_3d_Over_8_277_Royalty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1000"/>
                </a:srgbClr>
              </a:gs>
              <a:gs pos="50000">
                <a:srgbClr val="1B2A4A">
                  <a:alpha val="75000"/>
                </a:srgbClr>
              </a:gs>
              <a:gs pos="100000">
                <a:srgbClr val="1B2A4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spc="200" kern="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1016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QUANTUM NUMBERS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n, l, m</a:t>
            </a:r>
            <a:pPr>
              <a:lnSpc>
                <a:spcPct val="100000"/>
              </a:lnSpc>
            </a:pPr>
            <a:r>
              <a:rPr lang="en-US" sz="2000" baseline="-40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</a:t>
            </a:r>
            <a:pPr>
              <a:lnSpc>
                <a:spcPct val="100000"/>
              </a:lnSpc>
            </a:pPr>
            <a:r>
              <a:rPr lang="en-US" sz="2000" baseline="-40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Complete Address of Every Electron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Principal Quantum Number (n) — Energy Level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1016000" cy="1016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177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Principal Quantum Number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principal energy level (shell)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7112000" cy="7620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1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Allowed values: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= 1, 2, 3, 4, ...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064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n determines: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 of the orbital (larger n = larger orbital)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Energy of the electron (higher n = higher energy)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Average distance from the nucleus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6858000"/>
            <a:ext cx="7112000" cy="762000"/>
          </a:xfrm>
          <a:prstGeom prst="rect">
            <a:avLst/>
          </a:prstGeom>
          <a:solidFill>
            <a:srgbClr val="F0E6D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1016000" y="6921500"/>
                <a:ext cx="6604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Max electrons per shell =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2</m:t>
                      </m:r>
                      <m:sSup>
                        <m:sSupPr>
                          <m:ctrlPr>
                            <a:rPr lang="en-US" sz="1500" dirty="0">
                              <a:solidFill>
                                <a:srgbClr val="C4915C"/>
                              </a:solidFill>
                            </a:rPr>
                          </m:ctrlPr>
                        </m:sSupPr>
                        <m:e>
                          <m:r>
                            <a:rPr lang="en-US" sz="1500" i="1" dirty="0">
                              <a:solidFill>
                                <a:srgbClr val="C4915C"/>
                              </a:solidFill>
                            </a:rPr>
                            <m:t>n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C4915C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1016000" y="6921500"/>
                <a:ext cx="6604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Max electrons per shell = </a:t>
                </a:r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( 2n^2 )</a:t>
                </a:r>
                <a:endParaRPr lang="en-US" sz="1600" dirty="0"/>
              </a:p>
            </p:txBody>
          </p:sp>
        </mc:Fallback>
      </mc:AlternateContent>
      <p:pic>
        <p:nvPicPr>
          <p:cNvPr id="13" name="Image 0" descr="https://kimi-img.moonshot.cn/pub/slides/okc/aevouy37idz74/mnt/agents/output/4a_quantum_numbers/images/7_Bohr_s_Model_of_an_Atom.png">    </p:cNvPr>
          <p:cNvPicPr>
            <a:picLocks noChangeAspect="1"/>
          </p:cNvPicPr>
          <p:nvPr/>
        </p:nvPicPr>
        <p:blipFill>
          <a:blip r:embed="rId1"/>
          <a:srcRect l="0" r="0" t="-17700" b="-17700"/>
          <a:stretch/>
        </p:blipFill>
        <p:spPr>
          <a:xfrm>
            <a:off x="8382000" y="1778000"/>
            <a:ext cx="7112000" cy="5842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79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Angular Momentum Quantum Number (l) — Shape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1016000" cy="1016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177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Angular Momentum Quantum Number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shape of the orbital (subshell)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7620000" cy="7620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11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Allowed values: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0, 1, 2, ..., (n − 1)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64000"/>
          <a:ext cx="7620000" cy="2794000"/>
        </p:xfrm>
        <a:graphic>
          <a:graphicData uri="http://schemas.openxmlformats.org/drawingml/2006/table">
            <a:tbl>
              <a:tblPr/>
              <a:tblGrid>
                <a:gridCol w="1371600"/>
                <a:gridCol w="1676400"/>
                <a:gridCol w="2286000"/>
                <a:gridCol w="22860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Letter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Subshell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 subshell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Spherical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subshell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Dumbbell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 subshell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Cloverleaf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 subshell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7112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number of possible l values for a given n equals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12" name="Image 0" descr="https://kimi-img.moonshot.cn/pub/slides/okc/aevouy37idz74/mnt/agents/output/4a_quantum_numbers/images/1_s_p_d_f_Atomic_Orbitals_Chemistry.png">    </p:cNvPr>
          <p:cNvPicPr>
            <a:picLocks noChangeAspect="1"/>
          </p:cNvPicPr>
          <p:nvPr/>
        </p:nvPicPr>
        <p:blipFill>
          <a:blip r:embed="rId1"/>
          <a:srcRect l="0" r="0" t="-38834" b="-38834"/>
          <a:stretch/>
        </p:blipFill>
        <p:spPr>
          <a:xfrm>
            <a:off x="8890000" y="1778000"/>
            <a:ext cx="6604000" cy="5842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79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Magnetic Quantum Number (m</a:t>
            </a:r>
            <a:pPr>
              <a:lnSpc>
                <a:spcPct val="130000"/>
              </a:lnSpc>
            </a:pPr>
            <a:r>
              <a:rPr lang="en-US" sz="2600" baseline="-40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— Orientation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1016000" cy="1016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pPr algn="ctr">
              <a:lnSpc>
                <a:spcPct val="100000"/>
              </a:lnSpc>
            </a:pPr>
            <a:r>
              <a:rPr lang="en-US" sz="30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177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Magnetic Quantum Number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spatial orientation of the orbital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7874000" cy="7620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115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Allowed values: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00000"/>
              </a:lnSpc>
            </a:pPr>
            <a:r>
              <a:rPr lang="en-US" sz="2000" baseline="-40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−l, ..., 0, ..., +l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06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3683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699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0 (s):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600" baseline="-40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 only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1 orbital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99000" y="4572000"/>
            <a:ext cx="3683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89500" y="4699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1 (p):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600" baseline="-40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−1, 0, +1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3 orbitals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3683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6350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2 (d):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600" baseline="-40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−2, −1, 0, +1, +2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5 orbitals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99000" y="6223000"/>
            <a:ext cx="3683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8" name="Text 16"/>
          <p:cNvSpPr/>
          <p:nvPr/>
        </p:nvSpPr>
        <p:spPr>
          <a:xfrm>
            <a:off x="4889500" y="6350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3 (f):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600" baseline="-40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−3 to +3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7 orbitals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7874000"/>
            <a:ext cx="7620000" cy="635000"/>
          </a:xfrm>
          <a:prstGeom prst="rect">
            <a:avLst/>
          </a:prstGeom>
          <a:solidFill>
            <a:srgbClr val="1B2A4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1016000" y="7937500"/>
                <a:ext cx="7112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Number of orbitals per subshell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dirty="0"/>
                        <m:t>2</m:t>
                      </m:r>
                      <m:r>
                        <a:rPr lang="en-US" sz="2200" i="1" dirty="0"/>
                        <m:t>l</m:t>
                      </m:r>
                      <m:r>
                        <a:rPr lang="en-US" sz="2200" dirty="0"/>
                        <m:t>+</m:t>
                      </m:r>
                      <m:r>
                        <a:rPr lang="en-US" sz="2200" dirty="0"/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1016000" y="7937500"/>
                <a:ext cx="7112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Number of orbitals per subshell = 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( 2l + 1 )</a:t>
                </a:r>
                <a:endParaRPr lang="en-US" sz="1600" dirty="0"/>
              </a:p>
            </p:txBody>
          </p:sp>
        </mc:Fallback>
      </mc:AlternateContent>
      <p:pic>
        <p:nvPicPr>
          <p:cNvPr id="21" name="Image 0" descr="https://kimi-img.moonshot.cn/pub/slides/okc/aevouy37idz74/mnt/agents/output/4a_quantum_numbers/images/1_p_Orbitals_are_not_dumbbells_Well.png">    </p:cNvPr>
          <p:cNvPicPr>
            <a:picLocks noChangeAspect="1"/>
          </p:cNvPicPr>
          <p:nvPr/>
        </p:nvPicPr>
        <p:blipFill>
          <a:blip r:embed="rId1"/>
          <a:srcRect l="0" r="0" t="-81789" b="-81789"/>
          <a:stretch/>
        </p:blipFill>
        <p:spPr>
          <a:xfrm>
            <a:off x="8890000" y="1778000"/>
            <a:ext cx="6604000" cy="6731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Spin Quantum Number (m</a:t>
            </a:r>
            <a:pPr>
              <a:lnSpc>
                <a:spcPct val="130000"/>
              </a:lnSpc>
            </a:pPr>
            <a:r>
              <a:rPr lang="en-US" sz="2600" baseline="-40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— Electron Spin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1016000" cy="1016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pPr algn="ctr">
              <a:lnSpc>
                <a:spcPct val="100000"/>
              </a:lnSpc>
            </a:pPr>
            <a:r>
              <a:rPr lang="en-US" sz="30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177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Spin Quantum Number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Describes the intrinsic angular momentum of the electron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7112000" cy="7620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1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Allowed values: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00000"/>
              </a:lnSpc>
            </a:pPr>
            <a:r>
              <a:rPr lang="en-US" sz="2000" baseline="-40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+½ or −½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91000"/>
            <a:ext cx="3302000" cy="2032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318000"/>
            <a:ext cx="330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143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Spin Up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50000"/>
              </a:lnSpc>
            </a:pPr>
            <a:r>
              <a:rPr lang="en-US" sz="1600" baseline="-40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+½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8000" y="4191000"/>
            <a:ext cx="3302000" cy="2032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4" name="Text 12"/>
          <p:cNvSpPr/>
          <p:nvPr/>
        </p:nvSpPr>
        <p:spPr>
          <a:xfrm>
            <a:off x="4318000" y="4318000"/>
            <a:ext cx="330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18000" y="5143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Spin Down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50000"/>
              </a:lnSpc>
            </a:pPr>
            <a:r>
              <a:rPr lang="en-US" sz="1600" baseline="-40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−½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604000"/>
            <a:ext cx="6858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692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21444"/>
                </a:moveTo>
                <a:cubicBezTo>
                  <a:pt x="240476" y="121444"/>
                  <a:pt x="250031" y="130999"/>
                  <a:pt x="250031" y="142875"/>
                </a:cubicBezTo>
                <a:lnTo>
                  <a:pt x="250031" y="242888"/>
                </a:lnTo>
                <a:cubicBezTo>
                  <a:pt x="250031" y="254764"/>
                  <a:pt x="240476" y="264319"/>
                  <a:pt x="228600" y="264319"/>
                </a:cubicBezTo>
                <a:cubicBezTo>
                  <a:pt x="216724" y="264319"/>
                  <a:pt x="207169" y="254764"/>
                  <a:pt x="207169" y="242888"/>
                </a:cubicBezTo>
                <a:lnTo>
                  <a:pt x="207169" y="142875"/>
                </a:lnTo>
                <a:cubicBezTo>
                  <a:pt x="207169" y="130999"/>
                  <a:pt x="216724" y="121444"/>
                  <a:pt x="228600" y="121444"/>
                </a:cubicBezTo>
                <a:close/>
                <a:moveTo>
                  <a:pt x="204758" y="314325"/>
                </a:moveTo>
                <a:cubicBezTo>
                  <a:pt x="204215" y="305475"/>
                  <a:pt x="208629" y="297055"/>
                  <a:pt x="216215" y="292466"/>
                </a:cubicBezTo>
                <a:cubicBezTo>
                  <a:pt x="223802" y="287877"/>
                  <a:pt x="233309" y="287877"/>
                  <a:pt x="240895" y="292466"/>
                </a:cubicBezTo>
                <a:cubicBezTo>
                  <a:pt x="248482" y="297055"/>
                  <a:pt x="252895" y="305475"/>
                  <a:pt x="252353" y="314325"/>
                </a:cubicBezTo>
                <a:cubicBezTo>
                  <a:pt x="252895" y="323175"/>
                  <a:pt x="248482" y="331595"/>
                  <a:pt x="240895" y="336184"/>
                </a:cubicBezTo>
                <a:cubicBezTo>
                  <a:pt x="233309" y="340773"/>
                  <a:pt x="223802" y="340773"/>
                  <a:pt x="216215" y="336184"/>
                </a:cubicBezTo>
                <a:cubicBezTo>
                  <a:pt x="208629" y="331595"/>
                  <a:pt x="204215" y="323175"/>
                  <a:pt x="204758" y="314325"/>
                </a:cubicBezTo>
                <a:close/>
              </a:path>
            </a:pathLst>
          </a:custGeom>
          <a:solidFill>
            <a:srgbClr val="C4915C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67310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Pauli Exclusion Principle: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orbital holds max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electrons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opposite spins.</a:t>
            </a:r>
            <a:endParaRPr lang="en-US" sz="1600" dirty="0"/>
          </a:p>
        </p:txBody>
      </p:sp>
      <p:pic>
        <p:nvPicPr>
          <p:cNvPr id="19" name="Image 0" descr="https://kimi-img.moonshot.cn/pub/slides/okc/aevouy37idz74/mnt/agents/output/4a_quantum_numbers/images/5_8_611_Atom_3d_Orbit_Royalty_Free.png">    </p:cNvPr>
          <p:cNvPicPr>
            <a:picLocks noChangeAspect="1"/>
          </p:cNvPicPr>
          <p:nvPr/>
        </p:nvPicPr>
        <p:blipFill>
          <a:blip r:embed="rId1"/>
          <a:srcRect l="0" r="0" t="-9694" b="-9694"/>
          <a:stretch/>
        </p:blipFill>
        <p:spPr>
          <a:xfrm>
            <a:off x="8382000" y="1778000"/>
            <a:ext cx="7112000" cy="6096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Quantum Numbers — Summary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209800"/>
                <a:gridCol w="1767840"/>
                <a:gridCol w="4124960"/>
                <a:gridCol w="6629400"/>
              </a:tblGrid>
              <a:tr h="67527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Allowed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Describes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154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Principal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1, 2, 3, 4, ...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Energy level, size, distance from nucleus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154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Angular Momentum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0, 1, 2, ..., (n − 1)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Orbital shape (s, p, d, f)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8154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Magnetic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−l, ..., 0, ..., +l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Spatial orientation of the orbital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154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+½ or −½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Electron spin direction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Relationships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477000"/>
            <a:ext cx="4572000" cy="889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/>
              <p:cNvSpPr/>
              <p:nvPr/>
            </p:nvSpPr>
            <p:spPr>
              <a:xfrm>
                <a:off x="952500" y="6540500"/>
                <a:ext cx="419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Subshells per shell = </a:t>
                </a:r>
                <a:pPr algn="ctr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n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 5"/>
              <p:cNvSpPr/>
              <p:nvPr/>
            </p:nvSpPr>
            <p:spPr>
              <a:xfrm>
                <a:off x="952500" y="6540500"/>
                <a:ext cx="419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Subshells per shell = </a:t>
                </a:r>
                <a:pPr algn="ctr">
                  <a:lnSpc>
                    <a:spcPct val="14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)</a:t>
                </a:r>
                <a:endParaRPr lang="en-US" sz="1600" dirty="0"/>
              </a:p>
            </p:txBody>
          </p:sp>
        </mc:Fallback>
      </mc:AlternateContent>
      <p:sp>
        <p:nvSpPr>
          <p:cNvPr id="9" name="Shape 6"/>
          <p:cNvSpPr/>
          <p:nvPr/>
        </p:nvSpPr>
        <p:spPr>
          <a:xfrm>
            <a:off x="5588000" y="6477000"/>
            <a:ext cx="4572000" cy="889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/>
              <p:nvPr/>
            </p:nvSpPr>
            <p:spPr>
              <a:xfrm>
                <a:off x="5778500" y="6540500"/>
                <a:ext cx="419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Orbitals per subshell = </a:t>
                </a:r>
                <a:pPr algn="ctr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2</m:t>
                      </m:r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l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+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7"/>
              <p:cNvSpPr/>
              <p:nvPr/>
            </p:nvSpPr>
            <p:spPr>
              <a:xfrm>
                <a:off x="5778500" y="6540500"/>
                <a:ext cx="419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Orbitals per subshell = </a:t>
                </a:r>
                <a:pPr algn="ctr">
                  <a:lnSpc>
                    <a:spcPct val="14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( 2l + 1 )</a:t>
                </a:r>
                <a:endParaRPr lang="en-US" sz="1600" dirty="0"/>
              </a:p>
            </p:txBody>
          </p:sp>
        </mc:Fallback>
      </mc:AlternateContent>
      <p:sp>
        <p:nvSpPr>
          <p:cNvPr id="11" name="Shape 8"/>
          <p:cNvSpPr/>
          <p:nvPr/>
        </p:nvSpPr>
        <p:spPr>
          <a:xfrm>
            <a:off x="10414000" y="6477000"/>
            <a:ext cx="5080000" cy="889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/>
              <p:cNvSpPr/>
              <p:nvPr/>
            </p:nvSpPr>
            <p:spPr>
              <a:xfrm>
                <a:off x="10604500" y="6540500"/>
                <a:ext cx="4699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Max electrons per shell = </a:t>
                </a:r>
                <a:pPr algn="ctr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2</m:t>
                      </m:r>
                      <m:sSup>
                        <m:sSupPr>
                          <m:ctrlPr>
                            <a:rPr lang="en-US" sz="1500" dirty="0">
                              <a:solidFill>
                                <a:srgbClr val="C4915C"/>
                              </a:solidFill>
                            </a:rPr>
                          </m:ctrlPr>
                        </m:sSupPr>
                        <m:e>
                          <m:r>
                            <a:rPr lang="en-US" sz="1500" i="1" dirty="0">
                              <a:solidFill>
                                <a:srgbClr val="C4915C"/>
                              </a:solidFill>
                            </a:rPr>
                            <m:t>n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C4915C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 9"/>
              <p:cNvSpPr/>
              <p:nvPr/>
            </p:nvSpPr>
            <p:spPr>
              <a:xfrm>
                <a:off x="10604500" y="6540500"/>
                <a:ext cx="4699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Max electrons per shell = </a:t>
                </a:r>
                <a:pPr algn="ctr">
                  <a:lnSpc>
                    <a:spcPct val="14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( 2n^2 )</a:t>
                </a:r>
                <a:endParaRPr lang="en-US" sz="1600" dirty="0"/>
              </a:p>
            </p:txBody>
          </p:sp>
        </mc:Fallback>
      </mc:AlternateContent>
      <p:sp>
        <p:nvSpPr>
          <p:cNvPr id="13" name="Text 10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Many Electrons Fit in Each Shell?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14732000" cy="3810000"/>
        </p:xfrm>
        <a:graphic>
          <a:graphicData uri="http://schemas.openxmlformats.org/drawingml/2006/table">
            <a:tbl>
              <a:tblPr/>
              <a:tblGrid>
                <a:gridCol w="1767840"/>
                <a:gridCol w="2651760"/>
                <a:gridCol w="3241040"/>
                <a:gridCol w="3241040"/>
                <a:gridCol w="3830320"/>
              </a:tblGrid>
              <a:tr h="61369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Shell (n)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Subshells (l)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Orbitals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 Electrons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Configuration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3926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 = 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926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 =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2s, 2p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+ 3 =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2s² 2p⁶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63926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 =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3s, 3p, 3d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+ 3 + 5 = 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3s² 3p⁶ 3d¹⁰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926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 =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4s, 4p, 4d, 4f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+ 3 + 5 + 7 = 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4s² 4p⁶ 4d¹⁰ 4f¹⁴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63926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 =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5s, 5p, 5d, 5f, 5g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+ 3 + 5 + 7 + 9 = 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 (theoretical)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84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350000"/>
            <a:ext cx="4572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6477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subshells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8000" y="6350000"/>
            <a:ext cx="4572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0" name="Text 7"/>
          <p:cNvSpPr/>
          <p:nvPr/>
        </p:nvSpPr>
        <p:spPr>
          <a:xfrm>
            <a:off x="5778500" y="6477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orbitals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n²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414000" y="6350000"/>
            <a:ext cx="5080000" cy="1397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2" name="Text 9"/>
          <p:cNvSpPr/>
          <p:nvPr/>
        </p:nvSpPr>
        <p:spPr>
          <a:xfrm>
            <a:off x="10604500" y="6477000"/>
            <a:ext cx="469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electrons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2n²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evouy37idz74/mnt/agents/output/4a_quantum_numbers/images/9_Electron_Cloud_Structure_Around_Atomic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1000"/>
                </a:srgbClr>
              </a:gs>
              <a:gs pos="50000">
                <a:srgbClr val="1B2A4A">
                  <a:alpha val="75000"/>
                </a:srgbClr>
              </a:gs>
              <a:gs pos="100000">
                <a:srgbClr val="1B2A4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spc="200" kern="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1016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ORBITAL SHAPES &amp; NODES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Visualizing Where Electrons Can Be Found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 Orbitals — Perfectly Spherical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889000" cy="889000"/>
          </a:xfrm>
          <a:prstGeom prst="ellipse">
            <a:avLst/>
          </a:prstGeom>
          <a:solidFill>
            <a:srgbClr val="C491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184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s orbitals are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spherically symmetric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electron probability depends only on distance from the nucleus, not direction.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properties: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1s: no nodes, highest density at nucleus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2s: 1 radial node (spherical shell of zero probability)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3s: 2 radial nodes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6477000"/>
            <a:ext cx="6858000" cy="762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16000" y="6540500"/>
                <a:ext cx="635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nodes in s orbitals =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n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−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16000" y="6540500"/>
                <a:ext cx="635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nodes in s orbitals = </a:t>
                </a:r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- 1 )</a:t>
                </a:r>
                <a:endParaRPr lang="en-US" sz="1600" dirty="0"/>
              </a:p>
            </p:txBody>
          </p:sp>
        </mc:Fallback>
      </mc:AlternateContent>
      <p:pic>
        <p:nvPicPr>
          <p:cNvPr id="11" name="Image 0" descr="https://kimi-img.moonshot.cn/pub/slides/okc/aevouy37idz74/mnt/agents/output/4a_quantum_numbers/images/8_Shapes_of_Atomic_Orbitals_Overview.png">    </p:cNvPr>
          <p:cNvPicPr>
            <a:picLocks noChangeAspect="1"/>
          </p:cNvPicPr>
          <p:nvPr/>
        </p:nvPicPr>
        <p:blipFill>
          <a:blip r:embed="rId1"/>
          <a:srcRect l="0" r="0" t="0" b="55000"/>
          <a:stretch/>
        </p:blipFill>
        <p:spPr>
          <a:xfrm>
            <a:off x="8128000" y="1651000"/>
            <a:ext cx="7366000" cy="558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Orbitals — The Dumbbell Shape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889000" cy="889000"/>
          </a:xfrm>
          <a:prstGeom prst="ellipse">
            <a:avLst/>
          </a:prstGeom>
          <a:solidFill>
            <a:srgbClr val="C491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184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p orbitals per subshell, oriented along perpendicular axes: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baseline="-40000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along x-axis |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baseline="-40000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along y-axis |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baseline="-40000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along z-axis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properties: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lobes with a nodal plane through the nucleus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 angular node (planar surface, \(\psi = 0\))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three are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degenerate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(equal energy)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6731000"/>
            <a:ext cx="6858000" cy="762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16000" y="6794500"/>
                <a:ext cx="635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 in p orbitals =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l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=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16000" y="6794500"/>
                <a:ext cx="635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 in p orbitals = </a:t>
                </a:r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l = 1 )</a:t>
                </a:r>
                <a:endParaRPr lang="en-US" sz="1600" dirty="0"/>
              </a:p>
            </p:txBody>
          </p:sp>
        </mc:Fallback>
      </mc:AlternateContent>
      <p:pic>
        <p:nvPicPr>
          <p:cNvPr id="11" name="Image 0" descr="https://kimi-img.moonshot.cn/pub/slides/okc/aevouy37idz74/mnt/agents/output/4a_quantum_numbers/images/1_p_Orbitals_are_not_dumbbells_Well.png">    </p:cNvPr>
          <p:cNvPicPr>
            <a:picLocks noChangeAspect="1"/>
          </p:cNvPicPr>
          <p:nvPr/>
        </p:nvPicPr>
        <p:blipFill>
          <a:blip r:embed="rId1"/>
          <a:srcRect l="0" r="0" t="-48091" b="-48091"/>
          <a:stretch/>
        </p:blipFill>
        <p:spPr>
          <a:xfrm>
            <a:off x="8128000" y="1651000"/>
            <a:ext cx="7366000" cy="558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 Orbitals — The Cloverleaf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889000" cy="889000"/>
          </a:xfrm>
          <a:prstGeom prst="ellipse">
            <a:avLst/>
          </a:prstGeom>
          <a:solidFill>
            <a:srgbClr val="C491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184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d orbitals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</a:t>
            </a:r>
            <a:pPr>
              <a:lnSpc>
                <a:spcPct val="170000"/>
              </a:lnSpc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xy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xz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yz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x²−y²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z²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cloverleafs: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xz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yz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x²−y²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lobes along axes, 2 angular nodes each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unique: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aseline="-40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z²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lobes on z-axis + doughnut in xy plane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five are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degenerate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isolated atoms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6731000"/>
            <a:ext cx="6858000" cy="762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16000" y="6794500"/>
                <a:ext cx="635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 in d orbitals =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l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=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16000" y="6794500"/>
                <a:ext cx="635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 in d orbitals = </a:t>
                </a:r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l = 2 )</a:t>
                </a:r>
                <a:endParaRPr lang="en-US" sz="1600" dirty="0"/>
              </a:p>
            </p:txBody>
          </p:sp>
        </mc:Fallback>
      </mc:AlternateContent>
      <p:pic>
        <p:nvPicPr>
          <p:cNvPr id="11" name="Image 0" descr="https://kimi-img.moonshot.cn/pub/slides/okc/aevouy37idz74/mnt/agents/output/4a_quantum_numbers/images/6_Shapes_of_s_p_and_d_orbitals.png">    </p:cNvPr>
          <p:cNvPicPr>
            <a:picLocks noChangeAspect="1"/>
          </p:cNvPicPr>
          <p:nvPr/>
        </p:nvPicPr>
        <p:blipFill>
          <a:blip r:embed="rId1"/>
          <a:srcRect l="0" r="0" t="-3532" b="-3532"/>
          <a:stretch/>
        </p:blipFill>
        <p:spPr>
          <a:xfrm>
            <a:off x="8128000" y="1651000"/>
            <a:ext cx="7366000" cy="558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Nodes? — Regions of Zero Probability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889000"/>
          </a:xfrm>
          <a:prstGeom prst="rect">
            <a:avLst/>
          </a:prstGeom>
          <a:solidFill>
            <a:srgbClr val="1B2A4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17780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 </a:t>
                </a:r>
                <a:pPr algn="ctr">
                  <a:lnSpc>
                    <a:spcPct val="140000"/>
                  </a:lnSpc>
                </a:pPr>
                <a:r>
                  <a:rPr lang="en-US" sz="2000" b="1" dirty="0">
                    <a:solidFill>
                      <a:srgbClr val="C4915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node</a:t>
                </a:r>
                <a:pPr algn="ctr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is where </a:t>
                </a:r>
                <a:pPr algn="ctr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/>
                        <m:t>ψ</m:t>
                      </m:r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0</m:t>
                      </m:r>
                    </m:oMath>
                  </m:oMathPara>
                </a14:m>
                <a:pPr algn="ctr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zero probability of finding the electron. No classical analog exists.</a:t>
                </a:r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17780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 </a:t>
                </a:r>
                <a:pPr algn="ctr">
                  <a:lnSpc>
                    <a:spcPct val="140000"/>
                  </a:lnSpc>
                </a:pPr>
                <a:r>
                  <a:rPr lang="en-US" sz="2000" b="1" dirty="0">
                    <a:solidFill>
                      <a:srgbClr val="C4915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node</a:t>
                </a:r>
                <a:pPr algn="ctr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is where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\psi = 0 )</a:t>
                </a:r>
                <a:pPr algn="ctr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zero probability of finding the electron. No classical analog exists.</a:t>
                </a:r>
                <a:endParaRPr lang="en-US" sz="16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62000" y="292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Radial Nodes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4290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Spherical surfaces where the probability of finding the electron drops to exactly zero.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the layers of an onion — spherical shells of zero electron density separating regions of non-zero probability.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524500"/>
            <a:ext cx="6858000" cy="635000"/>
          </a:xfrm>
          <a:prstGeom prst="rect">
            <a:avLst/>
          </a:prstGeom>
          <a:solidFill>
            <a:srgbClr val="F0E6D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16000" y="5588000"/>
                <a:ext cx="6350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nodes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n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−</m:t>
                      </m:r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l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−</m:t>
                      </m:r>
                      <m:r>
                        <a:rPr lang="en-US" sz="2200" dirty="0">
                          <a:solidFill>
                            <a:srgbClr val="C4915C"/>
                          </a:solidFill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16000" y="5588000"/>
                <a:ext cx="6350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nodes = 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- l - 1 )</a:t>
                </a:r>
                <a:endParaRPr lang="en-US" sz="1600" dirty="0"/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8128000" y="2921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Angular Nodes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8128000" y="3429000"/>
                <a:ext cx="7366000" cy="17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Planar surfaces (flat planes) passing through the nucleus where </a:t>
                </a:r>
                <a:pPr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ψ</m:t>
                      </m:r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0</m:t>
                      </m:r>
                    </m:oMath>
                  </m:oMathPara>
                </a14:m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600" dirty="0"/>
              </a:p>
              <a:p>
                <a:pPr>
                  <a:lnSpc>
                    <a:spcPct val="17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These create the characteristic shapes of p and d orbitals — the nodal planes that separate the lobes.</a:t>
                </a:r>
                <a:endParaRPr lang="en-US" sz="16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8128000" y="3429000"/>
                <a:ext cx="7366000" cy="17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Planar surfaces (flat planes) passing through the nucleus where </a:t>
                </a:r>
                <a:pPr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2D3142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\psi = 0 )</a:t>
                </a:r>
                <a:pPr>
                  <a:lnSpc>
                    <a:spcPct val="170000"/>
                  </a:lnSpc>
                </a:pPr>
                <a:r>
                  <a:rPr lang="en-US" sz="1800" dirty="0">
                    <a:solidFill>
                      <a:srgbClr val="2D314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600" dirty="0"/>
              </a:p>
              <a:p>
                <a:pPr>
                  <a:lnSpc>
                    <a:spcPct val="17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2D314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These create the characteristic shapes of p and d orbitals — the nodal planes that separate the lobes.</a:t>
                </a:r>
                <a:endParaRPr lang="en-US" sz="1600" dirty="0"/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8128000" y="5588000"/>
            <a:ext cx="7366000" cy="635000"/>
          </a:xfrm>
          <a:prstGeom prst="rect">
            <a:avLst/>
          </a:prstGeom>
          <a:solidFill>
            <a:srgbClr val="F0E6D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8382000" y="5651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4915C"/>
                          </a:solidFill>
                        </a:rPr>
                        <m:t>l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8382000" y="5651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 = 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l )</a:t>
                </a:r>
                <a:endParaRPr lang="en-US" sz="1600" dirty="0"/>
              </a:p>
            </p:txBody>
          </p:sp>
        </mc:Fallback>
      </mc:AlternateContent>
      <p:pic>
        <p:nvPicPr>
          <p:cNvPr id="15" name="Image 0" descr="https://kimi-img.moonshot.cn/pub/slides/okc/aevouy37idz74/mnt/agents/output/4a_quantum_numbers/images/6_Radial_Nodes_And_Planar_Nodes_Definition.png">    </p:cNvPr>
          <p:cNvPicPr>
            <a:picLocks noChangeAspect="1"/>
          </p:cNvPicPr>
          <p:nvPr/>
        </p:nvPicPr>
        <p:blipFill>
          <a:blip r:embed="rId1"/>
          <a:srcRect l="-38506" r="-38506" t="0" b="0"/>
          <a:stretch/>
        </p:blipFill>
        <p:spPr>
          <a:xfrm>
            <a:off x="762000" y="6477000"/>
            <a:ext cx="14732000" cy="1905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Counting Nodes — The Node Formula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17145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nodes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i="1" dirty="0">
                          <a:solidFill>
                            <a:srgbClr val="C4915C"/>
                          </a:solidFill>
                        </a:rPr>
                        <m:t>n</m:t>
                      </m:r>
                      <m:r>
                        <a:rPr lang="en-US" sz="2600" dirty="0">
                          <a:solidFill>
                            <a:srgbClr val="C4915C"/>
                          </a:solidFill>
                        </a:rPr>
                        <m:t>−</m:t>
                      </m:r>
                      <m:r>
                        <a:rPr lang="en-US" sz="2600" dirty="0">
                          <a:solidFill>
                            <a:srgbClr val="C4915C"/>
                          </a:solidFill>
                        </a:rPr>
                        <m:t>1</m:t>
                      </m:r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nodes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i="1" dirty="0">
                          <a:solidFill>
                            <a:srgbClr val="C4915C"/>
                          </a:solidFill>
                        </a:rPr>
                        <m:t>n</m:t>
                      </m:r>
                      <m:r>
                        <a:rPr lang="en-US" sz="2600" dirty="0">
                          <a:solidFill>
                            <a:srgbClr val="C4915C"/>
                          </a:solidFill>
                        </a:rPr>
                        <m:t>−</m:t>
                      </m:r>
                      <m:r>
                        <a:rPr lang="en-US" sz="2600" i="1" dirty="0">
                          <a:solidFill>
                            <a:srgbClr val="C4915C"/>
                          </a:solidFill>
                        </a:rPr>
                        <m:t>l</m:t>
                      </m:r>
                      <m:r>
                        <a:rPr lang="en-US" sz="2600" dirty="0">
                          <a:solidFill>
                            <a:srgbClr val="C4915C"/>
                          </a:solidFill>
                        </a:rPr>
                        <m:t>−</m:t>
                      </m:r>
                      <m:r>
                        <a:rPr lang="en-US" sz="2600" dirty="0">
                          <a:solidFill>
                            <a:srgbClr val="C4915C"/>
                          </a:solidFill>
                        </a:rPr>
                        <m:t>1</m:t>
                      </m:r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i="1" dirty="0">
                          <a:solidFill>
                            <a:srgbClr val="C4915C"/>
                          </a:solidFill>
                        </a:rPr>
                        <m:t>l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17145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nodes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</a:t>
                </a:r>
                <a:pPr algn="ctr">
                  <a:lnSpc>
                    <a:spcPct val="100000"/>
                  </a:lnSpc>
                </a:pPr>
                <a:r>
                  <a:rPr lang="en-US" sz="26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- 1 )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nodes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</a:t>
                </a:r>
                <a:pPr algn="ctr">
                  <a:lnSpc>
                    <a:spcPct val="100000"/>
                  </a:lnSpc>
                </a:pPr>
                <a:r>
                  <a:rPr lang="en-US" sz="26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- l - 1 )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ctr">
                  <a:lnSpc>
                    <a:spcPct val="100000"/>
                  </a:lnSpc>
                </a:pPr>
                <a:r>
                  <a:rPr lang="en-US" sz="22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Angular nodes</a:t>
                </a:r>
                <a:pPr algn="ctr"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</a:t>
                </a:r>
                <a:pPr algn="ctr">
                  <a:lnSpc>
                    <a:spcPct val="100000"/>
                  </a:lnSpc>
                </a:pPr>
                <a:r>
                  <a:rPr lang="en-US" sz="26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l )</a:t>
                </a:r>
                <a:endParaRPr lang="en-US" sz="1600" dirty="0"/>
              </a:p>
            </p:txBody>
          </p:sp>
        </mc:Fallback>
      </mc:AlternateContent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794000"/>
          <a:ext cx="14732000" cy="4191000"/>
        </p:xfrm>
        <a:graphic>
          <a:graphicData uri="http://schemas.openxmlformats.org/drawingml/2006/table">
            <a:tbl>
              <a:tblPr/>
              <a:tblGrid>
                <a:gridCol w="2062480"/>
                <a:gridCol w="2062480"/>
                <a:gridCol w="2062480"/>
                <a:gridCol w="2946400"/>
                <a:gridCol w="2946400"/>
                <a:gridCol w="265176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Orbital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Radial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Angular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91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7366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Check: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Radial + Angular should always equal n − 1. Verify: 3p → 1 + 1 = 2 = 3 − 1 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| QUANTUM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Radial Probability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14732000" cy="762000"/>
          </a:xfrm>
          <a:prstGeom prst="rect">
            <a:avLst/>
          </a:prstGeom>
          <a:solidFill>
            <a:srgbClr val="E8ED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1714500"/>
                <a:ext cx="14224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Probability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dirty="0">
                          <a:solidFill>
                            <a:srgbClr val="C4915C"/>
                          </a:solidFill>
                        </a:rPr>
                        <m:t>4</m:t>
                      </m:r>
                      <m:r>
                        <a:rPr lang="en-US" sz="2400" i="1" dirty="0">
                          <a:solidFill>
                            <a:srgbClr val="C4915C"/>
                          </a:solidFill>
                        </a:rPr>
                        <m:t>π</m:t>
                      </m:r>
                      <m:sSup>
                        <m:sSupPr>
                          <m:ctrlPr>
                            <a:rPr lang="en-US" sz="1700" dirty="0">
                              <a:solidFill>
                                <a:srgbClr val="C4915C"/>
                              </a:solidFill>
                            </a:rPr>
                          </m:ctrlPr>
                        </m:sSupPr>
                        <m:e>
                          <m:r>
                            <a:rPr lang="en-US" sz="1700" i="1" dirty="0">
                              <a:solidFill>
                                <a:srgbClr val="C4915C"/>
                              </a:solidFill>
                            </a:rPr>
                            <m:t>r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C4915C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lang="en-US" sz="2400" dirty="0">
                          <a:solidFill>
                            <a:srgbClr val="C4915C"/>
                          </a:solidFill>
                        </a:rPr>
                        <m:t>∣</m:t>
                      </m:r>
                      <m:r>
                        <a:rPr lang="en-US" sz="2400" i="1" dirty="0">
                          <a:solidFill>
                            <a:srgbClr val="C4915C"/>
                          </a:solidFill>
                        </a:rPr>
                        <m:t>R</m:t>
                      </m:r>
                      <m:r>
                        <a:rPr lang="en-US" sz="2400" dirty="0">
                          <a:solidFill>
                            <a:srgbClr val="C4915C"/>
                          </a:solidFill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C4915C"/>
                          </a:solidFill>
                        </a:rPr>
                        <m:t>r</m:t>
                      </m:r>
                      <m:r>
                        <a:rPr lang="en-US" sz="2400" dirty="0">
                          <a:solidFill>
                            <a:srgbClr val="C4915C"/>
                          </a:solidFill>
                        </a:rPr>
                        <m:t>)</m:t>
                      </m:r>
                      <m:sSup>
                        <m:sSupPr>
                          <m:ctrlPr>
                            <a:rPr lang="en-US" sz="1700" dirty="0">
                              <a:solidFill>
                                <a:srgbClr val="C4915C"/>
                              </a:solidFill>
                            </a:rPr>
                          </m:ctrlPr>
                        </m:sSupPr>
                        <m:e>
                          <m:r>
                            <a:rPr lang="en-US" sz="1700" dirty="0">
                              <a:solidFill>
                                <a:srgbClr val="C4915C"/>
                              </a:solidFill>
                            </a:rPr>
                            <m:t>∣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C4915C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probability at distance </a:t>
                </a:r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from nucleus</a:t>
                </a:r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1714500"/>
                <a:ext cx="14224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Radial Probability = </a:t>
                </a:r>
                <a:pPr algn="ctr">
                  <a:lnSpc>
                    <a:spcPct val="100000"/>
                  </a:lnSpc>
                </a:pPr>
                <a:r>
                  <a:rPr lang="en-US" sz="2400" dirty="0">
                    <a:solidFill>
                      <a:srgbClr val="C491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( 4\pi r^2 |R(r)|^2 )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probability at distance </a:t>
                </a:r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1B2A4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from nucleus</a:t>
                </a:r>
                <a:endParaRPr lang="en-US" sz="16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62000" y="27305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radial probability distribution shows the probability of finding the electron at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specific distance r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the nucleus, regardless of direction.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features: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maximum at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C491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 = a₀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(Bohr radius ≈ 52.9 pm)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radial node creates a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separate peak</a:t>
            </a:r>
            <a:endParaRPr lang="en-US" sz="2000" dirty="0"/>
          </a:p>
          <a:p>
            <a:pPr marL="317500" indent="-3175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Higher n → more peaks, farther from nucleus</a:t>
            </a:r>
            <a:endParaRPr lang="en-US" sz="2000" dirty="0"/>
          </a:p>
        </p:txBody>
      </p:sp>
      <p:pic>
        <p:nvPicPr>
          <p:cNvPr id="8" name="Image 0" descr="https://kimi-img.moonshot.cn/pub/slides/okc/aevouy37idz74/mnt/agents/output/4a_quantum_numbers/images/4_The_Hydrogen_Atom_The_Probability.png">    </p:cNvPr>
          <p:cNvPicPr>
            <a:picLocks noChangeAspect="1"/>
          </p:cNvPicPr>
          <p:nvPr/>
        </p:nvPicPr>
        <p:blipFill>
          <a:blip r:embed="rId1"/>
          <a:srcRect l="-25113" r="-25113" t="0" b="0"/>
          <a:stretch/>
        </p:blipFill>
        <p:spPr>
          <a:xfrm>
            <a:off x="8128000" y="2667000"/>
            <a:ext cx="7366000" cy="3683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8000" y="64135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Radial probability distribution for 1s orbital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2000" y="6858000"/>
            <a:ext cx="6858000" cy="1016000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6985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probable distance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increases with n, but the electron can be found at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distance.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4A — LECTURE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1079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1879600"/>
            <a:ext cx="1016000" cy="38100"/>
          </a:xfrm>
          <a:prstGeom prst="rect">
            <a:avLst/>
          </a:prstGeom>
          <a:solidFill>
            <a:srgbClr val="C4915C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286000"/>
            <a:ext cx="685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06500" y="2413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413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quantum numbers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(n, l, m</a:t>
            </a:r>
            <a:pPr>
              <a:lnSpc>
                <a:spcPct val="150000"/>
              </a:lnSpc>
            </a:pPr>
            <a:r>
              <a:rPr lang="en-US" sz="1800" b="1" baseline="-40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</a:t>
            </a:r>
            <a:pPr>
              <a:lnSpc>
                <a:spcPct val="150000"/>
              </a:lnSpc>
            </a:pPr>
            <a:r>
              <a:rPr lang="en-US" sz="1800" b="1" baseline="-40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completely describe every electron in an atom.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3810000"/>
            <a:ext cx="685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06500" y="3937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05000" y="3937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size/energy,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shape,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50000"/>
              </a:lnSpc>
            </a:pPr>
            <a:r>
              <a:rPr lang="en-US" sz="1800" b="1" baseline="-40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orientation,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50000"/>
              </a:lnSpc>
            </a:pPr>
            <a:r>
              <a:rPr lang="en-US" sz="1800" b="1" baseline="-40000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spin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5334000"/>
            <a:ext cx="685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06500" y="5461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5461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orbitals are spherical,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dumbbell,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cloverleaf.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2286000"/>
            <a:ext cx="685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0" y="2413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2413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nodes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− 1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Radial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− l − 1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Angular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810000"/>
            <a:ext cx="685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3937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491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1000" y="3937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orbital holds max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91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electrons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opposite spins (Pauli exclusion).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5588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Next: 4B — Electron Configuration &amp; Exceptions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8128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3137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Chemistry · Quantum Numbers &amp; Atomic Orbitals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4A — Quantum Numbers &amp; Atomic Orbitals</dc:title>
  <dc:subject>4A — Quantum Numbers &amp; Atomic Orbitals</dc:subject>
  <dc:creator>Kimi</dc:creator>
  <cp:lastModifiedBy>Kimi</cp:lastModifiedBy>
  <cp:revision>1</cp:revision>
  <dcterms:created xsi:type="dcterms:W3CDTF">2026-05-17T11:43:18Z</dcterms:created>
  <dcterms:modified xsi:type="dcterms:W3CDTF">2026-05-17T11:43:18Z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{"Label":"4A — Quantum Numbers &amp; Atomic Orbitals","ContentProducer":"001191110108MACG2KBH8F10000","ProduceID":"19e35bcb-4bc2-8ca5-8000-0000fc9d82cb","ReservedCode1":"","ContentPropagator":"001191110108MACG2KBH8F20000","PropagateID":"19e35bcb-4bc2-8ca5-8000-0000fc9d82cb","ReservedCode2":""}</vt:lpwstr>
  </property>
</Properties>
</file>
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72" r:id="rId11"/>
    <p:sldId id="273" r:id="rId12"/>
    <p:sldId id="266" r:id="rId13"/>
    <p:sldId id="267" r:id="rId14"/>
    <p:sldId id="268" r:id="rId15"/>
    <p:sldId id="270" r:id="rId16"/>
    <p:sldId id="269" r:id="rId17"/>
    <p:sldId id="271" r:id="rId18"/>
    <p:sldId id="274" r:id="rId19"/>
    <p:sldId id="26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921"/>
    <p:restoredTop sz="94712"/>
  </p:normalViewPr>
  <p:slideViewPr>
    <p:cSldViewPr snapToGrid="0">
      <p:cViewPr varScale="1">
        <p:scale>
          <a:sx n="82" d="100"/>
          <a:sy n="82" d="100"/>
        </p:scale>
        <p:origin x="48" y="75"/>
      </p:cViewPr>
      <p:guideLst/>
    </p:cSldViewPr>
  </p:slideViewPr>
  <p:outlineViewPr>
    <p:cViewPr>
      <p:scale>
        <a:sx n="33" d="100"/>
        <a:sy n="33" d="100"/>
      </p:scale>
      <p:origin x="0" y="-112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AE055E-72AA-404A-94DE-9734081A3EA9}" type="datetimeFigureOut">
              <a:rPr lang="en-CN" smtClean="0"/>
              <a:t>10/07/2026</a:t>
            </a:fld>
            <a:endParaRPr lang="en-C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479565-1E53-5D40-8FFF-940A4CC634B8}" type="slidenum">
              <a:rPr lang="en-CN" smtClean="0"/>
              <a:t>‹#›</a:t>
            </a:fld>
            <a:endParaRPr lang="en-CN"/>
          </a:p>
        </p:txBody>
      </p:sp>
    </p:spTree>
    <p:extLst>
      <p:ext uri="{BB962C8B-B14F-4D97-AF65-F5344CB8AC3E}">
        <p14:creationId xmlns:p14="http://schemas.microsoft.com/office/powerpoint/2010/main" val="4228163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a:t>```</a:t>
            </a:r>
          </a:p>
        </p:txBody>
      </p:sp>
      <p:sp>
        <p:nvSpPr>
          <p:cNvPr id="4" name="Slide Number Placeholder 3"/>
          <p:cNvSpPr>
            <a:spLocks noGrp="1"/>
          </p:cNvSpPr>
          <p:nvPr>
            <p:ph type="sldNum" sz="quarter" idx="5"/>
          </p:nvPr>
        </p:nvSpPr>
        <p:spPr/>
        <p:txBody>
          <a:bodyPr/>
          <a:lstStyle/>
          <a:p>
            <a:fld id="{40479565-1E53-5D40-8FFF-940A4CC634B8}" type="slidenum">
              <a:rPr lang="en-CN" smtClean="0"/>
              <a:t>2</a:t>
            </a:fld>
            <a:endParaRPr lang="en-CN"/>
          </a:p>
        </p:txBody>
      </p:sp>
    </p:spTree>
    <p:extLst>
      <p:ext uri="{BB962C8B-B14F-4D97-AF65-F5344CB8AC3E}">
        <p14:creationId xmlns:p14="http://schemas.microsoft.com/office/powerpoint/2010/main" val="20489599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They are all wrong @hudson</a:t>
            </a:r>
          </a:p>
        </p:txBody>
      </p:sp>
      <p:sp>
        <p:nvSpPr>
          <p:cNvPr id="4" name="Slide Number Placeholder 3"/>
          <p:cNvSpPr>
            <a:spLocks noGrp="1"/>
          </p:cNvSpPr>
          <p:nvPr>
            <p:ph type="sldNum" sz="quarter" idx="5"/>
          </p:nvPr>
        </p:nvSpPr>
        <p:spPr/>
        <p:txBody>
          <a:bodyPr/>
          <a:lstStyle/>
          <a:p>
            <a:fld id="{40479565-1E53-5D40-8FFF-940A4CC634B8}" type="slidenum">
              <a:rPr lang="en-CN" smtClean="0"/>
              <a:t>4</a:t>
            </a:fld>
            <a:endParaRPr lang="en-CN"/>
          </a:p>
        </p:txBody>
      </p:sp>
    </p:spTree>
    <p:extLst>
      <p:ext uri="{BB962C8B-B14F-4D97-AF65-F5344CB8AC3E}">
        <p14:creationId xmlns:p14="http://schemas.microsoft.com/office/powerpoint/2010/main" val="16761482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a:p>
        </p:txBody>
      </p:sp>
      <p:sp>
        <p:nvSpPr>
          <p:cNvPr id="4" name="Slide Number Placeholder 3"/>
          <p:cNvSpPr>
            <a:spLocks noGrp="1"/>
          </p:cNvSpPr>
          <p:nvPr>
            <p:ph type="sldNum" sz="quarter" idx="5"/>
          </p:nvPr>
        </p:nvSpPr>
        <p:spPr/>
        <p:txBody>
          <a:bodyPr/>
          <a:lstStyle/>
          <a:p>
            <a:fld id="{40479565-1E53-5D40-8FFF-940A4CC634B8}" type="slidenum">
              <a:rPr lang="en-CN" smtClean="0"/>
              <a:t>5</a:t>
            </a:fld>
            <a:endParaRPr lang="en-CN"/>
          </a:p>
        </p:txBody>
      </p:sp>
    </p:spTree>
    <p:extLst>
      <p:ext uri="{BB962C8B-B14F-4D97-AF65-F5344CB8AC3E}">
        <p14:creationId xmlns:p14="http://schemas.microsoft.com/office/powerpoint/2010/main" val="34397310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40479565-1E53-5D40-8FFF-940A4CC634B8}" type="slidenum">
              <a:rPr lang="en-CN" smtClean="0"/>
              <a:t>10</a:t>
            </a:fld>
            <a:endParaRPr lang="en-CN"/>
          </a:p>
        </p:txBody>
      </p:sp>
    </p:spTree>
    <p:extLst>
      <p:ext uri="{BB962C8B-B14F-4D97-AF65-F5344CB8AC3E}">
        <p14:creationId xmlns:p14="http://schemas.microsoft.com/office/powerpoint/2010/main" val="13182264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82880" y="5176159"/>
            <a:ext cx="11640312" cy="845493"/>
          </a:xfrm>
        </p:spPr>
        <p:txBody>
          <a:bodyPr vert="horz" lIns="91440" tIns="45720" rIns="91440" bIns="45720" rtlCol="0" anchor="b">
            <a:normAutofit/>
          </a:bodyPr>
          <a:lstStyle>
            <a:lvl1pPr>
              <a:defRPr lang="en-US" sz="44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10313" y="5980176"/>
            <a:ext cx="11612880" cy="530352"/>
          </a:xfrm>
        </p:spPr>
        <p:txBody>
          <a:bodyPr vert="horz" lIns="91440" tIns="45720" rIns="91440" bIns="45720" rtlCol="0">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10" name="Picture Placeholder 9">
            <a:extLst>
              <a:ext uri="{FF2B5EF4-FFF2-40B4-BE49-F238E27FC236}">
                <a16:creationId xmlns:a16="http://schemas.microsoft.com/office/drawing/2014/main" id="{150AF6FA-7D1D-1351-A76E-43C54D28FD68}"/>
              </a:ext>
            </a:extLst>
          </p:cNvPr>
          <p:cNvSpPr>
            <a:spLocks noGrp="1"/>
          </p:cNvSpPr>
          <p:nvPr>
            <p:ph type="pic" sz="quarter" idx="13" hasCustomPrompt="1"/>
          </p:nvPr>
        </p:nvSpPr>
        <p:spPr>
          <a:xfrm>
            <a:off x="274220" y="266700"/>
            <a:ext cx="11649456" cy="4853814"/>
          </a:xfrm>
          <a:custGeom>
            <a:avLst/>
            <a:gdLst>
              <a:gd name="connsiteX0" fmla="*/ 291520 w 11651080"/>
              <a:gd name="connsiteY0" fmla="*/ 0 h 4853814"/>
              <a:gd name="connsiteX1" fmla="*/ 11359560 w 11651080"/>
              <a:gd name="connsiteY1" fmla="*/ 0 h 4853814"/>
              <a:gd name="connsiteX2" fmla="*/ 11651080 w 11651080"/>
              <a:gd name="connsiteY2" fmla="*/ 291520 h 4853814"/>
              <a:gd name="connsiteX3" fmla="*/ 11651080 w 11651080"/>
              <a:gd name="connsiteY3" fmla="*/ 4562294 h 4853814"/>
              <a:gd name="connsiteX4" fmla="*/ 11359560 w 11651080"/>
              <a:gd name="connsiteY4" fmla="*/ 4853814 h 4853814"/>
              <a:gd name="connsiteX5" fmla="*/ 291520 w 11651080"/>
              <a:gd name="connsiteY5" fmla="*/ 4853814 h 4853814"/>
              <a:gd name="connsiteX6" fmla="*/ 0 w 11651080"/>
              <a:gd name="connsiteY6" fmla="*/ 4562294 h 4853814"/>
              <a:gd name="connsiteX7" fmla="*/ 0 w 11651080"/>
              <a:gd name="connsiteY7" fmla="*/ 291520 h 4853814"/>
              <a:gd name="connsiteX8" fmla="*/ 291520 w 11651080"/>
              <a:gd name="connsiteY8" fmla="*/ 0 h 4853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4853814">
                <a:moveTo>
                  <a:pt x="291520" y="0"/>
                </a:moveTo>
                <a:lnTo>
                  <a:pt x="11359560" y="0"/>
                </a:lnTo>
                <a:cubicBezTo>
                  <a:pt x="11520562" y="0"/>
                  <a:pt x="11651080" y="130518"/>
                  <a:pt x="11651080" y="291520"/>
                </a:cubicBezTo>
                <a:lnTo>
                  <a:pt x="11651080" y="4562294"/>
                </a:lnTo>
                <a:cubicBezTo>
                  <a:pt x="11651080" y="4723296"/>
                  <a:pt x="11520562" y="4853814"/>
                  <a:pt x="11359560" y="4853814"/>
                </a:cubicBezTo>
                <a:lnTo>
                  <a:pt x="291520" y="4853814"/>
                </a:lnTo>
                <a:cubicBezTo>
                  <a:pt x="130518" y="4853814"/>
                  <a:pt x="0" y="4723296"/>
                  <a:pt x="0" y="4562294"/>
                </a:cubicBezTo>
                <a:lnTo>
                  <a:pt x="0" y="291520"/>
                </a:lnTo>
                <a:cubicBezTo>
                  <a:pt x="0" y="130518"/>
                  <a:pt x="130518" y="0"/>
                  <a:pt x="291520" y="0"/>
                </a:cubicBezTo>
                <a:close/>
              </a:path>
            </a:pathLst>
          </a:custGeo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82880" y="6391657"/>
            <a:ext cx="2805405" cy="330466"/>
          </a:xfrm>
        </p:spPr>
        <p:txBody>
          <a:bodyPr/>
          <a:lstStyle>
            <a:lvl1pPr>
              <a:defRPr>
                <a:solidFill>
                  <a:schemeClr val="tx2"/>
                </a:solidFill>
                <a:effectLst/>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137848" y="6391657"/>
            <a:ext cx="3494314" cy="330466"/>
          </a:xfrm>
        </p:spPr>
        <p:txBody>
          <a:bodyPr/>
          <a:lstStyle>
            <a:lvl1pPr algn="r">
              <a:defRPr>
                <a:solidFill>
                  <a:schemeClr val="tx2"/>
                </a:solidFill>
                <a:effectLst/>
              </a:defRPr>
            </a:lvl1pPr>
          </a:lstStyle>
          <a:p>
            <a:fld id="{9961397C-706D-4EB8-B1E1-D1B680D284C3}" type="datetime1">
              <a:rPr lang="en-US" smtClean="0"/>
              <a:t>10/7/2026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391657"/>
            <a:ext cx="429207" cy="330466"/>
          </a:xfrm>
        </p:spPr>
        <p:txBody>
          <a:bodyPr/>
          <a:lstStyle>
            <a:lvl1pPr>
              <a:defRPr>
                <a:solidFill>
                  <a:schemeClr val="tx2"/>
                </a:solidFill>
                <a:effectLst/>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29991426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01B6F81-747A-40C6-B81B-62F051B20082}" type="datetime1">
              <a:rPr lang="en-US" smtClean="0"/>
              <a:t>10/7/2026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858086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660262" y="208754"/>
            <a:ext cx="4066072" cy="3725937"/>
          </a:xfrm>
        </p:spPr>
        <p:txBody>
          <a:bodyPr vert="horz" lIns="91440" tIns="45720" rIns="91440" bIns="45720" rtlCol="0" anchor="t">
            <a:normAutofit/>
          </a:bodyPr>
          <a:lstStyle>
            <a:lvl1pPr>
              <a:defRPr lang="en-US" sz="50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68729" y="4846320"/>
            <a:ext cx="4066072" cy="1380744"/>
          </a:xfrm>
        </p:spPr>
        <p:txBody>
          <a:bodyPr vert="horz" lIns="91440" tIns="45720" rIns="91440" bIns="45720" rtlCol="0" anchor="b">
            <a:normAutofit/>
          </a:bodyPr>
          <a:lstStyle>
            <a:lvl1pPr marL="0" indent="0">
              <a:buNone/>
              <a:defRPr lang="en-US" sz="1600">
                <a:solidFill>
                  <a:schemeClr val="tx2"/>
                </a:solidFill>
              </a:defRPr>
            </a:lvl1pPr>
          </a:lstStyle>
          <a:p>
            <a:pPr lvl="0"/>
            <a:r>
              <a:rPr lang="en-US"/>
              <a:t>Click to edit Master subtitle style</a:t>
            </a:r>
            <a:endParaRPr lang="en-US" dirty="0"/>
          </a:p>
        </p:txBody>
      </p:sp>
      <p:sp>
        <p:nvSpPr>
          <p:cNvPr id="12" name="Picture Placeholder 11">
            <a:extLst>
              <a:ext uri="{FF2B5EF4-FFF2-40B4-BE49-F238E27FC236}">
                <a16:creationId xmlns:a16="http://schemas.microsoft.com/office/drawing/2014/main" id="{7A934108-77F2-43A6-38EF-C1CDEDD103C2}"/>
              </a:ext>
            </a:extLst>
          </p:cNvPr>
          <p:cNvSpPr>
            <a:spLocks noGrp="1"/>
          </p:cNvSpPr>
          <p:nvPr>
            <p:ph type="pic" sz="quarter" idx="13" hasCustomPrompt="1"/>
          </p:nvPr>
        </p:nvSpPr>
        <p:spPr>
          <a:xfrm>
            <a:off x="274320" y="266699"/>
            <a:ext cx="7238998" cy="6322891"/>
          </a:xfrm>
          <a:custGeom>
            <a:avLst/>
            <a:gdLst>
              <a:gd name="connsiteX0" fmla="*/ 291359 w 7238998"/>
              <a:gd name="connsiteY0" fmla="*/ 0 h 6322891"/>
              <a:gd name="connsiteX1" fmla="*/ 6947639 w 7238998"/>
              <a:gd name="connsiteY1" fmla="*/ 0 h 6322891"/>
              <a:gd name="connsiteX2" fmla="*/ 7238998 w 7238998"/>
              <a:gd name="connsiteY2" fmla="*/ 291359 h 6322891"/>
              <a:gd name="connsiteX3" fmla="*/ 7238998 w 7238998"/>
              <a:gd name="connsiteY3" fmla="*/ 6031532 h 6322891"/>
              <a:gd name="connsiteX4" fmla="*/ 6947639 w 7238998"/>
              <a:gd name="connsiteY4" fmla="*/ 6322891 h 6322891"/>
              <a:gd name="connsiteX5" fmla="*/ 291359 w 7238998"/>
              <a:gd name="connsiteY5" fmla="*/ 6322891 h 6322891"/>
              <a:gd name="connsiteX6" fmla="*/ 0 w 7238998"/>
              <a:gd name="connsiteY6" fmla="*/ 6031532 h 6322891"/>
              <a:gd name="connsiteX7" fmla="*/ 0 w 7238998"/>
              <a:gd name="connsiteY7" fmla="*/ 291359 h 6322891"/>
              <a:gd name="connsiteX8" fmla="*/ 291359 w 7238998"/>
              <a:gd name="connsiteY8" fmla="*/ 0 h 6322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38998" h="6322891">
                <a:moveTo>
                  <a:pt x="291359" y="0"/>
                </a:moveTo>
                <a:lnTo>
                  <a:pt x="6947639" y="0"/>
                </a:lnTo>
                <a:cubicBezTo>
                  <a:pt x="7108552" y="0"/>
                  <a:pt x="7238998" y="130446"/>
                  <a:pt x="7238998" y="291359"/>
                </a:cubicBezTo>
                <a:lnTo>
                  <a:pt x="7238998" y="6031532"/>
                </a:lnTo>
                <a:cubicBezTo>
                  <a:pt x="7238998" y="6192445"/>
                  <a:pt x="7108552" y="6322891"/>
                  <a:pt x="6947639" y="6322891"/>
                </a:cubicBezTo>
                <a:lnTo>
                  <a:pt x="291359" y="6322891"/>
                </a:lnTo>
                <a:cubicBezTo>
                  <a:pt x="130446" y="6322891"/>
                  <a:pt x="0" y="6192445"/>
                  <a:pt x="0" y="6031532"/>
                </a:cubicBezTo>
                <a:lnTo>
                  <a:pt x="0" y="291359"/>
                </a:lnTo>
                <a:cubicBezTo>
                  <a:pt x="0" y="130446"/>
                  <a:pt x="130446" y="0"/>
                  <a:pt x="291359" y="0"/>
                </a:cubicBezTo>
                <a:close/>
              </a:path>
            </a:pathLst>
          </a:custGeo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666481" y="6391656"/>
            <a:ext cx="2703777"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477500" y="6391656"/>
            <a:ext cx="1032084" cy="338328"/>
          </a:xfrm>
        </p:spPr>
        <p:txBody>
          <a:bodyPr/>
          <a:lstStyle>
            <a:lvl1pPr>
              <a:defRPr>
                <a:solidFill>
                  <a:schemeClr val="tx2"/>
                </a:solidFill>
                <a:effectLst/>
              </a:defRPr>
            </a:lvl1pPr>
          </a:lstStyle>
          <a:p>
            <a:fld id="{DB19E114-DE0F-4D79-972B-16F4D1534B50}" type="datetime1">
              <a:rPr lang="en-US" smtClean="0"/>
              <a:t>10/7/2026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09584" y="6388837"/>
            <a:ext cx="457200" cy="338328"/>
          </a:xfrm>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3685074830"/>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018598" y="1529542"/>
            <a:ext cx="8154804" cy="2323883"/>
          </a:xfrm>
        </p:spPr>
        <p:txBody>
          <a:bodyPr anchor="b">
            <a:normAutofit/>
          </a:bodyPr>
          <a:lstStyle>
            <a:lvl1pPr algn="ctr">
              <a:defRPr sz="54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110715" y="4053504"/>
            <a:ext cx="5970570" cy="1072678"/>
          </a:xfrm>
        </p:spPr>
        <p:txBody>
          <a:bodyPr anchor="t">
            <a:normAutofit/>
          </a:bodyPr>
          <a:lstStyle>
            <a:lvl1pPr marL="0" indent="0" algn="ctr">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454ACAC3-7932-4379-B917-F7F78C6F24BE}" type="datetime1">
              <a:rPr lang="en-US" smtClean="0"/>
              <a:t>10/7/2026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1107397976"/>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157729" y="3200400"/>
            <a:ext cx="9002895" cy="3582184"/>
          </a:xfrm>
        </p:spPr>
        <p:txBody>
          <a:bodyPr anchor="b">
            <a:normAutofit/>
          </a:bodyPr>
          <a:lstStyle>
            <a:lvl1pPr>
              <a:defRPr sz="6900">
                <a:solidFill>
                  <a:schemeClr val="tx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178704" y="141216"/>
            <a:ext cx="2703777"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10477500" y="141216"/>
            <a:ext cx="1032084" cy="338328"/>
          </a:xfrm>
        </p:spPr>
        <p:txBody>
          <a:bodyPr/>
          <a:lstStyle>
            <a:lvl1pPr>
              <a:defRPr>
                <a:solidFill>
                  <a:schemeClr val="tx2"/>
                </a:solidFill>
              </a:defRPr>
            </a:lvl1pPr>
          </a:lstStyle>
          <a:p>
            <a:fld id="{CBB9144B-27A2-4831-A05B-9434A462331E}" type="datetime1">
              <a:rPr lang="en-US" smtClean="0"/>
              <a:t>10/7/2026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509584" y="141216"/>
            <a:ext cx="457200" cy="338328"/>
          </a:xfrm>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2518340219"/>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33815" y="189689"/>
            <a:ext cx="11341905" cy="1629485"/>
          </a:xfrm>
        </p:spPr>
        <p:txBody>
          <a:bodyPr anchor="t">
            <a:normAutofit/>
          </a:bodyPr>
          <a:lstStyle>
            <a:lvl1pPr>
              <a:defRPr sz="7600" baseline="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2362200"/>
            <a:ext cx="5829300" cy="3810000"/>
          </a:xfrm>
        </p:spPr>
        <p:txBody>
          <a:bodyPr vert="horz" lIns="91440" tIns="45720" rIns="91440" bIns="45720" rtlCol="0" anchor="b">
            <a:normAutofit/>
          </a:bodyPr>
          <a:lstStyle>
            <a:lvl1pPr marL="457200" indent="-457200">
              <a:buFont typeface="+mj-lt"/>
              <a:buAutoNum type="arabicPeriod"/>
              <a:defRPr lang="en-US" sz="1600" dirty="0"/>
            </a:lvl1pPr>
            <a:lvl2pPr marL="571500" indent="-342900">
              <a:buFont typeface="+mj-lt"/>
              <a:buAutoNum type="arabicPeriod"/>
              <a:defRPr lang="en-US" sz="1600" dirty="0"/>
            </a:lvl2pPr>
            <a:lvl3pPr marL="800100" indent="-342900">
              <a:buFont typeface="+mj-lt"/>
              <a:buAutoNum type="arabicPeriod"/>
              <a:defRPr lang="en-US" sz="1600" dirty="0"/>
            </a:lvl3pPr>
            <a:lvl4pPr>
              <a:buFont typeface="+mj-lt"/>
              <a:buAutoNum type="arabicPeriod"/>
              <a:defRPr lang="en-US" sz="1600" dirty="0"/>
            </a:lvl4pPr>
            <a:lvl5pPr>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F5895950-DBB3-436C-A1DD-7D3C30A336E3}" type="datetime1">
              <a:rPr lang="en-US" smtClean="0"/>
              <a:t>10/7/2026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354370883"/>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0" y="4061862"/>
            <a:ext cx="5913120" cy="2268359"/>
          </a:xfrm>
        </p:spPr>
        <p:txBody>
          <a:bodyPr anchor="t">
            <a:normAutofit/>
          </a:bodyPr>
          <a:lstStyle>
            <a:lvl1pPr>
              <a:defRPr sz="5800"/>
            </a:lvl1pPr>
          </a:lstStyle>
          <a:p>
            <a:r>
              <a:rPr lang="en-US"/>
              <a:t>Click to edit Master title style</a:t>
            </a:r>
            <a:endParaRPr lang="en-US" dirty="0"/>
          </a:p>
        </p:txBody>
      </p:sp>
      <p:sp>
        <p:nvSpPr>
          <p:cNvPr id="16" name="Picture Placeholder 15">
            <a:extLst>
              <a:ext uri="{FF2B5EF4-FFF2-40B4-BE49-F238E27FC236}">
                <a16:creationId xmlns:a16="http://schemas.microsoft.com/office/drawing/2014/main" id="{F88BC23C-4171-DFCF-3175-10D2602FF561}"/>
              </a:ext>
            </a:extLst>
          </p:cNvPr>
          <p:cNvSpPr>
            <a:spLocks noGrp="1"/>
          </p:cNvSpPr>
          <p:nvPr>
            <p:ph type="pic" sz="quarter" idx="14" hasCustomPrompt="1"/>
          </p:nvPr>
        </p:nvSpPr>
        <p:spPr>
          <a:xfrm>
            <a:off x="274320" y="268508"/>
            <a:ext cx="11649456" cy="3609085"/>
          </a:xfrm>
          <a:custGeom>
            <a:avLst/>
            <a:gdLst>
              <a:gd name="connsiteX0" fmla="*/ 283385 w 11658600"/>
              <a:gd name="connsiteY0" fmla="*/ 0 h 3609085"/>
              <a:gd name="connsiteX1" fmla="*/ 11375215 w 11658600"/>
              <a:gd name="connsiteY1" fmla="*/ 0 h 3609085"/>
              <a:gd name="connsiteX2" fmla="*/ 11658600 w 11658600"/>
              <a:gd name="connsiteY2" fmla="*/ 283385 h 3609085"/>
              <a:gd name="connsiteX3" fmla="*/ 11658600 w 11658600"/>
              <a:gd name="connsiteY3" fmla="*/ 3325700 h 3609085"/>
              <a:gd name="connsiteX4" fmla="*/ 11375215 w 11658600"/>
              <a:gd name="connsiteY4" fmla="*/ 3609085 h 3609085"/>
              <a:gd name="connsiteX5" fmla="*/ 283385 w 11658600"/>
              <a:gd name="connsiteY5" fmla="*/ 3609085 h 3609085"/>
              <a:gd name="connsiteX6" fmla="*/ 0 w 11658600"/>
              <a:gd name="connsiteY6" fmla="*/ 3325700 h 3609085"/>
              <a:gd name="connsiteX7" fmla="*/ 0 w 11658600"/>
              <a:gd name="connsiteY7" fmla="*/ 283385 h 3609085"/>
              <a:gd name="connsiteX8" fmla="*/ 283385 w 11658600"/>
              <a:gd name="connsiteY8" fmla="*/ 0 h 3609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8600" h="3609085">
                <a:moveTo>
                  <a:pt x="283385" y="0"/>
                </a:moveTo>
                <a:lnTo>
                  <a:pt x="11375215" y="0"/>
                </a:lnTo>
                <a:cubicBezTo>
                  <a:pt x="11531724" y="0"/>
                  <a:pt x="11658600" y="126876"/>
                  <a:pt x="11658600" y="283385"/>
                </a:cubicBezTo>
                <a:lnTo>
                  <a:pt x="11658600" y="3325700"/>
                </a:lnTo>
                <a:cubicBezTo>
                  <a:pt x="11658600" y="3482209"/>
                  <a:pt x="11531724" y="3609085"/>
                  <a:pt x="11375215" y="3609085"/>
                </a:cubicBezTo>
                <a:lnTo>
                  <a:pt x="283385" y="3609085"/>
                </a:lnTo>
                <a:cubicBezTo>
                  <a:pt x="126876" y="3609085"/>
                  <a:pt x="0" y="3482209"/>
                  <a:pt x="0" y="3325700"/>
                </a:cubicBezTo>
                <a:lnTo>
                  <a:pt x="0" y="283385"/>
                </a:lnTo>
                <a:cubicBezTo>
                  <a:pt x="0" y="126876"/>
                  <a:pt x="126876" y="0"/>
                  <a:pt x="283385" y="0"/>
                </a:cubicBezTo>
                <a:close/>
              </a:path>
            </a:pathLst>
          </a:custGeom>
          <a:blipFill>
            <a:blip r:embed="rId2">
              <a:alphaModFix amt="60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515973" y="4039118"/>
            <a:ext cx="4419601" cy="2268360"/>
          </a:xfrm>
        </p:spPr>
        <p:txBody>
          <a:bodyPr vert="horz" lIns="91440" tIns="45720" rIns="91440" bIns="45720" rtlCol="0">
            <a:normAutofit/>
          </a:bodyPr>
          <a:lstStyle>
            <a:lvl1pPr marL="342900" indent="-342900">
              <a:buFont typeface="+mj-lt"/>
              <a:buAutoNum type="arabicPeriod"/>
              <a:defRPr lang="en-US" sz="1400" dirty="0"/>
            </a:lvl1pPr>
            <a:lvl2pPr marL="571500" indent="-342900">
              <a:buFont typeface="+mj-lt"/>
              <a:buAutoNum type="arabicPeriod"/>
              <a:defRPr lang="en-US" sz="1400" dirty="0"/>
            </a:lvl2pPr>
            <a:lvl3pPr marL="800100" indent="-342900">
              <a:buFont typeface="+mj-lt"/>
              <a:buAutoNum type="arabicPeriod"/>
              <a:defRPr lang="en-US" sz="1400" dirty="0"/>
            </a:lvl3pPr>
            <a:lvl4pPr>
              <a:buFont typeface="+mj-lt"/>
              <a:buAutoNum type="arabicPeriod"/>
              <a:defRPr lang="en-US" sz="1400" dirty="0"/>
            </a:lvl4pPr>
            <a:lvl5pPr>
              <a:buFont typeface="+mj-lt"/>
              <a:buAutoNum type="arabicPeriod"/>
              <a:defRPr lang="en-US" sz="1400" dirty="0"/>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82880" y="6387737"/>
            <a:ext cx="2703777" cy="338328"/>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15ECDF8E-0DD2-43D3-8D07-9F3C411EACC9}" type="datetime1">
              <a:rPr lang="en-US" smtClean="0"/>
              <a:t>10/7/2026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297302780"/>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25131" y="1638299"/>
            <a:ext cx="3314700" cy="3873268"/>
          </a:xfrm>
        </p:spPr>
        <p:txBody>
          <a:bodyPr anchor="t">
            <a:normAutofit/>
          </a:bodyPr>
          <a:lstStyle>
            <a:lvl1pPr>
              <a:defRPr sz="3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901019" y="1638299"/>
            <a:ext cx="6080760" cy="3873267"/>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DEB97BB-FABD-465F-A92A-114DD4401A7A}" type="datetime1">
              <a:rPr lang="en-US" smtClean="0"/>
              <a:t>10/7/2026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2969949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2880" y="219456"/>
            <a:ext cx="3310394" cy="4058127"/>
          </a:xfrm>
        </p:spPr>
        <p:txBody>
          <a:bodyPr anchor="t">
            <a:normAutofit/>
          </a:bodyPr>
          <a:lstStyle>
            <a:lvl1pPr>
              <a:defRPr sz="3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972674" y="266700"/>
            <a:ext cx="7688495" cy="604783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42A6678-B47B-4355-B5D6-D7B9669114D3}" type="datetime1">
              <a:rPr lang="en-US" smtClean="0"/>
              <a:t>10/7/2026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138627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19525" y="219456"/>
            <a:ext cx="6376547" cy="1066006"/>
          </a:xfrm>
        </p:spPr>
        <p:txBody>
          <a:bodyPr anchor="t"/>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AC455FC9-9346-2F53-C58C-5C64036CD926}"/>
              </a:ext>
            </a:extLst>
          </p:cNvPr>
          <p:cNvSpPr>
            <a:spLocks noGrp="1"/>
          </p:cNvSpPr>
          <p:nvPr>
            <p:ph type="pic" sz="quarter" idx="13" hasCustomPrompt="1"/>
          </p:nvPr>
        </p:nvSpPr>
        <p:spPr>
          <a:xfrm>
            <a:off x="274320" y="268573"/>
            <a:ext cx="4419600" cy="6325969"/>
          </a:xfrm>
          <a:custGeom>
            <a:avLst/>
            <a:gdLst>
              <a:gd name="connsiteX0" fmla="*/ 300746 w 4381500"/>
              <a:gd name="connsiteY0" fmla="*/ 0 h 6290961"/>
              <a:gd name="connsiteX1" fmla="*/ 4080754 w 4381500"/>
              <a:gd name="connsiteY1" fmla="*/ 0 h 6290961"/>
              <a:gd name="connsiteX2" fmla="*/ 4381500 w 4381500"/>
              <a:gd name="connsiteY2" fmla="*/ 300746 h 6290961"/>
              <a:gd name="connsiteX3" fmla="*/ 4381500 w 4381500"/>
              <a:gd name="connsiteY3" fmla="*/ 5990215 h 6290961"/>
              <a:gd name="connsiteX4" fmla="*/ 4080754 w 4381500"/>
              <a:gd name="connsiteY4" fmla="*/ 6290961 h 6290961"/>
              <a:gd name="connsiteX5" fmla="*/ 300746 w 4381500"/>
              <a:gd name="connsiteY5" fmla="*/ 6290961 h 6290961"/>
              <a:gd name="connsiteX6" fmla="*/ 0 w 4381500"/>
              <a:gd name="connsiteY6" fmla="*/ 5990215 h 6290961"/>
              <a:gd name="connsiteX7" fmla="*/ 0 w 4381500"/>
              <a:gd name="connsiteY7" fmla="*/ 300746 h 6290961"/>
              <a:gd name="connsiteX8" fmla="*/ 300746 w 4381500"/>
              <a:gd name="connsiteY8" fmla="*/ 0 h 6290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1500" h="6290961">
                <a:moveTo>
                  <a:pt x="300746" y="0"/>
                </a:moveTo>
                <a:lnTo>
                  <a:pt x="4080754" y="0"/>
                </a:lnTo>
                <a:cubicBezTo>
                  <a:pt x="4246851" y="0"/>
                  <a:pt x="4381500" y="134649"/>
                  <a:pt x="4381500" y="300746"/>
                </a:cubicBezTo>
                <a:lnTo>
                  <a:pt x="4381500" y="5990215"/>
                </a:lnTo>
                <a:cubicBezTo>
                  <a:pt x="4381500" y="6156312"/>
                  <a:pt x="4246851" y="6290961"/>
                  <a:pt x="4080754" y="6290961"/>
                </a:cubicBezTo>
                <a:lnTo>
                  <a:pt x="300746" y="6290961"/>
                </a:lnTo>
                <a:cubicBezTo>
                  <a:pt x="134649" y="6290961"/>
                  <a:pt x="0" y="6156312"/>
                  <a:pt x="0" y="5990215"/>
                </a:cubicBezTo>
                <a:lnTo>
                  <a:pt x="0" y="300746"/>
                </a:lnTo>
                <a:cubicBezTo>
                  <a:pt x="0" y="134649"/>
                  <a:pt x="134649" y="0"/>
                  <a:pt x="300746" y="0"/>
                </a:cubicBezTo>
                <a:close/>
              </a:path>
            </a:pathLst>
          </a:custGeom>
          <a:blipFill dpi="0" rotWithShape="1">
            <a:blip r:embed="rId2">
              <a:alphaModFix amt="60000"/>
              <a:extLst>
                <a:ext uri="{28A0092B-C50C-407E-A947-70E740481C1C}">
                  <a14:useLocalDpi xmlns:a14="http://schemas.microsoft.com/office/drawing/2010/main" val="0"/>
                </a:ext>
              </a:extLst>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19526" y="1285462"/>
            <a:ext cx="6376546" cy="4986355"/>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919526" y="6387737"/>
            <a:ext cx="2703777"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4C4801C4-BD33-47CA-B204-FEE9BA7A0B92}" type="datetime1">
              <a:rPr lang="en-US" smtClean="0"/>
              <a:t>10/7/2026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244956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88702" y="219456"/>
            <a:ext cx="7241297" cy="923544"/>
          </a:xfrm>
        </p:spPr>
        <p:txBody>
          <a:bodyPr anchor="t"/>
          <a:lstStyle>
            <a:lvl1pPr>
              <a:defRPr/>
            </a:lvl1pPr>
          </a:lstStyle>
          <a:p>
            <a:r>
              <a:rPr lang="en-US"/>
              <a:t>Click to edit Master title style</a:t>
            </a:r>
            <a:endParaRPr lang="en-US" dirty="0"/>
          </a:p>
        </p:txBody>
      </p:sp>
      <p:sp>
        <p:nvSpPr>
          <p:cNvPr id="20" name="Picture Placeholder 9">
            <a:extLst>
              <a:ext uri="{FF2B5EF4-FFF2-40B4-BE49-F238E27FC236}">
                <a16:creationId xmlns:a16="http://schemas.microsoft.com/office/drawing/2014/main" id="{FC55F3DB-E75F-ADDF-8222-D3F62F2CCE82}"/>
              </a:ext>
            </a:extLst>
          </p:cNvPr>
          <p:cNvSpPr>
            <a:spLocks noGrp="1"/>
          </p:cNvSpPr>
          <p:nvPr>
            <p:ph type="pic" sz="quarter" idx="13" hasCustomPrompt="1"/>
          </p:nvPr>
        </p:nvSpPr>
        <p:spPr>
          <a:xfrm>
            <a:off x="274320" y="268573"/>
            <a:ext cx="3675888" cy="6327648"/>
          </a:xfrm>
          <a:custGeom>
            <a:avLst/>
            <a:gdLst>
              <a:gd name="connsiteX0" fmla="*/ 301545 w 3675888"/>
              <a:gd name="connsiteY0" fmla="*/ 0 h 6320854"/>
              <a:gd name="connsiteX1" fmla="*/ 3375347 w 3675888"/>
              <a:gd name="connsiteY1" fmla="*/ 0 h 6320854"/>
              <a:gd name="connsiteX2" fmla="*/ 3675888 w 3675888"/>
              <a:gd name="connsiteY2" fmla="*/ 300541 h 6320854"/>
              <a:gd name="connsiteX3" fmla="*/ 3675888 w 3675888"/>
              <a:gd name="connsiteY3" fmla="*/ 6025428 h 6320854"/>
              <a:gd name="connsiteX4" fmla="*/ 3492331 w 3675888"/>
              <a:gd name="connsiteY4" fmla="*/ 6302351 h 6320854"/>
              <a:gd name="connsiteX5" fmla="*/ 3400682 w 3675888"/>
              <a:gd name="connsiteY5" fmla="*/ 6320854 h 6320854"/>
              <a:gd name="connsiteX6" fmla="*/ 275206 w 3675888"/>
              <a:gd name="connsiteY6" fmla="*/ 6320854 h 6320854"/>
              <a:gd name="connsiteX7" fmla="*/ 186647 w 3675888"/>
              <a:gd name="connsiteY7" fmla="*/ 6302975 h 6320854"/>
              <a:gd name="connsiteX8" fmla="*/ 184171 w 3675888"/>
              <a:gd name="connsiteY8" fmla="*/ 6302204 h 6320854"/>
              <a:gd name="connsiteX9" fmla="*/ 114619 w 3675888"/>
              <a:gd name="connsiteY9" fmla="*/ 6259884 h 6320854"/>
              <a:gd name="connsiteX10" fmla="*/ 105939 w 3675888"/>
              <a:gd name="connsiteY10" fmla="*/ 6252721 h 6320854"/>
              <a:gd name="connsiteX11" fmla="*/ 51500 w 3675888"/>
              <a:gd name="connsiteY11" fmla="*/ 6192635 h 6320854"/>
              <a:gd name="connsiteX12" fmla="*/ 16622 w 3675888"/>
              <a:gd name="connsiteY12" fmla="*/ 6119873 h 6320854"/>
              <a:gd name="connsiteX13" fmla="*/ 12537 w 3675888"/>
              <a:gd name="connsiteY13" fmla="*/ 6106716 h 6320854"/>
              <a:gd name="connsiteX14" fmla="*/ 0 w 3675888"/>
              <a:gd name="connsiteY14" fmla="*/ 6023550 h 6320854"/>
              <a:gd name="connsiteX15" fmla="*/ 0 w 3675888"/>
              <a:gd name="connsiteY15" fmla="*/ 302420 h 6320854"/>
              <a:gd name="connsiteX16" fmla="*/ 301545 w 3675888"/>
              <a:gd name="connsiteY16" fmla="*/ 0 h 632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75888" h="6320854">
                <a:moveTo>
                  <a:pt x="301545" y="0"/>
                </a:moveTo>
                <a:lnTo>
                  <a:pt x="3375347" y="0"/>
                </a:lnTo>
                <a:cubicBezTo>
                  <a:pt x="3541331" y="0"/>
                  <a:pt x="3675888" y="134557"/>
                  <a:pt x="3675888" y="300541"/>
                </a:cubicBezTo>
                <a:lnTo>
                  <a:pt x="3675888" y="6025428"/>
                </a:lnTo>
                <a:cubicBezTo>
                  <a:pt x="3675888" y="6149916"/>
                  <a:pt x="3600200" y="6256727"/>
                  <a:pt x="3492331" y="6302351"/>
                </a:cubicBezTo>
                <a:lnTo>
                  <a:pt x="3400682" y="6320854"/>
                </a:lnTo>
                <a:lnTo>
                  <a:pt x="275206" y="6320854"/>
                </a:lnTo>
                <a:lnTo>
                  <a:pt x="186647" y="6302975"/>
                </a:lnTo>
                <a:lnTo>
                  <a:pt x="184171" y="6302204"/>
                </a:lnTo>
                <a:lnTo>
                  <a:pt x="114619" y="6259884"/>
                </a:lnTo>
                <a:lnTo>
                  <a:pt x="105939" y="6252721"/>
                </a:lnTo>
                <a:lnTo>
                  <a:pt x="51500" y="6192635"/>
                </a:lnTo>
                <a:lnTo>
                  <a:pt x="16622" y="6119873"/>
                </a:lnTo>
                <a:lnTo>
                  <a:pt x="12537" y="6106716"/>
                </a:lnTo>
                <a:lnTo>
                  <a:pt x="0" y="6023550"/>
                </a:lnTo>
                <a:lnTo>
                  <a:pt x="0" y="302420"/>
                </a:lnTo>
                <a:cubicBezTo>
                  <a:pt x="0" y="135398"/>
                  <a:pt x="135007" y="0"/>
                  <a:pt x="301545" y="0"/>
                </a:cubicBezTo>
                <a:close/>
              </a:path>
            </a:pathLst>
          </a:custGeom>
          <a:blipFill dpi="0" rotWithShape="1">
            <a:blip r:embed="rId2">
              <a:alphaModFix amt="60000"/>
              <a:extLst>
                <a:ext uri="{28A0092B-C50C-407E-A947-70E740481C1C}">
                  <a14:useLocalDpi xmlns:a14="http://schemas.microsoft.com/office/drawing/2010/main" val="0"/>
                </a:ext>
              </a:extLst>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188702" y="1143000"/>
            <a:ext cx="7241298" cy="523951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88702" y="6382981"/>
            <a:ext cx="2703777"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07BBC631-32E9-41B5-A4D6-F9BADFAA6AF1}" type="datetime1">
              <a:rPr lang="en-US" smtClean="0"/>
              <a:t>10/7/2026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8388693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7241297" cy="923544"/>
          </a:xfrm>
        </p:spPr>
        <p:txBody>
          <a:bodyPr anchor="t"/>
          <a:lstStyle>
            <a:lvl1pPr>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182880" y="1143000"/>
            <a:ext cx="7241298" cy="523951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82880" y="6382981"/>
            <a:ext cx="2703777"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392093" y="6387128"/>
            <a:ext cx="1032084" cy="338328"/>
          </a:xfrm>
        </p:spPr>
        <p:txBody>
          <a:bodyPr/>
          <a:lstStyle>
            <a:lvl1pPr>
              <a:defRPr>
                <a:solidFill>
                  <a:schemeClr val="tx1"/>
                </a:solidFill>
                <a:effectLst/>
              </a:defRPr>
            </a:lvl1pPr>
          </a:lstStyle>
          <a:p>
            <a:fld id="{A84DF367-E34D-4C28-A660-DCABBED01BCF}" type="datetime1">
              <a:rPr lang="en-US" smtClean="0"/>
              <a:t>10/7/2026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7424177" y="6387128"/>
            <a:ext cx="457200" cy="338328"/>
          </a:xfrm>
        </p:spPr>
        <p:txBody>
          <a:bodyPr/>
          <a:lstStyle/>
          <a:p>
            <a:fld id="{C8116806-1FD2-4A57-B5EA-7014AB76383B}" type="slidenum">
              <a:rPr lang="en-US" smtClean="0"/>
              <a:t>‹#›</a:t>
            </a:fld>
            <a:endParaRPr lang="en-US"/>
          </a:p>
        </p:txBody>
      </p:sp>
      <p:sp>
        <p:nvSpPr>
          <p:cNvPr id="4" name="Picture Placeholder 9">
            <a:extLst>
              <a:ext uri="{FF2B5EF4-FFF2-40B4-BE49-F238E27FC236}">
                <a16:creationId xmlns:a16="http://schemas.microsoft.com/office/drawing/2014/main" id="{F47C8A4F-E753-8148-3650-49C421EB5479}"/>
              </a:ext>
            </a:extLst>
          </p:cNvPr>
          <p:cNvSpPr>
            <a:spLocks noGrp="1"/>
          </p:cNvSpPr>
          <p:nvPr>
            <p:ph type="pic" sz="quarter" idx="13" hasCustomPrompt="1"/>
          </p:nvPr>
        </p:nvSpPr>
        <p:spPr>
          <a:xfrm>
            <a:off x="8249412" y="268573"/>
            <a:ext cx="3675888" cy="6327648"/>
          </a:xfrm>
          <a:custGeom>
            <a:avLst/>
            <a:gdLst>
              <a:gd name="connsiteX0" fmla="*/ 301545 w 3675888"/>
              <a:gd name="connsiteY0" fmla="*/ 0 h 6320854"/>
              <a:gd name="connsiteX1" fmla="*/ 3375347 w 3675888"/>
              <a:gd name="connsiteY1" fmla="*/ 0 h 6320854"/>
              <a:gd name="connsiteX2" fmla="*/ 3675888 w 3675888"/>
              <a:gd name="connsiteY2" fmla="*/ 300541 h 6320854"/>
              <a:gd name="connsiteX3" fmla="*/ 3675888 w 3675888"/>
              <a:gd name="connsiteY3" fmla="*/ 6025428 h 6320854"/>
              <a:gd name="connsiteX4" fmla="*/ 3492331 w 3675888"/>
              <a:gd name="connsiteY4" fmla="*/ 6302351 h 6320854"/>
              <a:gd name="connsiteX5" fmla="*/ 3400682 w 3675888"/>
              <a:gd name="connsiteY5" fmla="*/ 6320854 h 6320854"/>
              <a:gd name="connsiteX6" fmla="*/ 275206 w 3675888"/>
              <a:gd name="connsiteY6" fmla="*/ 6320854 h 6320854"/>
              <a:gd name="connsiteX7" fmla="*/ 186647 w 3675888"/>
              <a:gd name="connsiteY7" fmla="*/ 6302975 h 6320854"/>
              <a:gd name="connsiteX8" fmla="*/ 184171 w 3675888"/>
              <a:gd name="connsiteY8" fmla="*/ 6302204 h 6320854"/>
              <a:gd name="connsiteX9" fmla="*/ 114619 w 3675888"/>
              <a:gd name="connsiteY9" fmla="*/ 6259883 h 6320854"/>
              <a:gd name="connsiteX10" fmla="*/ 105939 w 3675888"/>
              <a:gd name="connsiteY10" fmla="*/ 6252722 h 6320854"/>
              <a:gd name="connsiteX11" fmla="*/ 51500 w 3675888"/>
              <a:gd name="connsiteY11" fmla="*/ 6192635 h 6320854"/>
              <a:gd name="connsiteX12" fmla="*/ 16622 w 3675888"/>
              <a:gd name="connsiteY12" fmla="*/ 6119873 h 6320854"/>
              <a:gd name="connsiteX13" fmla="*/ 12538 w 3675888"/>
              <a:gd name="connsiteY13" fmla="*/ 6106716 h 6320854"/>
              <a:gd name="connsiteX14" fmla="*/ 0 w 3675888"/>
              <a:gd name="connsiteY14" fmla="*/ 6023550 h 6320854"/>
              <a:gd name="connsiteX15" fmla="*/ 0 w 3675888"/>
              <a:gd name="connsiteY15" fmla="*/ 302420 h 6320854"/>
              <a:gd name="connsiteX16" fmla="*/ 301545 w 3675888"/>
              <a:gd name="connsiteY16" fmla="*/ 0 h 632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75888" h="6320854">
                <a:moveTo>
                  <a:pt x="301545" y="0"/>
                </a:moveTo>
                <a:lnTo>
                  <a:pt x="3375347" y="0"/>
                </a:lnTo>
                <a:cubicBezTo>
                  <a:pt x="3541331" y="0"/>
                  <a:pt x="3675888" y="134557"/>
                  <a:pt x="3675888" y="300541"/>
                </a:cubicBezTo>
                <a:lnTo>
                  <a:pt x="3675888" y="6025428"/>
                </a:lnTo>
                <a:cubicBezTo>
                  <a:pt x="3675888" y="6149916"/>
                  <a:pt x="3600200" y="6256727"/>
                  <a:pt x="3492331" y="6302351"/>
                </a:cubicBezTo>
                <a:lnTo>
                  <a:pt x="3400682" y="6320854"/>
                </a:lnTo>
                <a:lnTo>
                  <a:pt x="275206" y="6320854"/>
                </a:lnTo>
                <a:lnTo>
                  <a:pt x="186647" y="6302975"/>
                </a:lnTo>
                <a:lnTo>
                  <a:pt x="184171" y="6302204"/>
                </a:lnTo>
                <a:lnTo>
                  <a:pt x="114619" y="6259883"/>
                </a:lnTo>
                <a:lnTo>
                  <a:pt x="105939" y="6252722"/>
                </a:lnTo>
                <a:lnTo>
                  <a:pt x="51500" y="6192635"/>
                </a:lnTo>
                <a:lnTo>
                  <a:pt x="16622" y="6119873"/>
                </a:lnTo>
                <a:lnTo>
                  <a:pt x="12538" y="6106716"/>
                </a:lnTo>
                <a:lnTo>
                  <a:pt x="0" y="6023550"/>
                </a:lnTo>
                <a:lnTo>
                  <a:pt x="0" y="302420"/>
                </a:lnTo>
                <a:cubicBezTo>
                  <a:pt x="0" y="135398"/>
                  <a:pt x="135007" y="0"/>
                  <a:pt x="301545" y="0"/>
                </a:cubicBezTo>
                <a:close/>
              </a:path>
            </a:pathLst>
          </a:custGeom>
          <a:blipFill dpi="0" rotWithShape="1">
            <a:blip r:embed="rId2">
              <a:alphaModFix amt="60000"/>
              <a:extLst>
                <a:ext uri="{28A0092B-C50C-407E-A947-70E740481C1C}">
                  <a14:useLocalDpi xmlns:a14="http://schemas.microsoft.com/office/drawing/2010/main" val="0"/>
                </a:ext>
              </a:extLst>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9363622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5" y="219456"/>
            <a:ext cx="4717429" cy="118088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85855" y="1400344"/>
            <a:ext cx="4729045" cy="4871473"/>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588172" y="6390795"/>
            <a:ext cx="1298784" cy="338328"/>
          </a:xfrm>
        </p:spPr>
        <p:txBody>
          <a:bodyPr/>
          <a:lstStyle/>
          <a:p>
            <a:fld id="{5489A3B8-AADB-439D-85B5-E9ACAFD37972}" type="datetime1">
              <a:rPr lang="en-US" smtClean="0"/>
              <a:t>10/7/2026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886956" y="6390795"/>
            <a:ext cx="457200" cy="338328"/>
          </a:xfrm>
        </p:spPr>
        <p:txBody>
          <a:bodyPr/>
          <a:lstStyle>
            <a:lvl1pPr>
              <a:defRPr>
                <a:solidFill>
                  <a:schemeClr val="tx1"/>
                </a:solidFill>
                <a:effectLst/>
              </a:defRPr>
            </a:lvl1pPr>
          </a:lstStyle>
          <a:p>
            <a:fld id="{C8116806-1FD2-4A57-B5EA-7014AB76383B}" type="slidenum">
              <a:rPr lang="en-US" smtClean="0"/>
              <a:t>‹#›</a:t>
            </a:fld>
            <a:endParaRPr lang="en-US"/>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hasCustomPrompt="1"/>
          </p:nvPr>
        </p:nvSpPr>
        <p:spPr>
          <a:xfrm>
            <a:off x="5600703" y="266700"/>
            <a:ext cx="6324469" cy="6324600"/>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dpi="0" rotWithShape="1">
            <a:blip r:embed="rId2">
              <a:alphaModFix amt="60000"/>
              <a:extLst>
                <a:ext uri="{28A0092B-C50C-407E-A947-70E740481C1C}">
                  <a14:useLocalDpi xmlns:a14="http://schemas.microsoft.com/office/drawing/2010/main" val="0"/>
                </a:ext>
              </a:extLst>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0983841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1" y="220869"/>
            <a:ext cx="3208020" cy="3088635"/>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4" name="Picture Placeholder 3">
            <a:extLst>
              <a:ext uri="{FF2B5EF4-FFF2-40B4-BE49-F238E27FC236}">
                <a16:creationId xmlns:a16="http://schemas.microsoft.com/office/drawing/2014/main" id="{26FEEE5C-15B3-8386-23D3-B6B236C668F2}"/>
              </a:ext>
            </a:extLst>
          </p:cNvPr>
          <p:cNvSpPr>
            <a:spLocks noGrp="1"/>
          </p:cNvSpPr>
          <p:nvPr>
            <p:ph type="pic" sz="quarter" idx="13" hasCustomPrompt="1"/>
          </p:nvPr>
        </p:nvSpPr>
        <p:spPr>
          <a:xfrm>
            <a:off x="4686300" y="266700"/>
            <a:ext cx="3500538" cy="6324600"/>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dpi="0" rotWithShape="1">
            <a:blip r:embed="rId2">
              <a:alphaModFix amt="60000"/>
              <a:extLst>
                <a:ext uri="{28A0092B-C50C-407E-A947-70E740481C1C}">
                  <a14:useLocalDpi xmlns:a14="http://schemas.microsoft.com/office/drawing/2010/main" val="0"/>
                </a:ext>
              </a:extLst>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461087" y="220870"/>
            <a:ext cx="3200400" cy="6055554"/>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4C28399-DE27-4A8B-8419-0512D16F4926}" type="datetime1">
              <a:rPr lang="en-US" smtClean="0"/>
              <a:t>10/7/2026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12337240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513755" y="219456"/>
            <a:ext cx="3891435" cy="1225339"/>
          </a:xfrm>
        </p:spPr>
        <p:txBody>
          <a:bodyPr anchor="t"/>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B3BE62AC-2855-BB28-0282-25CA658273E5}"/>
              </a:ext>
            </a:extLst>
          </p:cNvPr>
          <p:cNvSpPr>
            <a:spLocks noGrp="1"/>
          </p:cNvSpPr>
          <p:nvPr>
            <p:ph type="pic" sz="quarter" idx="13" hasCustomPrompt="1"/>
          </p:nvPr>
        </p:nvSpPr>
        <p:spPr>
          <a:xfrm>
            <a:off x="270473" y="265176"/>
            <a:ext cx="6984636" cy="6327648"/>
          </a:xfrm>
          <a:custGeom>
            <a:avLst/>
            <a:gdLst>
              <a:gd name="connsiteX0" fmla="*/ 302565 w 7228936"/>
              <a:gd name="connsiteY0" fmla="*/ 0 h 6316602"/>
              <a:gd name="connsiteX1" fmla="*/ 6926371 w 7228936"/>
              <a:gd name="connsiteY1" fmla="*/ 0 h 6316602"/>
              <a:gd name="connsiteX2" fmla="*/ 7228936 w 7228936"/>
              <a:gd name="connsiteY2" fmla="*/ 302565 h 6316602"/>
              <a:gd name="connsiteX3" fmla="*/ 7228936 w 7228936"/>
              <a:gd name="connsiteY3" fmla="*/ 6014037 h 6316602"/>
              <a:gd name="connsiteX4" fmla="*/ 6926371 w 7228936"/>
              <a:gd name="connsiteY4" fmla="*/ 6316602 h 6316602"/>
              <a:gd name="connsiteX5" fmla="*/ 302565 w 7228936"/>
              <a:gd name="connsiteY5" fmla="*/ 6316602 h 6316602"/>
              <a:gd name="connsiteX6" fmla="*/ 0 w 7228936"/>
              <a:gd name="connsiteY6" fmla="*/ 6014037 h 6316602"/>
              <a:gd name="connsiteX7" fmla="*/ 0 w 7228936"/>
              <a:gd name="connsiteY7" fmla="*/ 302565 h 6316602"/>
              <a:gd name="connsiteX8" fmla="*/ 302565 w 7228936"/>
              <a:gd name="connsiteY8" fmla="*/ 0 h 6316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28936" h="6316602">
                <a:moveTo>
                  <a:pt x="302565" y="0"/>
                </a:moveTo>
                <a:lnTo>
                  <a:pt x="6926371" y="0"/>
                </a:lnTo>
                <a:cubicBezTo>
                  <a:pt x="7093473" y="0"/>
                  <a:pt x="7228936" y="135463"/>
                  <a:pt x="7228936" y="302565"/>
                </a:cubicBezTo>
                <a:lnTo>
                  <a:pt x="7228936" y="6014037"/>
                </a:lnTo>
                <a:cubicBezTo>
                  <a:pt x="7228936" y="6181139"/>
                  <a:pt x="7093473" y="6316602"/>
                  <a:pt x="6926371" y="6316602"/>
                </a:cubicBezTo>
                <a:lnTo>
                  <a:pt x="302565" y="6316602"/>
                </a:lnTo>
                <a:cubicBezTo>
                  <a:pt x="135463" y="6316602"/>
                  <a:pt x="0" y="6181139"/>
                  <a:pt x="0" y="6014037"/>
                </a:cubicBezTo>
                <a:lnTo>
                  <a:pt x="0" y="302565"/>
                </a:lnTo>
                <a:cubicBezTo>
                  <a:pt x="0" y="135463"/>
                  <a:pt x="135463" y="0"/>
                  <a:pt x="302565" y="0"/>
                </a:cubicBezTo>
                <a:close/>
              </a:path>
            </a:pathLst>
          </a:custGeom>
          <a:blipFill dpi="0" rotWithShape="1">
            <a:blip r:embed="rId2">
              <a:alphaModFix amt="60000"/>
              <a:extLst>
                <a:ext uri="{28A0092B-C50C-407E-A947-70E740481C1C}">
                  <a14:useLocalDpi xmlns:a14="http://schemas.microsoft.com/office/drawing/2010/main" val="0"/>
                </a:ext>
              </a:extLst>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513753" y="1435652"/>
            <a:ext cx="3891435" cy="483386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515079" y="6387128"/>
            <a:ext cx="2703777"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19F43114-67DF-4FA3-9285-385EAC7FCBCA}" type="datetime1">
              <a:rPr lang="en-US" smtClean="0"/>
              <a:t>10/7/2026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9810393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4" y="219456"/>
            <a:ext cx="3234982" cy="157721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185854" y="1796675"/>
            <a:ext cx="3234982" cy="4471476"/>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78705" y="6387128"/>
            <a:ext cx="2095770"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206416" y="6390795"/>
            <a:ext cx="1032084" cy="338328"/>
          </a:xfrm>
        </p:spPr>
        <p:txBody>
          <a:bodyPr/>
          <a:lstStyle>
            <a:lvl1pPr>
              <a:defRPr>
                <a:solidFill>
                  <a:schemeClr val="tx1"/>
                </a:solidFill>
                <a:effectLst/>
              </a:defRPr>
            </a:lvl1pPr>
          </a:lstStyle>
          <a:p>
            <a:fld id="{BB0B5C10-8896-4A25-9ADC-0DE16BEA40F9}" type="datetime1">
              <a:rPr lang="en-US" smtClean="0"/>
              <a:t>10/7/2026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38500" y="6390795"/>
            <a:ext cx="457200" cy="338328"/>
          </a:xfrm>
        </p:spPr>
        <p:txBody>
          <a:bodyPr/>
          <a:lstStyle/>
          <a:p>
            <a:fld id="{C8116806-1FD2-4A57-B5EA-7014AB76383B}" type="slidenum">
              <a:rPr lang="en-US" smtClean="0"/>
              <a:t>‹#›</a:t>
            </a:fld>
            <a:endParaRPr lang="en-US"/>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hasCustomPrompt="1"/>
          </p:nvPr>
        </p:nvSpPr>
        <p:spPr>
          <a:xfrm>
            <a:off x="3965783" y="265176"/>
            <a:ext cx="7959517" cy="6327648"/>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dpi="0" rotWithShape="1">
            <a:blip r:embed="rId2">
              <a:alphaModFix amt="60000"/>
              <a:extLst>
                <a:ext uri="{28A0092B-C50C-407E-A947-70E740481C1C}">
                  <a14:useLocalDpi xmlns:a14="http://schemas.microsoft.com/office/drawing/2010/main" val="0"/>
                </a:ext>
              </a:extLst>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0143775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78" y="216452"/>
            <a:ext cx="3381587" cy="2213524"/>
          </a:xfrm>
        </p:spPr>
        <p:txBody>
          <a:bodyPr anchor="t">
            <a:normAutofit/>
          </a:bodyPr>
          <a:lstStyle>
            <a:lvl1pPr>
              <a:defRPr sz="3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62400" y="177492"/>
            <a:ext cx="7962900" cy="2286000"/>
          </a:xfrm>
        </p:spPr>
        <p:txBody>
          <a:bodyPr>
            <a:normAutofit/>
          </a:bodyPr>
          <a:lstStyle>
            <a:lvl1pPr marL="285750" indent="-285750">
              <a:buFont typeface="Arial" panose="020B0604020202020204" pitchFamily="34" charset="0"/>
              <a:buChar char="•"/>
              <a:defRPr sz="1400"/>
            </a:lvl1pPr>
            <a:lvl2pPr marL="514350" indent="-285750">
              <a:buFont typeface="Arial" panose="020B0604020202020204" pitchFamily="34" charset="0"/>
              <a:buChar char="•"/>
              <a:defRPr sz="14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85878" y="2513464"/>
            <a:ext cx="2805405"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30339" y="2516244"/>
            <a:ext cx="1284010" cy="338328"/>
          </a:xfrm>
        </p:spPr>
        <p:txBody>
          <a:bodyPr/>
          <a:lstStyle/>
          <a:p>
            <a:fld id="{70D4BFA2-1BB9-40F7-B5CD-27AF3FC15B4F}" type="datetime1">
              <a:rPr lang="en-US" smtClean="0"/>
              <a:t>10/7/2026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509585" y="2513464"/>
            <a:ext cx="449306" cy="338328"/>
          </a:xfrm>
        </p:spPr>
        <p:txBody>
          <a:bodyPr/>
          <a:lstStyle/>
          <a:p>
            <a:fld id="{C8116806-1FD2-4A57-B5EA-7014AB76383B}" type="slidenum">
              <a:rPr lang="en-US" smtClean="0"/>
              <a:t>‹#›</a:t>
            </a:fld>
            <a:endParaRPr lang="en-US"/>
          </a:p>
        </p:txBody>
      </p:sp>
      <p:sp>
        <p:nvSpPr>
          <p:cNvPr id="10" name="Picture Placeholder 9">
            <a:extLst>
              <a:ext uri="{FF2B5EF4-FFF2-40B4-BE49-F238E27FC236}">
                <a16:creationId xmlns:a16="http://schemas.microsoft.com/office/drawing/2014/main" id="{EE56056E-3484-D9D0-95D5-818FF4C3C8D6}"/>
              </a:ext>
            </a:extLst>
          </p:cNvPr>
          <p:cNvSpPr>
            <a:spLocks noGrp="1"/>
          </p:cNvSpPr>
          <p:nvPr>
            <p:ph type="pic" sz="quarter" idx="13" hasCustomPrompt="1"/>
          </p:nvPr>
        </p:nvSpPr>
        <p:spPr>
          <a:xfrm>
            <a:off x="274220" y="2935280"/>
            <a:ext cx="11651080" cy="3656020"/>
          </a:xfrm>
          <a:custGeom>
            <a:avLst/>
            <a:gdLst>
              <a:gd name="connsiteX0" fmla="*/ 298989 w 11651080"/>
              <a:gd name="connsiteY0" fmla="*/ 0 h 3656020"/>
              <a:gd name="connsiteX1" fmla="*/ 11352091 w 11651080"/>
              <a:gd name="connsiteY1" fmla="*/ 0 h 3656020"/>
              <a:gd name="connsiteX2" fmla="*/ 11651080 w 11651080"/>
              <a:gd name="connsiteY2" fmla="*/ 298989 h 3656020"/>
              <a:gd name="connsiteX3" fmla="*/ 11651080 w 11651080"/>
              <a:gd name="connsiteY3" fmla="*/ 3357031 h 3656020"/>
              <a:gd name="connsiteX4" fmla="*/ 11352091 w 11651080"/>
              <a:gd name="connsiteY4" fmla="*/ 3656020 h 3656020"/>
              <a:gd name="connsiteX5" fmla="*/ 298989 w 11651080"/>
              <a:gd name="connsiteY5" fmla="*/ 3656020 h 3656020"/>
              <a:gd name="connsiteX6" fmla="*/ 0 w 11651080"/>
              <a:gd name="connsiteY6" fmla="*/ 3357031 h 3656020"/>
              <a:gd name="connsiteX7" fmla="*/ 0 w 11651080"/>
              <a:gd name="connsiteY7" fmla="*/ 298989 h 3656020"/>
              <a:gd name="connsiteX8" fmla="*/ 298989 w 11651080"/>
              <a:gd name="connsiteY8" fmla="*/ 0 h 3656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3656020">
                <a:moveTo>
                  <a:pt x="298989" y="0"/>
                </a:moveTo>
                <a:lnTo>
                  <a:pt x="11352091" y="0"/>
                </a:lnTo>
                <a:cubicBezTo>
                  <a:pt x="11517218" y="0"/>
                  <a:pt x="11651080" y="133862"/>
                  <a:pt x="11651080" y="298989"/>
                </a:cubicBezTo>
                <a:lnTo>
                  <a:pt x="11651080" y="3357031"/>
                </a:lnTo>
                <a:cubicBezTo>
                  <a:pt x="11651080" y="3522158"/>
                  <a:pt x="11517218" y="3656020"/>
                  <a:pt x="11352091" y="3656020"/>
                </a:cubicBezTo>
                <a:lnTo>
                  <a:pt x="298989" y="3656020"/>
                </a:lnTo>
                <a:cubicBezTo>
                  <a:pt x="133862" y="3656020"/>
                  <a:pt x="0" y="3522158"/>
                  <a:pt x="0" y="3357031"/>
                </a:cubicBezTo>
                <a:lnTo>
                  <a:pt x="0" y="298989"/>
                </a:lnTo>
                <a:cubicBezTo>
                  <a:pt x="0" y="133862"/>
                  <a:pt x="133862" y="0"/>
                  <a:pt x="298989" y="0"/>
                </a:cubicBezTo>
                <a:close/>
              </a:path>
            </a:pathLst>
          </a:custGeom>
          <a:blipFill dpi="0" rotWithShape="1">
            <a:blip r:embed="rId2">
              <a:alphaModFix amt="60000"/>
              <a:extLst>
                <a:ext uri="{28A0092B-C50C-407E-A947-70E740481C1C}">
                  <a14:useLocalDpi xmlns:a14="http://schemas.microsoft.com/office/drawing/2010/main" val="0"/>
                </a:ext>
              </a:extLst>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5939369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3172641" cy="3145019"/>
          </a:xfrm>
        </p:spPr>
        <p:txBody>
          <a:bodyPr anchor="t">
            <a:normAutofit/>
          </a:bodyPr>
          <a:lstStyle>
            <a:lvl1pPr>
              <a:defRPr sz="30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A95997E6-BE07-E83F-D207-0CADA004E02A}"/>
              </a:ext>
            </a:extLst>
          </p:cNvPr>
          <p:cNvSpPr>
            <a:spLocks noGrp="1"/>
          </p:cNvSpPr>
          <p:nvPr>
            <p:ph type="pic" sz="quarter" idx="15" hasCustomPrompt="1"/>
          </p:nvPr>
        </p:nvSpPr>
        <p:spPr>
          <a:xfrm>
            <a:off x="4000500" y="265332"/>
            <a:ext cx="7924800" cy="3095837"/>
          </a:xfrm>
          <a:custGeom>
            <a:avLst/>
            <a:gdLst>
              <a:gd name="connsiteX0" fmla="*/ 282309 w 8229600"/>
              <a:gd name="connsiteY0" fmla="*/ 0 h 3095837"/>
              <a:gd name="connsiteX1" fmla="*/ 7947291 w 8229600"/>
              <a:gd name="connsiteY1" fmla="*/ 0 h 3095837"/>
              <a:gd name="connsiteX2" fmla="*/ 8229600 w 8229600"/>
              <a:gd name="connsiteY2" fmla="*/ 282309 h 3095837"/>
              <a:gd name="connsiteX3" fmla="*/ 8229600 w 8229600"/>
              <a:gd name="connsiteY3" fmla="*/ 2813528 h 3095837"/>
              <a:gd name="connsiteX4" fmla="*/ 7947291 w 8229600"/>
              <a:gd name="connsiteY4" fmla="*/ 3095837 h 3095837"/>
              <a:gd name="connsiteX5" fmla="*/ 282309 w 8229600"/>
              <a:gd name="connsiteY5" fmla="*/ 3095837 h 3095837"/>
              <a:gd name="connsiteX6" fmla="*/ 0 w 8229600"/>
              <a:gd name="connsiteY6" fmla="*/ 2813528 h 3095837"/>
              <a:gd name="connsiteX7" fmla="*/ 0 w 8229600"/>
              <a:gd name="connsiteY7" fmla="*/ 282309 h 3095837"/>
              <a:gd name="connsiteX8" fmla="*/ 282309 w 8229600"/>
              <a:gd name="connsiteY8" fmla="*/ 0 h 3095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29600" h="3095837">
                <a:moveTo>
                  <a:pt x="282309" y="0"/>
                </a:moveTo>
                <a:lnTo>
                  <a:pt x="7947291" y="0"/>
                </a:lnTo>
                <a:cubicBezTo>
                  <a:pt x="8103206" y="0"/>
                  <a:pt x="8229600" y="126394"/>
                  <a:pt x="8229600" y="282309"/>
                </a:cubicBezTo>
                <a:lnTo>
                  <a:pt x="8229600" y="2813528"/>
                </a:lnTo>
                <a:cubicBezTo>
                  <a:pt x="8229600" y="2969443"/>
                  <a:pt x="8103206" y="3095837"/>
                  <a:pt x="7947291" y="3095837"/>
                </a:cubicBezTo>
                <a:lnTo>
                  <a:pt x="282309" y="3095837"/>
                </a:lnTo>
                <a:cubicBezTo>
                  <a:pt x="126394" y="3095837"/>
                  <a:pt x="0" y="2969443"/>
                  <a:pt x="0" y="2813528"/>
                </a:cubicBezTo>
                <a:lnTo>
                  <a:pt x="0" y="282309"/>
                </a:lnTo>
                <a:cubicBezTo>
                  <a:pt x="0" y="126394"/>
                  <a:pt x="126394" y="0"/>
                  <a:pt x="282309" y="0"/>
                </a:cubicBezTo>
                <a:close/>
              </a:path>
            </a:pathLst>
          </a:custGeom>
          <a:blipFill dpi="0" rotWithShape="1">
            <a:blip r:embed="rId2">
              <a:alphaModFix amt="60000"/>
              <a:extLst>
                <a:ext uri="{28A0092B-C50C-407E-A947-70E740481C1C}">
                  <a14:useLocalDpi xmlns:a14="http://schemas.microsoft.com/office/drawing/2010/main" val="0"/>
                </a:ext>
              </a:extLst>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14565" y="3543597"/>
            <a:ext cx="8010734" cy="284353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D90CB68-2046-4562-B6CE-CDFAB3DC51F3}" type="datetime1">
              <a:rPr lang="en-US" smtClean="0"/>
              <a:t>10/7/2026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4728631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E5778B4-3E3F-C3EF-5322-2ECFF646D003}"/>
              </a:ext>
              <a:ext uri="{C183D7F6-B498-43B3-948B-1728B52AA6E4}">
                <adec:decorative xmlns:adec="http://schemas.microsoft.com/office/drawing/2017/decorative" val="1"/>
              </a:ext>
            </a:extLst>
          </p:cNvPr>
          <p:cNvSpPr/>
          <p:nvPr/>
        </p:nvSpPr>
        <p:spPr>
          <a:xfrm>
            <a:off x="1231821" y="760151"/>
            <a:ext cx="9728359" cy="4233673"/>
          </a:xfrm>
          <a:prstGeom prst="roundRect">
            <a:avLst>
              <a:gd name="adj" fmla="val 7502"/>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446276" y="5255159"/>
            <a:ext cx="9299448" cy="1025326"/>
          </a:xfrm>
        </p:spPr>
        <p:txBody>
          <a:bodyPr anchor="ctr">
            <a:normAutofit/>
          </a:bodyPr>
          <a:lstStyle>
            <a:lvl1pPr algn="ctr">
              <a:lnSpc>
                <a:spcPct val="90000"/>
              </a:lnSpc>
              <a:defRPr sz="2400" spc="-50" baseline="0">
                <a:solidFill>
                  <a:schemeClr val="tx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1446276" y="1293091"/>
            <a:ext cx="9299448" cy="3943921"/>
          </a:xfrm>
        </p:spPr>
        <p:txBody>
          <a:bodyPr anchor="ctr">
            <a:normAutofit/>
          </a:bodyPr>
          <a:lstStyle>
            <a:lvl1pPr marL="0" indent="0" algn="ctr">
              <a:lnSpc>
                <a:spcPct val="80000"/>
              </a:lnSpc>
              <a:buNone/>
              <a:defRPr sz="26000" spc="-100" baseline="0">
                <a:solidFill>
                  <a:schemeClr val="tx1"/>
                </a:solidFill>
              </a:defRPr>
            </a:lvl1pPr>
          </a:lstStyle>
          <a:p>
            <a:pPr lvl="0"/>
            <a:r>
              <a:rPr lang="en-US" dirty="0"/>
              <a:t>XX%</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p>
            <a:fld id="{E24BB35E-97D9-4AD8-9F03-F1A28F5EDD3F}" type="datetime1">
              <a:rPr lang="en-US" smtClean="0"/>
              <a:t>10/7/2026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4344109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2880" y="173736"/>
            <a:ext cx="10475499" cy="4850651"/>
          </a:xfrm>
        </p:spPr>
        <p:txBody>
          <a:bodyPr anchor="t">
            <a:noAutofit/>
          </a:bodyPr>
          <a:lstStyle>
            <a:lvl1pPr marL="0" indent="0">
              <a:lnSpc>
                <a:spcPct val="90000"/>
              </a:lnSpc>
              <a:buNone/>
              <a:defRPr sz="7600" b="0" cap="none" spc="-50" baseline="0"/>
            </a:lvl1pPr>
            <a:lvl2pPr marL="228600" indent="0">
              <a:lnSpc>
                <a:spcPct val="90000"/>
              </a:lnSpc>
              <a:buNone/>
              <a:defRPr sz="6600" b="0" cap="none" spc="-50" baseline="0"/>
            </a:lvl2pPr>
            <a:lvl3pPr marL="457200" indent="0">
              <a:lnSpc>
                <a:spcPct val="90000"/>
              </a:lnSpc>
              <a:buNone/>
              <a:defRPr sz="6000" b="0" cap="none" spc="-50" baseline="0"/>
            </a:lvl3pPr>
            <a:lvl4pPr marL="685800" indent="0">
              <a:lnSpc>
                <a:spcPct val="90000"/>
              </a:lnSpc>
              <a:buNone/>
              <a:defRPr sz="5400" b="0" cap="none" spc="-50" baseline="0"/>
            </a:lvl4pPr>
            <a:lvl5pPr marL="914400" indent="0">
              <a:lnSpc>
                <a:spcPct val="90000"/>
              </a:lnSpc>
              <a:buNone/>
              <a:defRPr sz="4800" b="0" cap="none" spc="-50" baseline="0"/>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60FC429-4D23-430E-9EDF-7373AE75BFEE}" type="datetime1">
              <a:rPr lang="en-US" smtClean="0"/>
              <a:t>10/7/2026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4043005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388784" y="5029200"/>
            <a:ext cx="9198864" cy="713232"/>
          </a:xfrm>
        </p:spPr>
        <p:txBody>
          <a:bodyPr anchor="t">
            <a:normAutofit/>
          </a:bodyPr>
          <a:lstStyle>
            <a:lvl1pPr>
              <a:lnSpc>
                <a:spcPct val="90000"/>
              </a:lnSpc>
              <a:defRPr sz="2000" b="1" spc="-50" baseline="0">
                <a:solidFill>
                  <a:schemeClr val="accent1"/>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388784" y="1115568"/>
            <a:ext cx="9198864" cy="3584448"/>
          </a:xfrm>
        </p:spPr>
        <p:txBody>
          <a:bodyPr anchor="ctr">
            <a:normAutofit/>
          </a:bodyPr>
          <a:lstStyle>
            <a:lvl1pPr marL="137160" indent="-137160">
              <a:lnSpc>
                <a:spcPct val="90000"/>
              </a:lnSpc>
              <a:spcBef>
                <a:spcPts val="0"/>
              </a:spcBef>
              <a:buFont typeface="Arial" panose="020B0604020202020204" pitchFamily="34" charset="0"/>
              <a:buNone/>
              <a:defRPr sz="5000" spc="-50" baseline="0"/>
            </a:lvl1pPr>
          </a:lstStyle>
          <a:p>
            <a:pPr lvl="0"/>
            <a:r>
              <a:rPr lang="en-US" dirty="0"/>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B335E6B9-2D9C-4660-92C5-78965463CC8F}" type="datetime1">
              <a:rPr lang="en-US" smtClean="0"/>
              <a:t>10/7/2026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8659798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11326704" cy="1041564"/>
          </a:xfrm>
        </p:spPr>
        <p:txBody>
          <a:body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12E940BF-81C2-1FFB-391F-670B2E738E5C}"/>
              </a:ext>
            </a:extLst>
          </p:cNvPr>
          <p:cNvSpPr>
            <a:spLocks noGrp="1"/>
          </p:cNvSpPr>
          <p:nvPr>
            <p:ph sz="quarter" idx="15"/>
          </p:nvPr>
        </p:nvSpPr>
        <p:spPr>
          <a:xfrm>
            <a:off x="182880" y="1645920"/>
            <a:ext cx="5420409" cy="4741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a:extLst>
              <a:ext uri="{FF2B5EF4-FFF2-40B4-BE49-F238E27FC236}">
                <a16:creationId xmlns:a16="http://schemas.microsoft.com/office/drawing/2014/main" id="{FB763AB3-1DFB-9F9F-2339-33F3C49C8C10}"/>
              </a:ext>
            </a:extLst>
          </p:cNvPr>
          <p:cNvSpPr>
            <a:spLocks noGrp="1"/>
          </p:cNvSpPr>
          <p:nvPr>
            <p:ph sz="quarter" idx="16"/>
          </p:nvPr>
        </p:nvSpPr>
        <p:spPr>
          <a:xfrm>
            <a:off x="6248400" y="1645920"/>
            <a:ext cx="5261184" cy="4741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0B5B9CE9-04E1-4A30-9610-62B3B25B32C1}" type="datetime1">
              <a:rPr lang="en-US" smtClean="0"/>
              <a:t>10/7/2026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42901779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181186" y="219456"/>
            <a:ext cx="11274552" cy="7898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81185" y="1009307"/>
            <a:ext cx="521208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3">
            <a:extLst>
              <a:ext uri="{FF2B5EF4-FFF2-40B4-BE49-F238E27FC236}">
                <a16:creationId xmlns:a16="http://schemas.microsoft.com/office/drawing/2014/main" id="{D6A39E64-722E-F001-F641-974F5225314A}"/>
              </a:ext>
            </a:extLst>
          </p:cNvPr>
          <p:cNvSpPr>
            <a:spLocks noGrp="1"/>
          </p:cNvSpPr>
          <p:nvPr>
            <p:ph sz="quarter" idx="15"/>
          </p:nvPr>
        </p:nvSpPr>
        <p:spPr>
          <a:xfrm>
            <a:off x="181631" y="1649451"/>
            <a:ext cx="521208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45352" y="1009307"/>
            <a:ext cx="521208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4B9C0BFD-5C7B-FA0D-DCE8-95D24728FEB0}"/>
              </a:ext>
            </a:extLst>
          </p:cNvPr>
          <p:cNvSpPr>
            <a:spLocks noGrp="1"/>
          </p:cNvSpPr>
          <p:nvPr>
            <p:ph sz="quarter" idx="16"/>
          </p:nvPr>
        </p:nvSpPr>
        <p:spPr>
          <a:xfrm>
            <a:off x="6245352" y="1649451"/>
            <a:ext cx="521208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C397DEDC-8F58-44F8-A177-8A00C8A4C6DB}" type="datetime1">
              <a:rPr lang="en-US" smtClean="0"/>
              <a:t>10/7/2026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441831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1C995DE8-BB4A-408C-A60C-374B496D02BA}" type="datetime1">
              <a:rPr lang="en-US" smtClean="0"/>
              <a:t>10/7/2026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55521150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21DC9DBE-31FF-4D71-B719-92EBAC3193CE}" type="datetime1">
              <a:rPr lang="en-US" smtClean="0"/>
              <a:t>10/7/2026</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94080128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7861" y="207228"/>
            <a:ext cx="11001943" cy="1790700"/>
          </a:xfrm>
        </p:spPr>
        <p:txBody>
          <a:bodyPr anchor="t">
            <a:noAutofit/>
          </a:bodyPr>
          <a:lstStyle>
            <a:lvl1pPr>
              <a:defRPr sz="7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022195" y="3264408"/>
            <a:ext cx="10147610"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42CF504-FC97-4D7A-ADA4-4D7971A47BF8}" type="datetime1">
              <a:rPr lang="en-US" smtClean="0"/>
              <a:t>10/7/2026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4105637429"/>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915580" y="1089247"/>
            <a:ext cx="6360840" cy="2171716"/>
          </a:xfrm>
        </p:spPr>
        <p:txBody>
          <a:bodyPr anchor="b">
            <a:noAutofit/>
          </a:bodyPr>
          <a:lstStyle>
            <a:lvl1pPr algn="ctr">
              <a:defRPr sz="72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3322864" y="3499880"/>
            <a:ext cx="5543550" cy="1771650"/>
          </a:xfrm>
        </p:spPr>
        <p:txBody>
          <a:bodyPr vert="horz" lIns="91440" tIns="45720" rIns="91440" bIns="45720" rtlCol="0">
            <a:normAutofit/>
          </a:bodyPr>
          <a:lstStyle>
            <a:lvl1pPr marL="0" indent="0" algn="ctr">
              <a:buNone/>
              <a:defRPr lang="en-US" sz="1600" dirty="0"/>
            </a:lvl1pPr>
            <a:lvl2pPr marL="228600" indent="0" algn="ctr">
              <a:buNone/>
              <a:defRPr lang="en-US" sz="1600" dirty="0"/>
            </a:lvl2pPr>
            <a:lvl3pPr marL="457200" indent="0" algn="ctr">
              <a:buNone/>
              <a:defRPr lang="en-US" sz="1600" dirty="0"/>
            </a:lvl3pPr>
            <a:lvl4pPr marL="685800" indent="0" algn="ctr">
              <a:buNone/>
              <a:defRPr lang="en-US" sz="1600" dirty="0"/>
            </a:lvl4pPr>
            <a:lvl5pPr marL="914400" indent="0" algn="ctr">
              <a:buNone/>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B6DD06E-1834-4525-8B00-CED1355A3638}" type="datetime1">
              <a:rPr lang="en-US" smtClean="0"/>
              <a:t>10/7/2026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681495199"/>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0968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82880" y="219456"/>
            <a:ext cx="10835640" cy="969264"/>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82880" y="1183206"/>
            <a:ext cx="10835640" cy="50886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78704" y="6387128"/>
            <a:ext cx="2703777" cy="338328"/>
          </a:xfrm>
          <a:prstGeom prst="rect">
            <a:avLst/>
          </a:prstGeom>
        </p:spPr>
        <p:txBody>
          <a:bodyPr vert="horz" lIns="91440" tIns="45720" rIns="91440" bIns="45720" rtlCol="0" anchor="ctr"/>
          <a:lstStyle>
            <a:lvl1pPr algn="l">
              <a:defRPr sz="750">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0477500" y="6387128"/>
            <a:ext cx="1032084" cy="338328"/>
          </a:xfrm>
          <a:prstGeom prst="rect">
            <a:avLst/>
          </a:prstGeom>
        </p:spPr>
        <p:txBody>
          <a:bodyPr vert="horz" lIns="91440" tIns="45720" rIns="91440" bIns="45720" rtlCol="0" anchor="ctr"/>
          <a:lstStyle>
            <a:lvl1pPr algn="r">
              <a:defRPr sz="750">
                <a:solidFill>
                  <a:schemeClr val="tx1"/>
                </a:solidFill>
              </a:defRPr>
            </a:lvl1pPr>
          </a:lstStyle>
          <a:p>
            <a:fld id="{0C9DF407-AAD9-4F9F-B512-267BEB339CF5}" type="datetime1">
              <a:rPr lang="en-US" smtClean="0"/>
              <a:t>10/7/2026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09584" y="6387128"/>
            <a:ext cx="457200" cy="338328"/>
          </a:xfrm>
          <a:prstGeom prst="rect">
            <a:avLst/>
          </a:prstGeom>
        </p:spPr>
        <p:txBody>
          <a:bodyPr vert="horz" lIns="91440" tIns="45720" rIns="91440" bIns="45720" rtlCol="0" anchor="ctr"/>
          <a:lstStyle>
            <a:lvl1pPr algn="r">
              <a:defRPr sz="750">
                <a:solidFill>
                  <a:schemeClr val="tx1"/>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34913602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7" r:id="rId3"/>
    <p:sldLayoutId id="2147483669" r:id="rId4"/>
    <p:sldLayoutId id="2147483671" r:id="rId5"/>
    <p:sldLayoutId id="2147483672" r:id="rId6"/>
    <p:sldLayoutId id="2147483673" r:id="rId7"/>
    <p:sldLayoutId id="2147483677" r:id="rId8"/>
    <p:sldLayoutId id="2147483679" r:id="rId9"/>
    <p:sldLayoutId id="2147483680" r:id="rId10"/>
    <p:sldLayoutId id="2147483682" r:id="rId11"/>
    <p:sldLayoutId id="2147483683" r:id="rId12"/>
    <p:sldLayoutId id="2147483685" r:id="rId13"/>
    <p:sldLayoutId id="2147483687" r:id="rId14"/>
    <p:sldLayoutId id="2147483688" r:id="rId15"/>
    <p:sldLayoutId id="2147483691" r:id="rId16"/>
    <p:sldLayoutId id="2147483695" r:id="rId17"/>
    <p:sldLayoutId id="2147483697" r:id="rId18"/>
    <p:sldLayoutId id="2147483699" r:id="rId19"/>
    <p:sldLayoutId id="2147483704" r:id="rId20"/>
    <p:sldLayoutId id="2147483709" r:id="rId21"/>
    <p:sldLayoutId id="2147483714" r:id="rId22"/>
    <p:sldLayoutId id="2147483715" r:id="rId23"/>
    <p:sldLayoutId id="2147483716" r:id="rId24"/>
    <p:sldLayoutId id="2147483722" r:id="rId25"/>
    <p:sldLayoutId id="2147483720" r:id="rId26"/>
    <p:sldLayoutId id="2147483721" r:id="rId27"/>
    <p:sldLayoutId id="2147483723" r:id="rId28"/>
  </p:sldLayoutIdLst>
  <p:hf sldNum="0" hdr="0" ftr="0" dt="0"/>
  <p:txStyles>
    <p:titleStyle>
      <a:lvl1pPr algn="l" defTabSz="914400" rtl="0" eaLnBrk="1" latinLnBrk="0" hangingPunct="1">
        <a:lnSpc>
          <a:spcPct val="85000"/>
        </a:lnSpc>
        <a:spcBef>
          <a:spcPct val="0"/>
        </a:spcBef>
        <a:buNone/>
        <a:defRPr sz="3000" b="0" kern="1200" spc="-100" baseline="0">
          <a:solidFill>
            <a:schemeClr val="tx1"/>
          </a:solidFill>
          <a:latin typeface="+mj-lt"/>
          <a:ea typeface="+mj-ea"/>
          <a:cs typeface="+mj-cs"/>
        </a:defRPr>
      </a:lvl1pPr>
    </p:titleStyle>
    <p:bodyStyle>
      <a:lvl1pPr marL="285750" indent="-28575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5143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7429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715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2001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168">
          <p15:clr>
            <a:srgbClr val="F26B43"/>
          </p15:clr>
        </p15:guide>
        <p15:guide id="4" orient="horz" pos="168">
          <p15:clr>
            <a:srgbClr val="F26B43"/>
          </p15:clr>
        </p15:guide>
        <p15:guide id="5" pos="7512">
          <p15:clr>
            <a:srgbClr val="F26B43"/>
          </p15:clr>
        </p15:guide>
        <p15:guide id="6" orient="horz" pos="4152">
          <p15:clr>
            <a:srgbClr val="F26B43"/>
          </p15:clr>
        </p15:guide>
        <p15:guide id="12" pos="4728">
          <p15:clr>
            <a:srgbClr val="F26B43"/>
          </p15:clr>
        </p15:guide>
        <p15:guide id="13" pos="5328">
          <p15:clr>
            <a:srgbClr val="F26B43"/>
          </p15:clr>
        </p15:guide>
        <p15:guide id="26" pos="2952">
          <p15:clr>
            <a:srgbClr val="F26B43"/>
          </p15:clr>
        </p15:guide>
        <p15:guide id="27" pos="3096">
          <p15:clr>
            <a:srgbClr val="F26B43"/>
          </p15:clr>
        </p15:guide>
        <p15:guide id="29" pos="4128">
          <p15:clr>
            <a:srgbClr val="F26B43"/>
          </p15:clr>
        </p15:guide>
        <p15:guide id="30" pos="1392">
          <p15:clr>
            <a:srgbClr val="F26B43"/>
          </p15:clr>
        </p15:guide>
        <p15:guide id="31"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9.jpg"/><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8.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8.xml"/><Relationship Id="rId4" Type="http://schemas.openxmlformats.org/officeDocument/2006/relationships/image" Target="../media/image21.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3C0FD-749D-7D7A-EE38-057391CAD41B}"/>
              </a:ext>
            </a:extLst>
          </p:cNvPr>
          <p:cNvSpPr>
            <a:spLocks noGrp="1"/>
          </p:cNvSpPr>
          <p:nvPr>
            <p:ph type="title"/>
          </p:nvPr>
        </p:nvSpPr>
        <p:spPr>
          <a:xfrm>
            <a:off x="182880" y="4061862"/>
            <a:ext cx="6421120" cy="2268359"/>
          </a:xfrm>
        </p:spPr>
        <p:txBody>
          <a:bodyPr>
            <a:normAutofit/>
          </a:bodyPr>
          <a:lstStyle/>
          <a:p>
            <a:r>
              <a:rPr lang="en-CN" sz="3200" dirty="0"/>
              <a:t>Armor Ballistics &amp; Bullet Chemistry</a:t>
            </a:r>
            <a:br>
              <a:rPr lang="en-CN" sz="3200" dirty="0"/>
            </a:br>
            <a:br>
              <a:rPr lang="en-CN" sz="3200" dirty="0"/>
            </a:br>
            <a:r>
              <a:rPr lang="en-CN" sz="3200" dirty="0"/>
              <a:t>Pressure vs Steel</a:t>
            </a:r>
          </a:p>
        </p:txBody>
      </p:sp>
      <p:pic>
        <p:nvPicPr>
          <p:cNvPr id="11" name="Picture Placeholder 10">
            <a:extLst>
              <a:ext uri="{FF2B5EF4-FFF2-40B4-BE49-F238E27FC236}">
                <a16:creationId xmlns:a16="http://schemas.microsoft.com/office/drawing/2014/main" id="{6DE5B3C9-65AC-8300-CA10-0F49BDF5FDCE}"/>
              </a:ext>
            </a:extLst>
          </p:cNvPr>
          <p:cNvPicPr>
            <a:picLocks noGrp="1" noChangeAspect="1"/>
          </p:cNvPicPr>
          <p:nvPr>
            <p:ph type="pic" sz="quarter" idx="14"/>
          </p:nvPr>
        </p:nvPicPr>
        <p:blipFill>
          <a:blip r:embed="rId2" cstate="email">
            <a:extLst>
              <a:ext uri="{28A0092B-C50C-407E-A947-70E740481C1C}">
                <a14:useLocalDpi xmlns:a14="http://schemas.microsoft.com/office/drawing/2010/main" val="0"/>
              </a:ext>
            </a:extLst>
          </a:blip>
          <a:srcRect t="27396" r="1" b="21817"/>
          <a:stretch>
            <a:fillRect/>
          </a:stretch>
        </p:blipFill>
        <p:spPr>
          <a:xfrm>
            <a:off x="274320" y="268508"/>
            <a:ext cx="11649456" cy="3609085"/>
          </a:xfrm>
          <a:custGeom>
            <a:avLst/>
            <a:gdLst>
              <a:gd name="connsiteX0" fmla="*/ 291359 w 7238998"/>
              <a:gd name="connsiteY0" fmla="*/ 0 h 6322891"/>
              <a:gd name="connsiteX1" fmla="*/ 6947639 w 7238998"/>
              <a:gd name="connsiteY1" fmla="*/ 0 h 6322891"/>
              <a:gd name="connsiteX2" fmla="*/ 7238998 w 7238998"/>
              <a:gd name="connsiteY2" fmla="*/ 291359 h 6322891"/>
              <a:gd name="connsiteX3" fmla="*/ 7238998 w 7238998"/>
              <a:gd name="connsiteY3" fmla="*/ 6031532 h 6322891"/>
              <a:gd name="connsiteX4" fmla="*/ 6947639 w 7238998"/>
              <a:gd name="connsiteY4" fmla="*/ 6322891 h 6322891"/>
              <a:gd name="connsiteX5" fmla="*/ 291359 w 7238998"/>
              <a:gd name="connsiteY5" fmla="*/ 6322891 h 6322891"/>
              <a:gd name="connsiteX6" fmla="*/ 0 w 7238998"/>
              <a:gd name="connsiteY6" fmla="*/ 6031532 h 6322891"/>
              <a:gd name="connsiteX7" fmla="*/ 0 w 7238998"/>
              <a:gd name="connsiteY7" fmla="*/ 291359 h 6322891"/>
              <a:gd name="connsiteX8" fmla="*/ 291359 w 7238998"/>
              <a:gd name="connsiteY8" fmla="*/ 0 h 6322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38998" h="6322891">
                <a:moveTo>
                  <a:pt x="291359" y="0"/>
                </a:moveTo>
                <a:lnTo>
                  <a:pt x="6947639" y="0"/>
                </a:lnTo>
                <a:cubicBezTo>
                  <a:pt x="7108552" y="0"/>
                  <a:pt x="7238998" y="130446"/>
                  <a:pt x="7238998" y="291359"/>
                </a:cubicBezTo>
                <a:lnTo>
                  <a:pt x="7238998" y="6031532"/>
                </a:lnTo>
                <a:cubicBezTo>
                  <a:pt x="7238998" y="6192445"/>
                  <a:pt x="7108552" y="6322891"/>
                  <a:pt x="6947639" y="6322891"/>
                </a:cubicBezTo>
                <a:lnTo>
                  <a:pt x="291359" y="6322891"/>
                </a:lnTo>
                <a:cubicBezTo>
                  <a:pt x="130446" y="6322891"/>
                  <a:pt x="0" y="6192445"/>
                  <a:pt x="0" y="6031532"/>
                </a:cubicBezTo>
                <a:lnTo>
                  <a:pt x="0" y="291359"/>
                </a:lnTo>
                <a:cubicBezTo>
                  <a:pt x="0" y="130446"/>
                  <a:pt x="130446" y="0"/>
                  <a:pt x="291359" y="0"/>
                </a:cubicBezTo>
                <a:close/>
              </a:path>
            </a:pathLst>
          </a:custGeom>
          <a:noFill/>
        </p:spPr>
      </p:pic>
      <p:sp>
        <p:nvSpPr>
          <p:cNvPr id="3" name="Subtitle 2">
            <a:extLst>
              <a:ext uri="{FF2B5EF4-FFF2-40B4-BE49-F238E27FC236}">
                <a16:creationId xmlns:a16="http://schemas.microsoft.com/office/drawing/2014/main" id="{E55ACF7A-9346-764A-3AF8-29BF39CAA3EF}"/>
              </a:ext>
            </a:extLst>
          </p:cNvPr>
          <p:cNvSpPr>
            <a:spLocks noGrp="1"/>
          </p:cNvSpPr>
          <p:nvPr>
            <p:ph sz="quarter" idx="13"/>
          </p:nvPr>
        </p:nvSpPr>
        <p:spPr>
          <a:xfrm>
            <a:off x="7515973" y="4039118"/>
            <a:ext cx="4419601" cy="2268360"/>
          </a:xfrm>
        </p:spPr>
        <p:txBody>
          <a:bodyPr>
            <a:normAutofit/>
          </a:bodyPr>
          <a:lstStyle/>
          <a:p>
            <a:pPr marL="0" indent="0">
              <a:buNone/>
            </a:pPr>
            <a:r>
              <a:rPr lang="en-CN" sz="2800"/>
              <a:t>Presented by </a:t>
            </a:r>
          </a:p>
          <a:p>
            <a:pPr marL="0" indent="0">
              <a:buNone/>
            </a:pPr>
            <a:r>
              <a:rPr lang="en-CN" sz="2800"/>
              <a:t>Hudson 8(7)</a:t>
            </a:r>
          </a:p>
          <a:p>
            <a:pPr marL="0" indent="0">
              <a:buNone/>
            </a:pPr>
            <a:r>
              <a:rPr lang="en-CN" sz="2800"/>
              <a:t>Raymond 8(6)</a:t>
            </a:r>
          </a:p>
        </p:txBody>
      </p:sp>
    </p:spTree>
    <p:extLst>
      <p:ext uri="{BB962C8B-B14F-4D97-AF65-F5344CB8AC3E}">
        <p14:creationId xmlns:p14="http://schemas.microsoft.com/office/powerpoint/2010/main" val="9592633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7D4CE-4B26-12A6-972E-5CF6D70EBE05}"/>
              </a:ext>
            </a:extLst>
          </p:cNvPr>
          <p:cNvSpPr>
            <a:spLocks noGrp="1"/>
          </p:cNvSpPr>
          <p:nvPr>
            <p:ph type="title"/>
          </p:nvPr>
        </p:nvSpPr>
        <p:spPr>
          <a:xfrm>
            <a:off x="182880" y="219456"/>
            <a:ext cx="11326704" cy="1041564"/>
          </a:xfrm>
        </p:spPr>
        <p:txBody>
          <a:bodyPr>
            <a:normAutofit/>
          </a:bodyPr>
          <a:lstStyle/>
          <a:p>
            <a:r>
              <a:rPr lang="en-CN"/>
              <a:t>What is Armor?</a:t>
            </a:r>
          </a:p>
        </p:txBody>
      </p:sp>
      <p:sp>
        <p:nvSpPr>
          <p:cNvPr id="3" name="Content Placeholder 2">
            <a:extLst>
              <a:ext uri="{FF2B5EF4-FFF2-40B4-BE49-F238E27FC236}">
                <a16:creationId xmlns:a16="http://schemas.microsoft.com/office/drawing/2014/main" id="{F81B7DFE-9E5F-A3E9-E29D-BC3BA9D69DE9}"/>
              </a:ext>
            </a:extLst>
          </p:cNvPr>
          <p:cNvSpPr>
            <a:spLocks noGrp="1"/>
          </p:cNvSpPr>
          <p:nvPr>
            <p:ph sz="quarter" idx="15"/>
          </p:nvPr>
        </p:nvSpPr>
        <p:spPr>
          <a:xfrm>
            <a:off x="182880" y="1645920"/>
            <a:ext cx="5420409" cy="4741588"/>
          </a:xfrm>
        </p:spPr>
        <p:txBody>
          <a:bodyPr>
            <a:normAutofit/>
          </a:bodyPr>
          <a:lstStyle/>
          <a:p>
            <a:r>
              <a:rPr lang="en-CN" sz="2000"/>
              <a:t>Armor is the protective layer that prevents </a:t>
            </a:r>
            <a:r>
              <a:rPr lang="en-CN" sz="2000" b="1"/>
              <a:t>most physical force</a:t>
            </a:r>
            <a:r>
              <a:rPr lang="en-CN" sz="2000"/>
              <a:t> from damaging the body</a:t>
            </a:r>
          </a:p>
          <a:p>
            <a:r>
              <a:rPr lang="en-CN" sz="2000"/>
              <a:t>For example, Armor can stop shrapnel from reaching the body by blocking </a:t>
            </a:r>
            <a:r>
              <a:rPr lang="en-US" sz="2000"/>
              <a:t>i</a:t>
            </a:r>
            <a:r>
              <a:rPr lang="en-CN" sz="2000"/>
              <a:t>t off, or letting it embed into the armor if the armor is not strong enough to deflect the force</a:t>
            </a:r>
          </a:p>
          <a:p>
            <a:r>
              <a:rPr lang="en-CN" sz="2000"/>
              <a:t>In this discussion, we will focus on how armor</a:t>
            </a:r>
            <a:r>
              <a:rPr lang="zh-CN" altLang="en-US" sz="2000"/>
              <a:t> </a:t>
            </a:r>
            <a:r>
              <a:rPr lang="en-US" altLang="zh-CN" sz="2000"/>
              <a:t>can stop bullets, and how bullets penetrate armor</a:t>
            </a:r>
            <a:endParaRPr lang="en-CN" sz="2000"/>
          </a:p>
        </p:txBody>
      </p:sp>
      <p:pic>
        <p:nvPicPr>
          <p:cNvPr id="6" name="Picture Placeholder 5">
            <a:extLst>
              <a:ext uri="{FF2B5EF4-FFF2-40B4-BE49-F238E27FC236}">
                <a16:creationId xmlns:a16="http://schemas.microsoft.com/office/drawing/2014/main" id="{1CD76683-A3BE-BEBC-A478-F3E90F42855B}"/>
              </a:ext>
            </a:extLst>
          </p:cNvPr>
          <p:cNvPicPr>
            <a:picLocks noGrp="1" noChangeAspect="1"/>
          </p:cNvPicPr>
          <p:nvPr>
            <p:ph sz="quarter" idx="16"/>
          </p:nvPr>
        </p:nvPicPr>
        <p:blipFill>
          <a:blip r:embed="rId3" cstate="email">
            <a:extLst>
              <a:ext uri="{28A0092B-C50C-407E-A947-70E740481C1C}">
                <a14:useLocalDpi xmlns:a14="http://schemas.microsoft.com/office/drawing/2010/main" val="0"/>
              </a:ext>
            </a:extLst>
          </a:blip>
          <a:stretch>
            <a:fillRect/>
          </a:stretch>
        </p:blipFill>
        <p:spPr>
          <a:xfrm>
            <a:off x="7100896" y="1645920"/>
            <a:ext cx="3556191" cy="4741588"/>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noFill/>
        </p:spPr>
      </p:pic>
    </p:spTree>
    <p:extLst>
      <p:ext uri="{BB962C8B-B14F-4D97-AF65-F5344CB8AC3E}">
        <p14:creationId xmlns:p14="http://schemas.microsoft.com/office/powerpoint/2010/main" val="335593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4710E-1CC4-A517-E9FB-A1CA7112EAA7}"/>
              </a:ext>
            </a:extLst>
          </p:cNvPr>
          <p:cNvSpPr>
            <a:spLocks noGrp="1"/>
          </p:cNvSpPr>
          <p:nvPr>
            <p:ph type="title"/>
          </p:nvPr>
        </p:nvSpPr>
        <p:spPr>
          <a:xfrm>
            <a:off x="185878" y="216452"/>
            <a:ext cx="3381587" cy="2213524"/>
          </a:xfrm>
        </p:spPr>
        <p:txBody>
          <a:bodyPr>
            <a:normAutofit/>
          </a:bodyPr>
          <a:lstStyle/>
          <a:p>
            <a:r>
              <a:rPr lang="en-CN"/>
              <a:t>What is Bullet Calibre?</a:t>
            </a:r>
          </a:p>
        </p:txBody>
      </p:sp>
      <p:pic>
        <p:nvPicPr>
          <p:cNvPr id="8" name="Picture Placeholder 7">
            <a:extLst>
              <a:ext uri="{FF2B5EF4-FFF2-40B4-BE49-F238E27FC236}">
                <a16:creationId xmlns:a16="http://schemas.microsoft.com/office/drawing/2014/main" id="{EC734C39-2ADA-A769-C67A-467C3F2309DA}"/>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5318" b="931"/>
          <a:stretch>
            <a:fillRect/>
          </a:stretch>
        </p:blipFill>
        <p:spPr>
          <a:xfrm>
            <a:off x="274220" y="1123627"/>
            <a:ext cx="11651080" cy="5734373"/>
          </a:xfrm>
          <a:custGeom>
            <a:avLst/>
            <a:gdLst>
              <a:gd name="connsiteX0" fmla="*/ 298989 w 11651080"/>
              <a:gd name="connsiteY0" fmla="*/ 0 h 3656020"/>
              <a:gd name="connsiteX1" fmla="*/ 11352091 w 11651080"/>
              <a:gd name="connsiteY1" fmla="*/ 0 h 3656020"/>
              <a:gd name="connsiteX2" fmla="*/ 11651080 w 11651080"/>
              <a:gd name="connsiteY2" fmla="*/ 298989 h 3656020"/>
              <a:gd name="connsiteX3" fmla="*/ 11651080 w 11651080"/>
              <a:gd name="connsiteY3" fmla="*/ 3357031 h 3656020"/>
              <a:gd name="connsiteX4" fmla="*/ 11352091 w 11651080"/>
              <a:gd name="connsiteY4" fmla="*/ 3656020 h 3656020"/>
              <a:gd name="connsiteX5" fmla="*/ 298989 w 11651080"/>
              <a:gd name="connsiteY5" fmla="*/ 3656020 h 3656020"/>
              <a:gd name="connsiteX6" fmla="*/ 0 w 11651080"/>
              <a:gd name="connsiteY6" fmla="*/ 3357031 h 3656020"/>
              <a:gd name="connsiteX7" fmla="*/ 0 w 11651080"/>
              <a:gd name="connsiteY7" fmla="*/ 298989 h 3656020"/>
              <a:gd name="connsiteX8" fmla="*/ 298989 w 11651080"/>
              <a:gd name="connsiteY8" fmla="*/ 0 h 3656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3656020">
                <a:moveTo>
                  <a:pt x="298989" y="0"/>
                </a:moveTo>
                <a:lnTo>
                  <a:pt x="11352091" y="0"/>
                </a:lnTo>
                <a:cubicBezTo>
                  <a:pt x="11517218" y="0"/>
                  <a:pt x="11651080" y="133862"/>
                  <a:pt x="11651080" y="298989"/>
                </a:cubicBezTo>
                <a:lnTo>
                  <a:pt x="11651080" y="3357031"/>
                </a:lnTo>
                <a:cubicBezTo>
                  <a:pt x="11651080" y="3522158"/>
                  <a:pt x="11517218" y="3656020"/>
                  <a:pt x="11352091" y="3656020"/>
                </a:cubicBezTo>
                <a:lnTo>
                  <a:pt x="298989" y="3656020"/>
                </a:lnTo>
                <a:cubicBezTo>
                  <a:pt x="133862" y="3656020"/>
                  <a:pt x="0" y="3522158"/>
                  <a:pt x="0" y="3357031"/>
                </a:cubicBezTo>
                <a:lnTo>
                  <a:pt x="0" y="298989"/>
                </a:lnTo>
                <a:cubicBezTo>
                  <a:pt x="0" y="133862"/>
                  <a:pt x="133862" y="0"/>
                  <a:pt x="298989" y="0"/>
                </a:cubicBezTo>
                <a:close/>
              </a:path>
            </a:pathLst>
          </a:custGeom>
          <a:blipFill dpi="0" rotWithShape="1">
            <a:blip r:embed="rId3">
              <a:alphaModFix amt="60000"/>
              <a:extLst>
                <a:ext uri="{28A0092B-C50C-407E-A947-70E740481C1C}">
                  <a14:useLocalDpi xmlns:a14="http://schemas.microsoft.com/office/drawing/2010/main" val="0"/>
                </a:ext>
              </a:extLst>
            </a:blip>
            <a:srcRect/>
            <a:stretch>
              <a:fillRect/>
            </a:stretch>
          </a:blipFill>
        </p:spPr>
      </p:pic>
      <p:sp>
        <p:nvSpPr>
          <p:cNvPr id="4" name="Content Placeholder 3">
            <a:extLst>
              <a:ext uri="{FF2B5EF4-FFF2-40B4-BE49-F238E27FC236}">
                <a16:creationId xmlns:a16="http://schemas.microsoft.com/office/drawing/2014/main" id="{71C5792F-D7AB-2A08-6FC3-625B95722590}"/>
              </a:ext>
            </a:extLst>
          </p:cNvPr>
          <p:cNvSpPr>
            <a:spLocks noGrp="1"/>
          </p:cNvSpPr>
          <p:nvPr>
            <p:ph sz="quarter" idx="14"/>
          </p:nvPr>
        </p:nvSpPr>
        <p:spPr>
          <a:xfrm>
            <a:off x="3962400" y="177492"/>
            <a:ext cx="6274904" cy="2286000"/>
          </a:xfrm>
        </p:spPr>
        <p:txBody>
          <a:bodyPr>
            <a:normAutofit/>
          </a:bodyPr>
          <a:lstStyle/>
          <a:p>
            <a:r>
              <a:rPr lang="en-CN"/>
              <a:t>Calibre means </a:t>
            </a:r>
            <a:r>
              <a:rPr lang="en-CN" b="1"/>
              <a:t>The diameter of a bullet</a:t>
            </a:r>
          </a:p>
          <a:p>
            <a:r>
              <a:rPr lang="en-CN"/>
              <a:t>Calibre only means the size of the bullet, while other factors affect penetration and velocity more.</a:t>
            </a:r>
          </a:p>
          <a:p>
            <a:pPr>
              <a:lnSpc>
                <a:spcPct val="150000"/>
              </a:lnSpc>
            </a:pPr>
            <a:r>
              <a:rPr lang="en-CN"/>
              <a:t>Power is decided by Cartridge, which is </a:t>
            </a:r>
            <a:r>
              <a:rPr lang="en-CN" b="1"/>
              <a:t>bullet length</a:t>
            </a:r>
            <a:r>
              <a:rPr lang="en-CN"/>
              <a:t>, </a:t>
            </a:r>
            <a:r>
              <a:rPr lang="en-CN" b="1"/>
              <a:t>gunpowder</a:t>
            </a:r>
            <a:r>
              <a:rPr lang="en-CN"/>
              <a:t>, and </a:t>
            </a:r>
            <a:r>
              <a:rPr lang="en-CN" b="1"/>
              <a:t>pressure</a:t>
            </a:r>
          </a:p>
        </p:txBody>
      </p:sp>
    </p:spTree>
    <p:extLst>
      <p:ext uri="{BB962C8B-B14F-4D97-AF65-F5344CB8AC3E}">
        <p14:creationId xmlns:p14="http://schemas.microsoft.com/office/powerpoint/2010/main" val="2570191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dissolv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dissolve">
                                      <p:cBhvr>
                                        <p:cTn id="12" dur="500"/>
                                        <p:tgtEl>
                                          <p:spTgt spid="4">
                                            <p:txEl>
                                              <p:pRg st="1" end="1"/>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dissolve">
                                      <p:cBhvr>
                                        <p:cTn id="15"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72A1F-FBA2-D79E-02E9-5C83BC377372}"/>
              </a:ext>
            </a:extLst>
          </p:cNvPr>
          <p:cNvSpPr>
            <a:spLocks noGrp="1"/>
          </p:cNvSpPr>
          <p:nvPr>
            <p:ph type="ctrTitle"/>
          </p:nvPr>
        </p:nvSpPr>
        <p:spPr>
          <a:xfrm>
            <a:off x="7660262" y="208754"/>
            <a:ext cx="4066072" cy="3725937"/>
          </a:xfrm>
        </p:spPr>
        <p:txBody>
          <a:bodyPr>
            <a:normAutofit/>
          </a:bodyPr>
          <a:lstStyle/>
          <a:p>
            <a:r>
              <a:rPr lang="en-CN"/>
              <a:t>Bullet Structure</a:t>
            </a:r>
          </a:p>
        </p:txBody>
      </p:sp>
      <p:sp>
        <p:nvSpPr>
          <p:cNvPr id="4" name="Content Placeholder 3">
            <a:extLst>
              <a:ext uri="{FF2B5EF4-FFF2-40B4-BE49-F238E27FC236}">
                <a16:creationId xmlns:a16="http://schemas.microsoft.com/office/drawing/2014/main" id="{2C179F2C-0E9B-27D0-3982-CC108EED9A1E}"/>
              </a:ext>
            </a:extLst>
          </p:cNvPr>
          <p:cNvSpPr>
            <a:spLocks noGrp="1"/>
          </p:cNvSpPr>
          <p:nvPr>
            <p:ph type="subTitle" idx="1"/>
          </p:nvPr>
        </p:nvSpPr>
        <p:spPr>
          <a:xfrm>
            <a:off x="242887" y="539102"/>
            <a:ext cx="7043737" cy="1004961"/>
          </a:xfrm>
        </p:spPr>
        <p:txBody>
          <a:bodyPr anchor="b">
            <a:noAutofit/>
          </a:bodyPr>
          <a:lstStyle/>
          <a:p>
            <a:pPr marL="0" indent="0">
              <a:buNone/>
            </a:pPr>
            <a:r>
              <a:rPr lang="en-CN" sz="2400"/>
              <a:t>Quiz: Which of the following is the correct bullet structure?</a:t>
            </a:r>
          </a:p>
        </p:txBody>
      </p:sp>
      <p:grpSp>
        <p:nvGrpSpPr>
          <p:cNvPr id="15" name="Group 14">
            <a:extLst>
              <a:ext uri="{FF2B5EF4-FFF2-40B4-BE49-F238E27FC236}">
                <a16:creationId xmlns:a16="http://schemas.microsoft.com/office/drawing/2014/main" id="{32FFE904-45FB-E02A-435E-46529B2F85A4}"/>
              </a:ext>
            </a:extLst>
          </p:cNvPr>
          <p:cNvGrpSpPr/>
          <p:nvPr/>
        </p:nvGrpSpPr>
        <p:grpSpPr>
          <a:xfrm>
            <a:off x="465666" y="1719336"/>
            <a:ext cx="4747114" cy="1734417"/>
            <a:chOff x="465666" y="1719336"/>
            <a:chExt cx="4747114" cy="1734417"/>
          </a:xfrm>
        </p:grpSpPr>
        <p:pic>
          <p:nvPicPr>
            <p:cNvPr id="7" name="Picture 6">
              <a:extLst>
                <a:ext uri="{FF2B5EF4-FFF2-40B4-BE49-F238E27FC236}">
                  <a16:creationId xmlns:a16="http://schemas.microsoft.com/office/drawing/2014/main" id="{B4499720-E036-E50F-257B-0F144F744FBA}"/>
                </a:ext>
              </a:extLst>
            </p:cNvPr>
            <p:cNvPicPr>
              <a:picLocks noChangeAspect="1"/>
            </p:cNvPicPr>
            <p:nvPr/>
          </p:nvPicPr>
          <p:blipFill>
            <a:blip r:embed="rId3" cstate="email">
              <a:extLst>
                <a:ext uri="{28A0092B-C50C-407E-A947-70E740481C1C}">
                  <a14:useLocalDpi xmlns:a14="http://schemas.microsoft.com/office/drawing/2010/main" val="0"/>
                </a:ext>
              </a:extLst>
            </a:blip>
            <a:srcRect l="6842" t="26568" r="11475" b="7266"/>
            <a:stretch>
              <a:fillRect/>
            </a:stretch>
          </p:blipFill>
          <p:spPr>
            <a:xfrm>
              <a:off x="1381148" y="1719336"/>
              <a:ext cx="3831632" cy="1734417"/>
            </a:xfrm>
            <a:prstGeom prst="rect">
              <a:avLst/>
            </a:prstGeom>
          </p:spPr>
        </p:pic>
        <p:sp>
          <p:nvSpPr>
            <p:cNvPr id="12" name="Rectangle 11">
              <a:extLst>
                <a:ext uri="{FF2B5EF4-FFF2-40B4-BE49-F238E27FC236}">
                  <a16:creationId xmlns:a16="http://schemas.microsoft.com/office/drawing/2014/main" id="{785BF8DD-25D3-9750-A320-B3C5CE3DED1C}"/>
                </a:ext>
              </a:extLst>
            </p:cNvPr>
            <p:cNvSpPr/>
            <p:nvPr/>
          </p:nvSpPr>
          <p:spPr>
            <a:xfrm>
              <a:off x="465666" y="2244674"/>
              <a:ext cx="668773" cy="923330"/>
            </a:xfrm>
            <a:prstGeom prst="rect">
              <a:avLst/>
            </a:prstGeom>
            <a:noFill/>
          </p:spPr>
          <p:txBody>
            <a:bodyPr wrap="none" lIns="91440" tIns="45720" rIns="91440" bIns="45720">
              <a:spAutoFit/>
            </a:bodyPr>
            <a:lstStyle/>
            <a:p>
              <a:pPr algn="ctr"/>
              <a:r>
                <a:rPr lang="en-US" sz="5400" b="0" cap="none" spc="0">
                  <a:ln w="0"/>
                  <a:solidFill>
                    <a:schemeClr val="tx1"/>
                  </a:solidFill>
                  <a:effectLst>
                    <a:outerShdw blurRad="38100" dist="19050" dir="2700000" algn="tl" rotWithShape="0">
                      <a:schemeClr val="dk1">
                        <a:alpha val="40000"/>
                      </a:schemeClr>
                    </a:outerShdw>
                  </a:effectLst>
                </a:rPr>
                <a:t>A</a:t>
              </a:r>
            </a:p>
          </p:txBody>
        </p:sp>
      </p:grpSp>
      <p:grpSp>
        <p:nvGrpSpPr>
          <p:cNvPr id="16" name="Group 15">
            <a:extLst>
              <a:ext uri="{FF2B5EF4-FFF2-40B4-BE49-F238E27FC236}">
                <a16:creationId xmlns:a16="http://schemas.microsoft.com/office/drawing/2014/main" id="{35630B09-6B27-5BAD-E840-7020198EAC1F}"/>
              </a:ext>
            </a:extLst>
          </p:cNvPr>
          <p:cNvGrpSpPr/>
          <p:nvPr/>
        </p:nvGrpSpPr>
        <p:grpSpPr>
          <a:xfrm>
            <a:off x="2387623" y="3629026"/>
            <a:ext cx="5003778" cy="1900239"/>
            <a:chOff x="2387623" y="3629026"/>
            <a:chExt cx="5003778" cy="1900239"/>
          </a:xfrm>
        </p:grpSpPr>
        <p:pic>
          <p:nvPicPr>
            <p:cNvPr id="9" name="Picture 8">
              <a:extLst>
                <a:ext uri="{FF2B5EF4-FFF2-40B4-BE49-F238E27FC236}">
                  <a16:creationId xmlns:a16="http://schemas.microsoft.com/office/drawing/2014/main" id="{758463D3-A674-96DC-5F7A-83CEB2D94529}"/>
                </a:ext>
              </a:extLst>
            </p:cNvPr>
            <p:cNvPicPr>
              <a:picLocks noChangeAspect="1"/>
            </p:cNvPicPr>
            <p:nvPr/>
          </p:nvPicPr>
          <p:blipFill>
            <a:blip r:embed="rId4" cstate="email">
              <a:extLst>
                <a:ext uri="{28A0092B-C50C-407E-A947-70E740481C1C}">
                  <a14:useLocalDpi xmlns:a14="http://schemas.microsoft.com/office/drawing/2010/main" val="0"/>
                </a:ext>
              </a:extLst>
            </a:blip>
            <a:srcRect l="9188" t="21728" r="6685" b="5728"/>
            <a:stretch>
              <a:fillRect/>
            </a:stretch>
          </p:blipFill>
          <p:spPr>
            <a:xfrm>
              <a:off x="3448051" y="3629026"/>
              <a:ext cx="3943350" cy="1900239"/>
            </a:xfrm>
            <a:prstGeom prst="rect">
              <a:avLst/>
            </a:prstGeom>
          </p:spPr>
        </p:pic>
        <p:sp>
          <p:nvSpPr>
            <p:cNvPr id="13" name="Rectangle 12">
              <a:extLst>
                <a:ext uri="{FF2B5EF4-FFF2-40B4-BE49-F238E27FC236}">
                  <a16:creationId xmlns:a16="http://schemas.microsoft.com/office/drawing/2014/main" id="{8C32666B-2BD1-1A64-D17E-530BD1C513A5}"/>
                </a:ext>
              </a:extLst>
            </p:cNvPr>
            <p:cNvSpPr/>
            <p:nvPr/>
          </p:nvSpPr>
          <p:spPr>
            <a:xfrm>
              <a:off x="2387623" y="4368749"/>
              <a:ext cx="668773" cy="923330"/>
            </a:xfrm>
            <a:prstGeom prst="rect">
              <a:avLst/>
            </a:prstGeom>
            <a:noFill/>
          </p:spPr>
          <p:txBody>
            <a:bodyPr wrap="none" lIns="91440" tIns="45720" rIns="91440" bIns="45720">
              <a:spAutoFit/>
            </a:bodyPr>
            <a:lstStyle/>
            <a:p>
              <a:pPr algn="ctr"/>
              <a:r>
                <a:rPr lang="en-US" sz="5400" b="0" cap="none" spc="0">
                  <a:ln w="0"/>
                  <a:solidFill>
                    <a:schemeClr val="tx1"/>
                  </a:solidFill>
                  <a:effectLst>
                    <a:outerShdw blurRad="38100" dist="19050" dir="2700000" algn="tl" rotWithShape="0">
                      <a:schemeClr val="dk1">
                        <a:alpha val="40000"/>
                      </a:schemeClr>
                    </a:outerShdw>
                  </a:effectLst>
                </a:rPr>
                <a:t>B</a:t>
              </a:r>
            </a:p>
          </p:txBody>
        </p:sp>
      </p:grpSp>
      <p:grpSp>
        <p:nvGrpSpPr>
          <p:cNvPr id="17" name="Group 16">
            <a:extLst>
              <a:ext uri="{FF2B5EF4-FFF2-40B4-BE49-F238E27FC236}">
                <a16:creationId xmlns:a16="http://schemas.microsoft.com/office/drawing/2014/main" id="{8A9AB052-FC01-C76A-CB96-D84DB6670518}"/>
              </a:ext>
            </a:extLst>
          </p:cNvPr>
          <p:cNvGrpSpPr/>
          <p:nvPr/>
        </p:nvGrpSpPr>
        <p:grpSpPr>
          <a:xfrm>
            <a:off x="7036977" y="4957760"/>
            <a:ext cx="4807360" cy="1785937"/>
            <a:chOff x="7036977" y="4957760"/>
            <a:chExt cx="4807360" cy="1785937"/>
          </a:xfrm>
        </p:grpSpPr>
        <p:pic>
          <p:nvPicPr>
            <p:cNvPr id="11" name="Picture 10">
              <a:extLst>
                <a:ext uri="{FF2B5EF4-FFF2-40B4-BE49-F238E27FC236}">
                  <a16:creationId xmlns:a16="http://schemas.microsoft.com/office/drawing/2014/main" id="{1C1CCB3D-76AB-B418-6AF3-7971C9307229}"/>
                </a:ext>
              </a:extLst>
            </p:cNvPr>
            <p:cNvPicPr>
              <a:picLocks noChangeAspect="1"/>
            </p:cNvPicPr>
            <p:nvPr/>
          </p:nvPicPr>
          <p:blipFill>
            <a:blip r:embed="rId5" cstate="email">
              <a:extLst>
                <a:ext uri="{28A0092B-C50C-407E-A947-70E740481C1C}">
                  <a14:useLocalDpi xmlns:a14="http://schemas.microsoft.com/office/drawing/2010/main" val="0"/>
                </a:ext>
              </a:extLst>
            </a:blip>
            <a:srcRect l="4190" t="18769" b="5641"/>
            <a:stretch>
              <a:fillRect/>
            </a:stretch>
          </p:blipFill>
          <p:spPr>
            <a:xfrm>
              <a:off x="7793593" y="4957760"/>
              <a:ext cx="4050744" cy="1785937"/>
            </a:xfrm>
            <a:prstGeom prst="rect">
              <a:avLst/>
            </a:prstGeom>
          </p:spPr>
        </p:pic>
        <p:sp>
          <p:nvSpPr>
            <p:cNvPr id="14" name="Rectangle 13">
              <a:extLst>
                <a:ext uri="{FF2B5EF4-FFF2-40B4-BE49-F238E27FC236}">
                  <a16:creationId xmlns:a16="http://schemas.microsoft.com/office/drawing/2014/main" id="{0797C0A7-6EA1-C34A-83FD-220BC9DB6D8B}"/>
                </a:ext>
              </a:extLst>
            </p:cNvPr>
            <p:cNvSpPr/>
            <p:nvPr/>
          </p:nvSpPr>
          <p:spPr>
            <a:xfrm>
              <a:off x="7036977" y="5776010"/>
              <a:ext cx="708848" cy="923330"/>
            </a:xfrm>
            <a:prstGeom prst="rect">
              <a:avLst/>
            </a:prstGeom>
            <a:noFill/>
          </p:spPr>
          <p:txBody>
            <a:bodyPr wrap="none" lIns="91440" tIns="45720" rIns="91440" bIns="45720">
              <a:spAutoFit/>
            </a:bodyPr>
            <a:lstStyle/>
            <a:p>
              <a:pPr algn="ctr"/>
              <a:r>
                <a:rPr lang="en-US" sz="5400" b="0" cap="none" spc="0">
                  <a:ln w="0"/>
                  <a:solidFill>
                    <a:schemeClr val="tx1"/>
                  </a:solidFill>
                  <a:effectLst>
                    <a:outerShdw blurRad="38100" dist="19050" dir="2700000" algn="tl" rotWithShape="0">
                      <a:schemeClr val="dk1">
                        <a:alpha val="40000"/>
                      </a:schemeClr>
                    </a:outerShdw>
                  </a:effectLst>
                </a:rPr>
                <a:t>C</a:t>
              </a:r>
            </a:p>
          </p:txBody>
        </p:sp>
      </p:grpSp>
    </p:spTree>
    <p:extLst>
      <p:ext uri="{BB962C8B-B14F-4D97-AF65-F5344CB8AC3E}">
        <p14:creationId xmlns:p14="http://schemas.microsoft.com/office/powerpoint/2010/main" val="442852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dissolv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dissolv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dissolve">
                                      <p:cBhvr>
                                        <p:cTn id="1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0B67D-632E-2E9E-020F-111FAACAFDF8}"/>
              </a:ext>
            </a:extLst>
          </p:cNvPr>
          <p:cNvSpPr>
            <a:spLocks noGrp="1"/>
          </p:cNvSpPr>
          <p:nvPr>
            <p:ph type="title"/>
          </p:nvPr>
        </p:nvSpPr>
        <p:spPr>
          <a:xfrm>
            <a:off x="182880" y="219456"/>
            <a:ext cx="3310394" cy="4058127"/>
          </a:xfrm>
        </p:spPr>
        <p:txBody>
          <a:bodyPr>
            <a:normAutofit/>
          </a:bodyPr>
          <a:lstStyle/>
          <a:p>
            <a:r>
              <a:rPr lang="en-CN"/>
              <a:t>Bullet Structure</a:t>
            </a:r>
          </a:p>
        </p:txBody>
      </p:sp>
      <p:pic>
        <p:nvPicPr>
          <p:cNvPr id="6" name="Picture Placeholder 5">
            <a:extLst>
              <a:ext uri="{FF2B5EF4-FFF2-40B4-BE49-F238E27FC236}">
                <a16:creationId xmlns:a16="http://schemas.microsoft.com/office/drawing/2014/main" id="{E089C4F3-758B-612D-666E-9E10AC68EB37}"/>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5254151" y="266700"/>
            <a:ext cx="5125540" cy="6047836"/>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noFill/>
        </p:spPr>
      </p:pic>
      <p:sp>
        <p:nvSpPr>
          <p:cNvPr id="4" name="TextBox 3">
            <a:extLst>
              <a:ext uri="{FF2B5EF4-FFF2-40B4-BE49-F238E27FC236}">
                <a16:creationId xmlns:a16="http://schemas.microsoft.com/office/drawing/2014/main" id="{0ABAED36-0A92-EF15-F52D-08770C2AD791}"/>
              </a:ext>
            </a:extLst>
          </p:cNvPr>
          <p:cNvSpPr txBox="1"/>
          <p:nvPr/>
        </p:nvSpPr>
        <p:spPr>
          <a:xfrm>
            <a:off x="342900" y="1028700"/>
            <a:ext cx="5141600" cy="3139321"/>
          </a:xfrm>
          <a:prstGeom prst="rect">
            <a:avLst/>
          </a:prstGeom>
          <a:noFill/>
        </p:spPr>
        <p:txBody>
          <a:bodyPr wrap="none" rtlCol="0">
            <a:spAutoFit/>
          </a:bodyPr>
          <a:lstStyle/>
          <a:p>
            <a:r>
              <a:rPr lang="en-CN"/>
              <a:t>Primer: </a:t>
            </a:r>
            <a:r>
              <a:rPr lang="en-CN" b="1"/>
              <a:t>Ignites the gunpowder</a:t>
            </a:r>
            <a:r>
              <a:rPr lang="en-CN"/>
              <a:t> when struck</a:t>
            </a:r>
          </a:p>
          <a:p>
            <a:r>
              <a:rPr lang="en-CN"/>
              <a:t>	by firing pin</a:t>
            </a:r>
          </a:p>
          <a:p>
            <a:endParaRPr lang="en-CN"/>
          </a:p>
          <a:p>
            <a:endParaRPr lang="en-CN"/>
          </a:p>
          <a:p>
            <a:endParaRPr lang="en-CN"/>
          </a:p>
          <a:p>
            <a:r>
              <a:rPr lang="en-CN"/>
              <a:t>Cartridge Case: Holds t</a:t>
            </a:r>
            <a:r>
              <a:rPr lang="en-US"/>
              <a:t>he </a:t>
            </a:r>
            <a:r>
              <a:rPr lang="en-US" b="1"/>
              <a:t>bullet</a:t>
            </a:r>
            <a:r>
              <a:rPr lang="en-US"/>
              <a:t>, </a:t>
            </a:r>
            <a:r>
              <a:rPr lang="en-US" b="1"/>
              <a:t>gunpowder</a:t>
            </a:r>
            <a:r>
              <a:rPr lang="en-US"/>
              <a:t>, </a:t>
            </a:r>
          </a:p>
          <a:p>
            <a:r>
              <a:rPr lang="en-US"/>
              <a:t>and </a:t>
            </a:r>
            <a:r>
              <a:rPr lang="en-US" b="1"/>
              <a:t>primer</a:t>
            </a:r>
            <a:r>
              <a:rPr lang="en-CN"/>
              <a:t> together</a:t>
            </a:r>
          </a:p>
          <a:p>
            <a:endParaRPr lang="en-CN"/>
          </a:p>
          <a:p>
            <a:endParaRPr lang="en-CN"/>
          </a:p>
          <a:p>
            <a:endParaRPr lang="en-CN"/>
          </a:p>
          <a:p>
            <a:r>
              <a:rPr lang="en-CN"/>
              <a:t>Bullet: The </a:t>
            </a:r>
            <a:r>
              <a:rPr lang="en-CN" b="1"/>
              <a:t>projectile being fired</a:t>
            </a:r>
          </a:p>
        </p:txBody>
      </p:sp>
    </p:spTree>
    <p:extLst>
      <p:ext uri="{BB962C8B-B14F-4D97-AF65-F5344CB8AC3E}">
        <p14:creationId xmlns:p14="http://schemas.microsoft.com/office/powerpoint/2010/main" val="1257367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anim calcmode="lin" valueType="num">
                                      <p:cBhvr additive="base">
                                        <p:cTn id="15"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anim calcmode="lin" valueType="num">
                                      <p:cBhvr additive="base">
                                        <p:cTn id="19"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
                                            <p:txEl>
                                              <p:pRg st="10" end="10"/>
                                            </p:txEl>
                                          </p:spTgt>
                                        </p:tgtEl>
                                        <p:attrNameLst>
                                          <p:attrName>style.visibility</p:attrName>
                                        </p:attrNameLst>
                                      </p:cBhvr>
                                      <p:to>
                                        <p:strVal val="visible"/>
                                      </p:to>
                                    </p:set>
                                    <p:anim calcmode="lin" valueType="num">
                                      <p:cBhvr additive="base">
                                        <p:cTn id="23"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FF448-E158-10CC-C280-A7B7B08816C6}"/>
              </a:ext>
            </a:extLst>
          </p:cNvPr>
          <p:cNvSpPr>
            <a:spLocks noGrp="1"/>
          </p:cNvSpPr>
          <p:nvPr>
            <p:ph type="title"/>
          </p:nvPr>
        </p:nvSpPr>
        <p:spPr>
          <a:xfrm>
            <a:off x="7513755" y="219456"/>
            <a:ext cx="3891435" cy="1225339"/>
          </a:xfrm>
        </p:spPr>
        <p:txBody>
          <a:bodyPr>
            <a:normAutofit/>
          </a:bodyPr>
          <a:lstStyle/>
          <a:p>
            <a:r>
              <a:rPr lang="en-CN" sz="2800"/>
              <a:t>Chemical Reaction:</a:t>
            </a:r>
            <a:br>
              <a:rPr lang="en-CN" sz="2800"/>
            </a:br>
            <a:r>
              <a:rPr lang="en-CN" sz="2800"/>
              <a:t>The Exothermic Oxidation Reaction</a:t>
            </a:r>
          </a:p>
        </p:txBody>
      </p:sp>
      <p:pic>
        <p:nvPicPr>
          <p:cNvPr id="6" name="Picture 5" descr="Glowing blue bubbles">
            <a:extLst>
              <a:ext uri="{FF2B5EF4-FFF2-40B4-BE49-F238E27FC236}">
                <a16:creationId xmlns:a16="http://schemas.microsoft.com/office/drawing/2014/main" id="{617E2B99-AE09-A352-3011-A5DEEFDBD12B}"/>
              </a:ext>
            </a:extLst>
          </p:cNvPr>
          <p:cNvPicPr>
            <a:picLocks noChangeAspect="1"/>
          </p:cNvPicPr>
          <p:nvPr/>
        </p:nvPicPr>
        <p:blipFill>
          <a:blip r:embed="rId2" cstate="email">
            <a:extLst>
              <a:ext uri="{28A0092B-C50C-407E-A947-70E740481C1C}">
                <a14:useLocalDpi xmlns:a14="http://schemas.microsoft.com/office/drawing/2010/main" val="0"/>
              </a:ext>
            </a:extLst>
          </a:blip>
          <a:srcRect l="32080" r="5830"/>
          <a:stretch>
            <a:fillRect/>
          </a:stretch>
        </p:blipFill>
        <p:spPr>
          <a:xfrm>
            <a:off x="270473" y="265176"/>
            <a:ext cx="6984636" cy="6327648"/>
          </a:xfrm>
          <a:custGeom>
            <a:avLst/>
            <a:gdLst>
              <a:gd name="connsiteX0" fmla="*/ 302565 w 7228936"/>
              <a:gd name="connsiteY0" fmla="*/ 0 h 6316602"/>
              <a:gd name="connsiteX1" fmla="*/ 6926371 w 7228936"/>
              <a:gd name="connsiteY1" fmla="*/ 0 h 6316602"/>
              <a:gd name="connsiteX2" fmla="*/ 7228936 w 7228936"/>
              <a:gd name="connsiteY2" fmla="*/ 302565 h 6316602"/>
              <a:gd name="connsiteX3" fmla="*/ 7228936 w 7228936"/>
              <a:gd name="connsiteY3" fmla="*/ 6014037 h 6316602"/>
              <a:gd name="connsiteX4" fmla="*/ 6926371 w 7228936"/>
              <a:gd name="connsiteY4" fmla="*/ 6316602 h 6316602"/>
              <a:gd name="connsiteX5" fmla="*/ 302565 w 7228936"/>
              <a:gd name="connsiteY5" fmla="*/ 6316602 h 6316602"/>
              <a:gd name="connsiteX6" fmla="*/ 0 w 7228936"/>
              <a:gd name="connsiteY6" fmla="*/ 6014037 h 6316602"/>
              <a:gd name="connsiteX7" fmla="*/ 0 w 7228936"/>
              <a:gd name="connsiteY7" fmla="*/ 302565 h 6316602"/>
              <a:gd name="connsiteX8" fmla="*/ 302565 w 7228936"/>
              <a:gd name="connsiteY8" fmla="*/ 0 h 6316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28936" h="6316602">
                <a:moveTo>
                  <a:pt x="302565" y="0"/>
                </a:moveTo>
                <a:lnTo>
                  <a:pt x="6926371" y="0"/>
                </a:lnTo>
                <a:cubicBezTo>
                  <a:pt x="7093473" y="0"/>
                  <a:pt x="7228936" y="135463"/>
                  <a:pt x="7228936" y="302565"/>
                </a:cubicBezTo>
                <a:lnTo>
                  <a:pt x="7228936" y="6014037"/>
                </a:lnTo>
                <a:cubicBezTo>
                  <a:pt x="7228936" y="6181139"/>
                  <a:pt x="7093473" y="6316602"/>
                  <a:pt x="6926371" y="6316602"/>
                </a:cubicBezTo>
                <a:lnTo>
                  <a:pt x="302565" y="6316602"/>
                </a:lnTo>
                <a:cubicBezTo>
                  <a:pt x="135463" y="6316602"/>
                  <a:pt x="0" y="6181139"/>
                  <a:pt x="0" y="6014037"/>
                </a:cubicBezTo>
                <a:lnTo>
                  <a:pt x="0" y="302565"/>
                </a:lnTo>
                <a:cubicBezTo>
                  <a:pt x="0" y="135463"/>
                  <a:pt x="135463" y="0"/>
                  <a:pt x="302565" y="0"/>
                </a:cubicBezTo>
                <a:close/>
              </a:path>
            </a:pathLst>
          </a:custGeom>
          <a:noFill/>
        </p:spPr>
      </p:pic>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F0F7D8F4-0BC5-A266-7717-4D5D1809B85B}"/>
                  </a:ext>
                </a:extLst>
              </p:cNvPr>
              <p:cNvSpPr>
                <a:spLocks noGrp="1"/>
              </p:cNvSpPr>
              <p:nvPr>
                <p:ph sz="quarter" idx="14"/>
              </p:nvPr>
            </p:nvSpPr>
            <p:spPr>
              <a:xfrm>
                <a:off x="7513753" y="1435652"/>
                <a:ext cx="3891435" cy="4833862"/>
              </a:xfrm>
            </p:spPr>
            <p:txBody>
              <a:bodyPr anchor="b">
                <a:normAutofit/>
              </a:bodyPr>
              <a:lstStyle/>
              <a:p>
                <a:r>
                  <a:rPr lang="en-CN" sz="1300" dirty="0"/>
                  <a:t>Step 1: The trigger is pulled, which releases the firing pin, which strikes the primer </a:t>
                </a:r>
              </a:p>
              <a:p>
                <a:r>
                  <a:rPr lang="en-CN" sz="1300" dirty="0"/>
                  <a:t>Step 2: The primer’s chemical, </a:t>
                </a:r>
                <a:r>
                  <a:rPr lang="en-CN" sz="1300" b="1" dirty="0"/>
                  <a:t>lead styphnate</a:t>
                </a:r>
                <a:r>
                  <a:rPr lang="en-CN" sz="1300" dirty="0"/>
                  <a:t>, breaks apart on friction of impact and turns into gas and heat energy </a:t>
                </a:r>
              </a:p>
              <a:p>
                <a14:m>
                  <m:oMath xmlns:m="http://schemas.openxmlformats.org/officeDocument/2006/math">
                    <m:r>
                      <a:rPr lang="en-US" sz="1300" b="0" i="1" smtClean="0">
                        <a:latin typeface="Cambria Math" panose="02040503050406030204" pitchFamily="18" charset="0"/>
                      </a:rPr>
                      <m:t>𝑃𝑏</m:t>
                    </m:r>
                    <m:d>
                      <m:dPr>
                        <m:ctrlPr>
                          <a:rPr lang="en-US" sz="1300" b="0" i="1" smtClean="0">
                            <a:latin typeface="Cambria Math" panose="02040503050406030204" pitchFamily="18" charset="0"/>
                          </a:rPr>
                        </m:ctrlPr>
                      </m:dPr>
                      <m:e>
                        <m:r>
                          <a:rPr lang="en-US" sz="1300" b="0" i="1" smtClean="0">
                            <a:latin typeface="Cambria Math" panose="02040503050406030204" pitchFamily="18" charset="0"/>
                          </a:rPr>
                          <m:t>𝐶</m:t>
                        </m:r>
                        <m:r>
                          <a:rPr lang="en-US" sz="1300" b="0" i="1" baseline="-25000" smtClean="0">
                            <a:latin typeface="Cambria Math" panose="02040503050406030204" pitchFamily="18" charset="0"/>
                          </a:rPr>
                          <m:t>6</m:t>
                        </m:r>
                        <m:r>
                          <a:rPr lang="en-US" sz="1300" b="0" i="1" smtClean="0">
                            <a:latin typeface="Cambria Math" panose="02040503050406030204" pitchFamily="18" charset="0"/>
                          </a:rPr>
                          <m:t>𝐻𝑁</m:t>
                        </m:r>
                        <m:r>
                          <a:rPr lang="en-US" sz="1300" b="0" i="1" baseline="-25000" smtClean="0">
                            <a:latin typeface="Cambria Math" panose="02040503050406030204" pitchFamily="18" charset="0"/>
                          </a:rPr>
                          <m:t>3</m:t>
                        </m:r>
                        <m:r>
                          <a:rPr lang="en-US" sz="1300" b="0" i="1" smtClean="0">
                            <a:latin typeface="Cambria Math" panose="02040503050406030204" pitchFamily="18" charset="0"/>
                          </a:rPr>
                          <m:t>𝑂</m:t>
                        </m:r>
                        <m:r>
                          <a:rPr lang="en-US" sz="1300" b="0" i="1" baseline="-25000" smtClean="0">
                            <a:latin typeface="Cambria Math" panose="02040503050406030204" pitchFamily="18" charset="0"/>
                          </a:rPr>
                          <m:t>8</m:t>
                        </m:r>
                      </m:e>
                    </m:d>
                    <m:r>
                      <a:rPr lang="en-US" sz="1300" b="0" i="1" baseline="-25000" smtClean="0">
                        <a:latin typeface="Cambria Math" panose="02040503050406030204" pitchFamily="18" charset="0"/>
                      </a:rPr>
                      <m:t>2</m:t>
                    </m:r>
                    <m:r>
                      <a:rPr lang="en-US" sz="1300" b="0" i="1" smtClean="0">
                        <a:latin typeface="Cambria Math" panose="02040503050406030204" pitchFamily="18" charset="0"/>
                      </a:rPr>
                      <m:t>→</m:t>
                    </m:r>
                    <m:r>
                      <a:rPr lang="en-US" sz="1300" b="0" i="1" smtClean="0">
                        <a:latin typeface="Cambria Math" panose="02040503050406030204" pitchFamily="18" charset="0"/>
                      </a:rPr>
                      <m:t>𝑃𝑏𝑂</m:t>
                    </m:r>
                    <m:r>
                      <a:rPr lang="en-US" sz="1300" b="0" i="1" smtClean="0">
                        <a:latin typeface="Cambria Math" panose="02040503050406030204" pitchFamily="18" charset="0"/>
                      </a:rPr>
                      <m:t>+</m:t>
                    </m:r>
                    <m:r>
                      <a:rPr lang="en-US" sz="1300" b="0" i="1" smtClean="0">
                        <a:latin typeface="Cambria Math" panose="02040503050406030204" pitchFamily="18" charset="0"/>
                      </a:rPr>
                      <m:t>𝐶𝑂</m:t>
                    </m:r>
                    <m:r>
                      <a:rPr lang="en-US" sz="1300" b="0" i="1" baseline="-25000" smtClean="0">
                        <a:latin typeface="Cambria Math" panose="02040503050406030204" pitchFamily="18" charset="0"/>
                      </a:rPr>
                      <m:t>2</m:t>
                    </m:r>
                    <m:r>
                      <a:rPr lang="en-US" sz="1300" b="0" i="1" smtClean="0">
                        <a:latin typeface="Cambria Math" panose="02040503050406030204" pitchFamily="18" charset="0"/>
                      </a:rPr>
                      <m:t>+</m:t>
                    </m:r>
                    <m:r>
                      <a:rPr lang="en-US" sz="1300" b="0" i="1" smtClean="0">
                        <a:latin typeface="Cambria Math" panose="02040503050406030204" pitchFamily="18" charset="0"/>
                      </a:rPr>
                      <m:t>𝑁</m:t>
                    </m:r>
                    <m:r>
                      <a:rPr lang="en-US" sz="1300" b="0" i="1" baseline="-25000" smtClean="0">
                        <a:latin typeface="Cambria Math" panose="02040503050406030204" pitchFamily="18" charset="0"/>
                      </a:rPr>
                      <m:t>2</m:t>
                    </m:r>
                    <m:r>
                      <a:rPr lang="en-US" sz="1300" b="0" i="1" smtClean="0">
                        <a:latin typeface="Cambria Math" panose="02040503050406030204" pitchFamily="18" charset="0"/>
                      </a:rPr>
                      <m:t>+</m:t>
                    </m:r>
                    <m:r>
                      <a:rPr lang="en-US" sz="1300" b="0" i="1" smtClean="0">
                        <a:latin typeface="Cambria Math" panose="02040503050406030204" pitchFamily="18" charset="0"/>
                      </a:rPr>
                      <m:t>𝐻</m:t>
                    </m:r>
                    <m:r>
                      <a:rPr lang="en-US" sz="1300" b="0" i="1" baseline="-25000" smtClean="0">
                        <a:latin typeface="Cambria Math" panose="02040503050406030204" pitchFamily="18" charset="0"/>
                      </a:rPr>
                      <m:t>2</m:t>
                    </m:r>
                    <m:r>
                      <a:rPr lang="en-US" sz="1300" b="0" i="1" smtClean="0">
                        <a:latin typeface="Cambria Math" panose="02040503050406030204" pitchFamily="18" charset="0"/>
                      </a:rPr>
                      <m:t>𝑂</m:t>
                    </m:r>
                    <m:r>
                      <a:rPr lang="en-US" sz="1300" b="0" i="1" smtClean="0">
                        <a:latin typeface="Cambria Math" panose="02040503050406030204" pitchFamily="18" charset="0"/>
                      </a:rPr>
                      <m:t>+</m:t>
                    </m:r>
                    <m:r>
                      <a:rPr lang="en-US" sz="1300" b="0" i="1" smtClean="0">
                        <a:latin typeface="Cambria Math" panose="02040503050406030204" pitchFamily="18" charset="0"/>
                      </a:rPr>
                      <m:t>ℎ𝑒𝑎𝑡</m:t>
                    </m:r>
                    <m:r>
                      <a:rPr lang="en-US" sz="1300" b="0" i="1" smtClean="0">
                        <a:latin typeface="Cambria Math" panose="02040503050406030204" pitchFamily="18" charset="0"/>
                      </a:rPr>
                      <m:t> </m:t>
                    </m:r>
                    <m:r>
                      <a:rPr lang="en-US" sz="1300" b="0" i="1" smtClean="0">
                        <a:latin typeface="Cambria Math" panose="02040503050406030204" pitchFamily="18" charset="0"/>
                      </a:rPr>
                      <m:t>𝑒𝑛𝑒𝑟𝑔𝑦</m:t>
                    </m:r>
                  </m:oMath>
                </a14:m>
                <a:endParaRPr lang="en-CN" sz="1300" dirty="0"/>
              </a:p>
              <a:p>
                <a:r>
                  <a:rPr lang="en-CN" sz="1300" dirty="0"/>
                  <a:t>Step 3: The flame travels to the gunpowder and ignites it</a:t>
                </a:r>
              </a:p>
              <a:p>
                <a:r>
                  <a:rPr lang="en-CN" sz="1300" dirty="0"/>
                  <a:t>Step 4: Gunpowder burns and produces hot gas that creates pressure</a:t>
                </a:r>
              </a:p>
              <a:p>
                <a:r>
                  <a:rPr lang="en-CN" sz="1300" dirty="0"/>
                  <a:t>Step 5: The bullet leaves the case from the pressure</a:t>
                </a:r>
              </a:p>
              <a:p>
                <a:r>
                  <a:rPr lang="en-CN" sz="1300" dirty="0"/>
                  <a:t>Step 6: The bullet exits the muzzle ( the end of the barrel )</a:t>
                </a:r>
              </a:p>
              <a:p>
                <a:endParaRPr lang="en-CN" sz="1300" dirty="0"/>
              </a:p>
            </p:txBody>
          </p:sp>
        </mc:Choice>
        <mc:Fallback xmlns="">
          <p:sp>
            <p:nvSpPr>
              <p:cNvPr id="4" name="Content Placeholder 3">
                <a:extLst>
                  <a:ext uri="{FF2B5EF4-FFF2-40B4-BE49-F238E27FC236}">
                    <a16:creationId xmlns:a16="http://schemas.microsoft.com/office/drawing/2014/main" id="{F0F7D8F4-0BC5-A266-7717-4D5D1809B85B}"/>
                  </a:ext>
                </a:extLst>
              </p:cNvPr>
              <p:cNvSpPr>
                <a:spLocks noGrp="1" noRot="1" noChangeAspect="1" noMove="1" noResize="1" noEditPoints="1" noAdjustHandles="1" noChangeArrowheads="1" noChangeShapeType="1" noTextEdit="1"/>
              </p:cNvSpPr>
              <p:nvPr>
                <p:ph sz="quarter" idx="14"/>
              </p:nvPr>
            </p:nvSpPr>
            <p:spPr>
              <a:xfrm>
                <a:off x="7513753" y="1435652"/>
                <a:ext cx="3891435" cy="4833862"/>
              </a:xfrm>
              <a:blipFill>
                <a:blip r:embed="rId3"/>
                <a:stretch>
                  <a:fillRect l="-325"/>
                </a:stretch>
              </a:blipFill>
            </p:spPr>
            <p:txBody>
              <a:bodyPr/>
              <a:lstStyle/>
              <a:p>
                <a:r>
                  <a:rPr lang="en-CN">
                    <a:noFill/>
                  </a:rPr>
                  <a:t> </a:t>
                </a:r>
              </a:p>
            </p:txBody>
          </p:sp>
        </mc:Fallback>
      </mc:AlternateContent>
    </p:spTree>
    <p:extLst>
      <p:ext uri="{BB962C8B-B14F-4D97-AF65-F5344CB8AC3E}">
        <p14:creationId xmlns:p14="http://schemas.microsoft.com/office/powerpoint/2010/main" val="10870184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8A951-B3C7-9C5C-09C6-F53CB08FFB77}"/>
              </a:ext>
            </a:extLst>
          </p:cNvPr>
          <p:cNvSpPr>
            <a:spLocks noGrp="1"/>
          </p:cNvSpPr>
          <p:nvPr>
            <p:ph type="title"/>
          </p:nvPr>
        </p:nvSpPr>
        <p:spPr>
          <a:xfrm>
            <a:off x="182880" y="219456"/>
            <a:ext cx="11326704" cy="1041564"/>
          </a:xfrm>
        </p:spPr>
        <p:txBody>
          <a:bodyPr>
            <a:normAutofit/>
          </a:bodyPr>
          <a:lstStyle/>
          <a:p>
            <a:r>
              <a:rPr lang="en-CN" dirty="0"/>
              <a:t>Force Against Armor</a:t>
            </a:r>
          </a:p>
        </p:txBody>
      </p:sp>
      <p:sp>
        <p:nvSpPr>
          <p:cNvPr id="3" name="Content Placeholder 2">
            <a:extLst>
              <a:ext uri="{FF2B5EF4-FFF2-40B4-BE49-F238E27FC236}">
                <a16:creationId xmlns:a16="http://schemas.microsoft.com/office/drawing/2014/main" id="{EEF5A108-4A81-B4DC-D2EC-26A03C6C7AD9}"/>
              </a:ext>
            </a:extLst>
          </p:cNvPr>
          <p:cNvSpPr>
            <a:spLocks noGrp="1"/>
          </p:cNvSpPr>
          <p:nvPr>
            <p:ph sz="quarter" idx="15"/>
          </p:nvPr>
        </p:nvSpPr>
        <p:spPr>
          <a:xfrm>
            <a:off x="182880" y="1645920"/>
            <a:ext cx="7107681" cy="4741588"/>
          </a:xfrm>
        </p:spPr>
        <p:txBody>
          <a:bodyPr>
            <a:normAutofit/>
          </a:bodyPr>
          <a:lstStyle/>
          <a:p>
            <a:r>
              <a:rPr lang="en-CN" sz="2000"/>
              <a:t>When a bullet hits armor, one of three things will happen:</a:t>
            </a:r>
          </a:p>
          <a:p>
            <a:r>
              <a:rPr lang="en-CN" sz="2000" b="1"/>
              <a:t>1. Penetration: punches through</a:t>
            </a:r>
          </a:p>
          <a:p>
            <a:r>
              <a:rPr lang="en-CN" sz="2000" b="1"/>
              <a:t>2. Deflection: redirected or bounces off</a:t>
            </a:r>
          </a:p>
          <a:p>
            <a:r>
              <a:rPr lang="en-CN" sz="2000" b="1"/>
              <a:t>3. Absorption: Stops the bullet and aborbs the energy</a:t>
            </a:r>
            <a:endParaRPr lang="en-CN" sz="2000" b="1" dirty="0"/>
          </a:p>
        </p:txBody>
      </p:sp>
      <p:pic>
        <p:nvPicPr>
          <p:cNvPr id="5" name="Picture 4">
            <a:extLst>
              <a:ext uri="{FF2B5EF4-FFF2-40B4-BE49-F238E27FC236}">
                <a16:creationId xmlns:a16="http://schemas.microsoft.com/office/drawing/2014/main" id="{4DA71A87-32AC-4DAC-4E3B-78041A9F1620}"/>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513586" y="620008"/>
            <a:ext cx="3176862" cy="4741588"/>
          </a:xfrm>
          <a:prstGeom prst="rect">
            <a:avLst/>
          </a:prstGeom>
          <a:noFill/>
        </p:spPr>
      </p:pic>
    </p:spTree>
    <p:extLst>
      <p:ext uri="{BB962C8B-B14F-4D97-AF65-F5344CB8AC3E}">
        <p14:creationId xmlns:p14="http://schemas.microsoft.com/office/powerpoint/2010/main" val="2717311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B34ED-A17F-62B7-1B08-DC44D2D1BB7A}"/>
              </a:ext>
            </a:extLst>
          </p:cNvPr>
          <p:cNvSpPr>
            <a:spLocks noGrp="1"/>
          </p:cNvSpPr>
          <p:nvPr>
            <p:ph type="title"/>
          </p:nvPr>
        </p:nvSpPr>
        <p:spPr>
          <a:xfrm>
            <a:off x="182880" y="219456"/>
            <a:ext cx="11326704" cy="1041564"/>
          </a:xfrm>
        </p:spPr>
        <p:txBody>
          <a:bodyPr>
            <a:normAutofit/>
          </a:bodyPr>
          <a:lstStyle/>
          <a:p>
            <a:r>
              <a:rPr lang="en-CN" sz="2300"/>
              <a:t>What makes</a:t>
            </a:r>
            <a:br>
              <a:rPr lang="en-CN" sz="2300"/>
            </a:br>
            <a:r>
              <a:rPr lang="en-CN" sz="2300"/>
              <a:t>Armor</a:t>
            </a:r>
            <a:br>
              <a:rPr lang="en-CN" sz="2300"/>
            </a:br>
            <a:r>
              <a:rPr lang="en-CN" sz="2300"/>
              <a:t>Strong?</a:t>
            </a:r>
          </a:p>
        </p:txBody>
      </p:sp>
      <p:sp>
        <p:nvSpPr>
          <p:cNvPr id="4" name="Content Placeholder 3">
            <a:extLst>
              <a:ext uri="{FF2B5EF4-FFF2-40B4-BE49-F238E27FC236}">
                <a16:creationId xmlns:a16="http://schemas.microsoft.com/office/drawing/2014/main" id="{B675161A-C6C1-33C0-142E-6998EC5B1B29}"/>
              </a:ext>
            </a:extLst>
          </p:cNvPr>
          <p:cNvSpPr>
            <a:spLocks noGrp="1"/>
          </p:cNvSpPr>
          <p:nvPr>
            <p:ph sz="quarter" idx="15"/>
          </p:nvPr>
        </p:nvSpPr>
        <p:spPr>
          <a:xfrm>
            <a:off x="182880" y="1645920"/>
            <a:ext cx="5420409" cy="4741588"/>
          </a:xfrm>
        </p:spPr>
        <p:txBody>
          <a:bodyPr>
            <a:normAutofit/>
          </a:bodyPr>
          <a:lstStyle/>
          <a:p>
            <a:r>
              <a:rPr lang="en-CN" u="sng" dirty="0"/>
              <a:t>Composite Layers work best</a:t>
            </a:r>
          </a:p>
          <a:p>
            <a:r>
              <a:rPr lang="en-CN" dirty="0"/>
              <a:t>Outer layer: </a:t>
            </a:r>
            <a:r>
              <a:rPr lang="en-CN" b="1" dirty="0"/>
              <a:t>Ceramic</a:t>
            </a:r>
            <a:r>
              <a:rPr lang="en-CN" dirty="0"/>
              <a:t> to break down bulelts</a:t>
            </a:r>
          </a:p>
          <a:p>
            <a:r>
              <a:rPr lang="en-CN" dirty="0"/>
              <a:t>Middle layer: </a:t>
            </a:r>
            <a:r>
              <a:rPr lang="en-CN" b="1" dirty="0"/>
              <a:t>Adhesive</a:t>
            </a:r>
            <a:r>
              <a:rPr lang="en-CN" dirty="0"/>
              <a:t> Layer to Slow down bullets and hold together the armor</a:t>
            </a:r>
          </a:p>
          <a:p>
            <a:r>
              <a:rPr lang="en-CN" dirty="0"/>
              <a:t>Inner layer: </a:t>
            </a:r>
            <a:r>
              <a:rPr lang="en-CN" b="1" dirty="0"/>
              <a:t>Steel</a:t>
            </a:r>
            <a:r>
              <a:rPr lang="en-CN" dirty="0"/>
              <a:t> or </a:t>
            </a:r>
            <a:r>
              <a:rPr lang="en-CN" b="1" dirty="0"/>
              <a:t>Kevlar</a:t>
            </a:r>
            <a:r>
              <a:rPr lang="en-CN" dirty="0"/>
              <a:t> to catch any fragments of bullets</a:t>
            </a:r>
          </a:p>
          <a:p>
            <a:r>
              <a:rPr lang="en-CN" dirty="0"/>
              <a:t>Innermost layer: Spall or other materials to </a:t>
            </a:r>
            <a:r>
              <a:rPr lang="en-CN" b="1" dirty="0"/>
              <a:t>stick to any remaining hazards </a:t>
            </a:r>
          </a:p>
          <a:p>
            <a:endParaRPr lang="en-CN" b="1" dirty="0"/>
          </a:p>
          <a:p>
            <a:r>
              <a:rPr lang="en-CN" b="1" dirty="0"/>
              <a:t>Reme</a:t>
            </a:r>
            <a:r>
              <a:rPr lang="en-US" b="1" dirty="0"/>
              <a:t>m</a:t>
            </a:r>
            <a:r>
              <a:rPr lang="en-CN" b="1" dirty="0"/>
              <a:t>ber: Some armor do not have to be worn on humans, it can be used to fortify a position or grounding</a:t>
            </a:r>
          </a:p>
        </p:txBody>
      </p:sp>
      <p:pic>
        <p:nvPicPr>
          <p:cNvPr id="6" name="Picture Placeholder 5">
            <a:extLst>
              <a:ext uri="{FF2B5EF4-FFF2-40B4-BE49-F238E27FC236}">
                <a16:creationId xmlns:a16="http://schemas.microsoft.com/office/drawing/2014/main" id="{B9B62C15-DD8D-4958-EB6E-5418AEF9DC79}"/>
              </a:ext>
            </a:extLst>
          </p:cNvPr>
          <p:cNvPicPr>
            <a:picLocks noGrp="1" noChangeAspect="1"/>
          </p:cNvPicPr>
          <p:nvPr>
            <p:ph sz="quarter" idx="16"/>
          </p:nvPr>
        </p:nvPicPr>
        <p:blipFill>
          <a:blip r:embed="rId2" cstate="email">
            <a:extLst>
              <a:ext uri="{28A0092B-C50C-407E-A947-70E740481C1C}">
                <a14:useLocalDpi xmlns:a14="http://schemas.microsoft.com/office/drawing/2010/main" val="0"/>
              </a:ext>
            </a:extLst>
          </a:blip>
          <a:stretch>
            <a:fillRect/>
          </a:stretch>
        </p:blipFill>
        <p:spPr>
          <a:xfrm>
            <a:off x="6248400" y="2030617"/>
            <a:ext cx="5261184" cy="3972194"/>
          </a:xfrm>
          <a:custGeom>
            <a:avLst/>
            <a:gdLst>
              <a:gd name="connsiteX0" fmla="*/ 282309 w 8229600"/>
              <a:gd name="connsiteY0" fmla="*/ 0 h 3095837"/>
              <a:gd name="connsiteX1" fmla="*/ 7947291 w 8229600"/>
              <a:gd name="connsiteY1" fmla="*/ 0 h 3095837"/>
              <a:gd name="connsiteX2" fmla="*/ 8229600 w 8229600"/>
              <a:gd name="connsiteY2" fmla="*/ 282309 h 3095837"/>
              <a:gd name="connsiteX3" fmla="*/ 8229600 w 8229600"/>
              <a:gd name="connsiteY3" fmla="*/ 2813528 h 3095837"/>
              <a:gd name="connsiteX4" fmla="*/ 7947291 w 8229600"/>
              <a:gd name="connsiteY4" fmla="*/ 3095837 h 3095837"/>
              <a:gd name="connsiteX5" fmla="*/ 282309 w 8229600"/>
              <a:gd name="connsiteY5" fmla="*/ 3095837 h 3095837"/>
              <a:gd name="connsiteX6" fmla="*/ 0 w 8229600"/>
              <a:gd name="connsiteY6" fmla="*/ 2813528 h 3095837"/>
              <a:gd name="connsiteX7" fmla="*/ 0 w 8229600"/>
              <a:gd name="connsiteY7" fmla="*/ 282309 h 3095837"/>
              <a:gd name="connsiteX8" fmla="*/ 282309 w 8229600"/>
              <a:gd name="connsiteY8" fmla="*/ 0 h 3095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29600" h="3095837">
                <a:moveTo>
                  <a:pt x="282309" y="0"/>
                </a:moveTo>
                <a:lnTo>
                  <a:pt x="7947291" y="0"/>
                </a:lnTo>
                <a:cubicBezTo>
                  <a:pt x="8103206" y="0"/>
                  <a:pt x="8229600" y="126394"/>
                  <a:pt x="8229600" y="282309"/>
                </a:cubicBezTo>
                <a:lnTo>
                  <a:pt x="8229600" y="2813528"/>
                </a:lnTo>
                <a:cubicBezTo>
                  <a:pt x="8229600" y="2969443"/>
                  <a:pt x="8103206" y="3095837"/>
                  <a:pt x="7947291" y="3095837"/>
                </a:cubicBezTo>
                <a:lnTo>
                  <a:pt x="282309" y="3095837"/>
                </a:lnTo>
                <a:cubicBezTo>
                  <a:pt x="126394" y="3095837"/>
                  <a:pt x="0" y="2969443"/>
                  <a:pt x="0" y="2813528"/>
                </a:cubicBezTo>
                <a:lnTo>
                  <a:pt x="0" y="282309"/>
                </a:lnTo>
                <a:cubicBezTo>
                  <a:pt x="0" y="126394"/>
                  <a:pt x="126394" y="0"/>
                  <a:pt x="282309" y="0"/>
                </a:cubicBezTo>
                <a:close/>
              </a:path>
            </a:pathLst>
          </a:custGeom>
          <a:noFill/>
        </p:spPr>
      </p:pic>
    </p:spTree>
    <p:extLst>
      <p:ext uri="{BB962C8B-B14F-4D97-AF65-F5344CB8AC3E}">
        <p14:creationId xmlns:p14="http://schemas.microsoft.com/office/powerpoint/2010/main" val="21944714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14A32-F08C-98A0-E3A8-6BD64447B563}"/>
              </a:ext>
            </a:extLst>
          </p:cNvPr>
          <p:cNvSpPr>
            <a:spLocks noGrp="1"/>
          </p:cNvSpPr>
          <p:nvPr>
            <p:ph type="title"/>
          </p:nvPr>
        </p:nvSpPr>
        <p:spPr/>
        <p:txBody>
          <a:bodyPr/>
          <a:lstStyle/>
          <a:p>
            <a:r>
              <a:rPr lang="en-CN" dirty="0"/>
              <a:t>Conclusion</a:t>
            </a:r>
          </a:p>
        </p:txBody>
      </p:sp>
      <p:sp>
        <p:nvSpPr>
          <p:cNvPr id="3" name="Content Placeholder 2">
            <a:extLst>
              <a:ext uri="{FF2B5EF4-FFF2-40B4-BE49-F238E27FC236}">
                <a16:creationId xmlns:a16="http://schemas.microsoft.com/office/drawing/2014/main" id="{EAAC5A1B-6C30-610F-9FEB-D6BCA03DD99A}"/>
              </a:ext>
            </a:extLst>
          </p:cNvPr>
          <p:cNvSpPr>
            <a:spLocks noGrp="1"/>
          </p:cNvSpPr>
          <p:nvPr>
            <p:ph idx="1"/>
          </p:nvPr>
        </p:nvSpPr>
        <p:spPr/>
        <p:txBody>
          <a:bodyPr>
            <a:normAutofit/>
          </a:bodyPr>
          <a:lstStyle/>
          <a:p>
            <a:r>
              <a:rPr lang="en-CN" sz="2800" dirty="0"/>
              <a:t>Factors that shape armor:</a:t>
            </a:r>
          </a:p>
          <a:p>
            <a:r>
              <a:rPr lang="en-CN" sz="2800" b="1" dirty="0"/>
              <a:t>Hardness, Strength, Ductility, Mass</a:t>
            </a:r>
          </a:p>
          <a:p>
            <a:r>
              <a:rPr lang="en-CN" sz="2800" dirty="0"/>
              <a:t>Factors that shape bullets:</a:t>
            </a:r>
          </a:p>
          <a:p>
            <a:r>
              <a:rPr lang="en-CN" sz="2800" b="1" dirty="0"/>
              <a:t>Velocity, Shape, Mass, Material</a:t>
            </a:r>
          </a:p>
          <a:p>
            <a:r>
              <a:rPr lang="en-CN" sz="2800" dirty="0"/>
              <a:t>The armor wins if </a:t>
            </a:r>
            <a:r>
              <a:rPr lang="en-CN" sz="2800" u="sng" dirty="0"/>
              <a:t>it can spread the energy of the bulelt over a large area</a:t>
            </a:r>
          </a:p>
          <a:p>
            <a:r>
              <a:rPr lang="en-CN" sz="2800" dirty="0"/>
              <a:t>The bullet wins if </a:t>
            </a:r>
            <a:r>
              <a:rPr lang="en-CN" sz="2800" u="sng" dirty="0"/>
              <a:t>it can concentrate enough energy onto one spot. </a:t>
            </a:r>
          </a:p>
        </p:txBody>
      </p:sp>
    </p:spTree>
    <p:extLst>
      <p:ext uri="{BB962C8B-B14F-4D97-AF65-F5344CB8AC3E}">
        <p14:creationId xmlns:p14="http://schemas.microsoft.com/office/powerpoint/2010/main" val="36397065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27BDA-86B1-6FE4-7645-02C51ED2B4FF}"/>
              </a:ext>
            </a:extLst>
          </p:cNvPr>
          <p:cNvSpPr>
            <a:spLocks noGrp="1"/>
          </p:cNvSpPr>
          <p:nvPr>
            <p:ph type="title"/>
          </p:nvPr>
        </p:nvSpPr>
        <p:spPr/>
        <p:txBody>
          <a:bodyPr/>
          <a:lstStyle/>
          <a:p>
            <a:r>
              <a:rPr lang="en-CN" dirty="0"/>
              <a:t>That was simple</a:t>
            </a:r>
            <a:br>
              <a:rPr lang="en-CN" dirty="0"/>
            </a:br>
            <a:r>
              <a:rPr lang="en-CN" dirty="0"/>
              <a:t>Now…</a:t>
            </a:r>
            <a:br>
              <a:rPr lang="en-CN" dirty="0"/>
            </a:br>
            <a:r>
              <a:rPr lang="en-CN" dirty="0"/>
              <a:t>Moving on.</a:t>
            </a:r>
          </a:p>
        </p:txBody>
      </p:sp>
    </p:spTree>
    <p:extLst>
      <p:ext uri="{BB962C8B-B14F-4D97-AF65-F5344CB8AC3E}">
        <p14:creationId xmlns:p14="http://schemas.microsoft.com/office/powerpoint/2010/main" val="41975375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957C5-D1F4-D8CE-0328-8C7E7CFEFCD3}"/>
              </a:ext>
            </a:extLst>
          </p:cNvPr>
          <p:cNvSpPr>
            <a:spLocks noGrp="1"/>
          </p:cNvSpPr>
          <p:nvPr>
            <p:ph type="ctrTitle"/>
          </p:nvPr>
        </p:nvSpPr>
        <p:spPr/>
        <p:txBody>
          <a:bodyPr/>
          <a:lstStyle/>
          <a:p>
            <a:r>
              <a:rPr lang="en-CN" dirty="0"/>
              <a:t>Modern Ammunition</a:t>
            </a:r>
          </a:p>
        </p:txBody>
      </p:sp>
      <p:sp>
        <p:nvSpPr>
          <p:cNvPr id="3" name="Subtitle 2">
            <a:extLst>
              <a:ext uri="{FF2B5EF4-FFF2-40B4-BE49-F238E27FC236}">
                <a16:creationId xmlns:a16="http://schemas.microsoft.com/office/drawing/2014/main" id="{48D1C43F-B06B-B72B-173F-1C56771B5180}"/>
              </a:ext>
            </a:extLst>
          </p:cNvPr>
          <p:cNvSpPr>
            <a:spLocks noGrp="1"/>
          </p:cNvSpPr>
          <p:nvPr>
            <p:ph type="subTitle" idx="1"/>
          </p:nvPr>
        </p:nvSpPr>
        <p:spPr/>
        <p:txBody>
          <a:bodyPr/>
          <a:lstStyle/>
          <a:p>
            <a:r>
              <a:rPr lang="en-CN" dirty="0"/>
              <a:t>Don’t Panic, its actually simple</a:t>
            </a:r>
          </a:p>
        </p:txBody>
      </p:sp>
    </p:spTree>
    <p:extLst>
      <p:ext uri="{BB962C8B-B14F-4D97-AF65-F5344CB8AC3E}">
        <p14:creationId xmlns:p14="http://schemas.microsoft.com/office/powerpoint/2010/main" val="17009831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56032"/>
            <a:ext cx="3657600" cy="274320"/>
          </a:xfrm>
          <a:prstGeom prst="rect">
            <a:avLst/>
          </a:prstGeom>
          <a:noFill/>
        </p:spPr>
        <p:txBody>
          <a:bodyPr wrap="square" lIns="0" tIns="0" rIns="0" bIns="0" rtlCol="0" anchor="ctr"/>
          <a:lstStyle/>
          <a:p>
            <a:pPr marL="0" indent="0">
              <a:buNone/>
            </a:pPr>
            <a:r>
              <a:rPr lang="en-US" sz="1100" kern="0" spc="200" dirty="0">
                <a:solidFill>
                  <a:srgbClr val="5C5954"/>
                </a:solidFill>
                <a:latin typeface="Arial" panose="020B0604020202090204" pitchFamily="34" charset="0"/>
                <a:ea typeface="Arial" panose="020B0604020202090204" pitchFamily="34" charset="-122"/>
                <a:cs typeface="Arial" panose="020B0604020202090204" pitchFamily="34" charset="-120"/>
              </a:rPr>
              <a:t>MODERN MUNITIONS</a:t>
            </a:r>
            <a:endParaRPr lang="en-US" sz="1100" dirty="0"/>
          </a:p>
        </p:txBody>
      </p:sp>
      <p:sp>
        <p:nvSpPr>
          <p:cNvPr id="3" name="Text 1"/>
          <p:cNvSpPr/>
          <p:nvPr/>
        </p:nvSpPr>
        <p:spPr>
          <a:xfrm>
            <a:off x="7772400" y="256032"/>
            <a:ext cx="3931920" cy="274320"/>
          </a:xfrm>
          <a:prstGeom prst="rect">
            <a:avLst/>
          </a:prstGeom>
          <a:noFill/>
        </p:spPr>
        <p:txBody>
          <a:bodyPr wrap="square" lIns="0" tIns="0" rIns="0" bIns="0" rtlCol="0" anchor="ctr"/>
          <a:lstStyle/>
          <a:p>
            <a:pPr marL="0" indent="0" algn="r">
              <a:buNone/>
            </a:pPr>
            <a:r>
              <a:rPr lang="en-US" sz="1100" dirty="0">
                <a:solidFill>
                  <a:srgbClr val="9A9690"/>
                </a:solidFill>
                <a:latin typeface="Arial" panose="020B0604020202090204" pitchFamily="34" charset="0"/>
                <a:ea typeface="Arial" panose="020B0604020202090204" pitchFamily="34" charset="-122"/>
                <a:cs typeface="Arial" panose="020B0604020202090204" pitchFamily="34" charset="-120"/>
              </a:rPr>
              <a:t>AMMUNITION  ·  01</a:t>
            </a:r>
            <a:endParaRPr lang="en-US" sz="1100" dirty="0"/>
          </a:p>
        </p:txBody>
      </p:sp>
      <p:sp>
        <p:nvSpPr>
          <p:cNvPr id="4" name="Shape 2"/>
          <p:cNvSpPr/>
          <p:nvPr/>
        </p:nvSpPr>
        <p:spPr>
          <a:xfrm>
            <a:off x="457200" y="566928"/>
            <a:ext cx="11277295" cy="13716"/>
          </a:xfrm>
          <a:prstGeom prst="rect">
            <a:avLst/>
          </a:prstGeom>
          <a:solidFill>
            <a:srgbClr val="2A2D33"/>
          </a:solidFill>
        </p:spPr>
        <p:txBody>
          <a:bodyPr/>
          <a:lstStyle/>
          <a:p>
            <a:endParaRPr lang="en-CN"/>
          </a:p>
        </p:txBody>
      </p:sp>
      <p:sp>
        <p:nvSpPr>
          <p:cNvPr id="5" name="Text 3"/>
          <p:cNvSpPr/>
          <p:nvPr/>
        </p:nvSpPr>
        <p:spPr>
          <a:xfrm>
            <a:off x="10241280" y="6510528"/>
            <a:ext cx="1463040" cy="228600"/>
          </a:xfrm>
          <a:prstGeom prst="rect">
            <a:avLst/>
          </a:prstGeom>
          <a:noFill/>
        </p:spPr>
        <p:txBody>
          <a:bodyPr wrap="square" lIns="0" tIns="0" rIns="0" bIns="0" rtlCol="0" anchor="ctr"/>
          <a:lstStyle/>
          <a:p>
            <a:pPr marL="0" indent="0" algn="r">
              <a:buNone/>
            </a:pPr>
            <a:r>
              <a:rPr lang="en-US" sz="1100" dirty="0">
                <a:solidFill>
                  <a:srgbClr val="5C5954"/>
                </a:solidFill>
                <a:latin typeface="Arial" panose="020B0604020202090204" pitchFamily="34" charset="0"/>
                <a:ea typeface="Arial" panose="020B0604020202090204" pitchFamily="34" charset="-122"/>
                <a:cs typeface="Arial" panose="020B0604020202090204" pitchFamily="34" charset="-120"/>
              </a:rPr>
              <a:t>01  /  06</a:t>
            </a:r>
            <a:endParaRPr lang="en-US" sz="1100" dirty="0"/>
          </a:p>
        </p:txBody>
      </p:sp>
      <p:sp>
        <p:nvSpPr>
          <p:cNvPr id="6" name="Text 4"/>
          <p:cNvSpPr/>
          <p:nvPr/>
        </p:nvSpPr>
        <p:spPr>
          <a:xfrm>
            <a:off x="457200" y="777240"/>
            <a:ext cx="10972800" cy="365760"/>
          </a:xfrm>
          <a:prstGeom prst="rect">
            <a:avLst/>
          </a:prstGeom>
          <a:noFill/>
        </p:spPr>
        <p:txBody>
          <a:bodyPr wrap="square" lIns="0" tIns="0" rIns="0" bIns="0" rtlCol="0" anchor="ctr"/>
          <a:lstStyle/>
          <a:p>
            <a:pPr marL="0" indent="0">
              <a:buNone/>
            </a:pPr>
            <a:r>
              <a:rPr lang="en-US" sz="2200" dirty="0">
                <a:solidFill>
                  <a:srgbClr val="FF0000"/>
                </a:solidFill>
                <a:highlight>
                  <a:srgbClr val="FFFF00"/>
                </a:highlight>
                <a:latin typeface="Arial" panose="020B0604020202090204" pitchFamily="34" charset="0"/>
                <a:ea typeface="Arial" panose="020B0604020202090204" pitchFamily="34" charset="-122"/>
                <a:cs typeface="Arial" panose="020B0604020202090204" pitchFamily="34" charset="-120"/>
              </a:rPr>
              <a:t>Kinetic</a:t>
            </a:r>
            <a:r>
              <a:rPr lang="en-US" sz="2200" b="1" dirty="0">
                <a:solidFill>
                  <a:srgbClr val="E8E6E1"/>
                </a:solidFill>
                <a:latin typeface="Arial" panose="020B0604020202090204" pitchFamily="34" charset="0"/>
                <a:ea typeface="Arial" panose="020B0604020202090204" pitchFamily="34" charset="-122"/>
                <a:cs typeface="Arial" panose="020B0604020202090204" pitchFamily="34" charset="-120"/>
              </a:rPr>
              <a:t> &amp; </a:t>
            </a:r>
            <a:r>
              <a:rPr lang="en-US" sz="2200" dirty="0">
                <a:solidFill>
                  <a:srgbClr val="FF0000"/>
                </a:solidFill>
                <a:highlight>
                  <a:srgbClr val="FFFF00"/>
                </a:highlight>
                <a:latin typeface="Arial" panose="020B0604020202090204" pitchFamily="34" charset="0"/>
                <a:ea typeface="Arial" panose="020B0604020202090204" pitchFamily="34" charset="-122"/>
                <a:cs typeface="Arial" panose="020B0604020202090204" pitchFamily="34" charset="-120"/>
              </a:rPr>
              <a:t>Chemical</a:t>
            </a:r>
            <a:r>
              <a:rPr lang="en-US" sz="2200" b="1" dirty="0">
                <a:solidFill>
                  <a:srgbClr val="E8E6E1"/>
                </a:solidFill>
                <a:latin typeface="Arial" panose="020B0604020202090204" pitchFamily="34" charset="0"/>
                <a:ea typeface="Arial" panose="020B0604020202090204" pitchFamily="34" charset="-122"/>
                <a:cs typeface="Arial" panose="020B0604020202090204" pitchFamily="34" charset="-120"/>
              </a:rPr>
              <a:t> </a:t>
            </a:r>
            <a:r>
              <a:rPr lang="en-US" sz="2200" b="1" dirty="0">
                <a:solidFill>
                  <a:srgbClr val="0070C0"/>
                </a:solidFill>
                <a:latin typeface="Arial" panose="020B0604020202090204" pitchFamily="34" charset="0"/>
                <a:ea typeface="Arial" panose="020B0604020202090204" pitchFamily="34" charset="-122"/>
                <a:cs typeface="Arial" panose="020B0604020202090204" pitchFamily="34" charset="-120"/>
              </a:rPr>
              <a:t>Energy Rounds</a:t>
            </a:r>
            <a:endParaRPr lang="en-US" sz="2200" dirty="0">
              <a:solidFill>
                <a:srgbClr val="0070C0"/>
              </a:solidFill>
            </a:endParaRPr>
          </a:p>
        </p:txBody>
      </p:sp>
      <p:sp>
        <p:nvSpPr>
          <p:cNvPr id="7" name="Shape 5"/>
          <p:cNvSpPr/>
          <p:nvPr/>
        </p:nvSpPr>
        <p:spPr>
          <a:xfrm>
            <a:off x="457200" y="1371600"/>
            <a:ext cx="5394960" cy="4754880"/>
          </a:xfrm>
          <a:prstGeom prst="roundRect">
            <a:avLst>
              <a:gd name="adj" fmla="val 1923"/>
            </a:avLst>
          </a:prstGeom>
          <a:solidFill>
            <a:srgbClr val="14171C"/>
          </a:solidFill>
        </p:spPr>
        <p:txBody>
          <a:bodyPr/>
          <a:lstStyle/>
          <a:p>
            <a:endParaRPr lang="en-CN"/>
          </a:p>
        </p:txBody>
      </p:sp>
      <p:sp>
        <p:nvSpPr>
          <p:cNvPr id="8" name="Shape 6"/>
          <p:cNvSpPr/>
          <p:nvPr/>
        </p:nvSpPr>
        <p:spPr>
          <a:xfrm>
            <a:off x="457200" y="1371600"/>
            <a:ext cx="109728" cy="4754880"/>
          </a:xfrm>
          <a:prstGeom prst="rect">
            <a:avLst/>
          </a:prstGeom>
          <a:solidFill>
            <a:srgbClr val="C45C26"/>
          </a:solidFill>
        </p:spPr>
        <p:txBody>
          <a:bodyPr/>
          <a:lstStyle/>
          <a:p>
            <a:endParaRPr lang="en-CN"/>
          </a:p>
        </p:txBody>
      </p:sp>
      <p:sp>
        <p:nvSpPr>
          <p:cNvPr id="9" name="Text 7"/>
          <p:cNvSpPr/>
          <p:nvPr/>
        </p:nvSpPr>
        <p:spPr>
          <a:xfrm>
            <a:off x="822960" y="1554480"/>
            <a:ext cx="4754880" cy="365760"/>
          </a:xfrm>
          <a:prstGeom prst="rect">
            <a:avLst/>
          </a:prstGeom>
          <a:noFill/>
        </p:spPr>
        <p:txBody>
          <a:bodyPr wrap="square" lIns="0" tIns="0" rIns="0" bIns="0" rtlCol="0" anchor="ctr"/>
          <a:lstStyle/>
          <a:p>
            <a:pPr marL="0" indent="0">
              <a:buNone/>
            </a:pPr>
            <a:r>
              <a:rPr lang="en-US" sz="2800" b="1" dirty="0">
                <a:solidFill>
                  <a:srgbClr val="E8E6E1"/>
                </a:solidFill>
                <a:latin typeface="Arial" panose="020B0604020202090204" pitchFamily="34" charset="0"/>
                <a:ea typeface="Arial" panose="020B0604020202090204" pitchFamily="34" charset="-122"/>
                <a:cs typeface="Arial" panose="020B0604020202090204" pitchFamily="34" charset="-120"/>
              </a:rPr>
              <a:t>HEAT</a:t>
            </a:r>
            <a:endParaRPr lang="en-US" sz="2800" dirty="0"/>
          </a:p>
        </p:txBody>
      </p:sp>
      <p:sp>
        <p:nvSpPr>
          <p:cNvPr id="10" name="Text 8"/>
          <p:cNvSpPr/>
          <p:nvPr/>
        </p:nvSpPr>
        <p:spPr>
          <a:xfrm>
            <a:off x="822960" y="1965960"/>
            <a:ext cx="4754880" cy="274320"/>
          </a:xfrm>
          <a:prstGeom prst="rect">
            <a:avLst/>
          </a:prstGeom>
          <a:noFill/>
        </p:spPr>
        <p:txBody>
          <a:bodyPr wrap="square" lIns="0" tIns="0" rIns="0" bIns="0" rtlCol="0" anchor="ctr"/>
          <a:lstStyle/>
          <a:p>
            <a:pPr marL="0" indent="0">
              <a:buNone/>
            </a:pPr>
            <a:r>
              <a:rPr lang="en-US" sz="1400" dirty="0">
                <a:solidFill>
                  <a:srgbClr val="C45C26"/>
                </a:solidFill>
                <a:latin typeface="Arial" panose="020B0604020202090204" pitchFamily="34" charset="0"/>
                <a:ea typeface="Arial" panose="020B0604020202090204" pitchFamily="34" charset="-122"/>
                <a:cs typeface="Arial" panose="020B0604020202090204" pitchFamily="34" charset="-120"/>
              </a:rPr>
              <a:t>High-Explosive Anti-Tank</a:t>
            </a:r>
            <a:endParaRPr lang="en-US" sz="1400" dirty="0"/>
          </a:p>
        </p:txBody>
      </p:sp>
      <p:sp>
        <p:nvSpPr>
          <p:cNvPr id="11" name="Text 9"/>
          <p:cNvSpPr/>
          <p:nvPr/>
        </p:nvSpPr>
        <p:spPr>
          <a:xfrm>
            <a:off x="822960" y="2423160"/>
            <a:ext cx="4754880" cy="228600"/>
          </a:xfrm>
          <a:prstGeom prst="rect">
            <a:avLst/>
          </a:prstGeom>
          <a:noFill/>
        </p:spPr>
        <p:txBody>
          <a:bodyPr wrap="square" lIns="0" tIns="0" rIns="0" bIns="0" rtlCol="0" anchor="ctr"/>
          <a:lstStyle/>
          <a:p>
            <a:pPr marL="0" indent="0">
              <a:buNone/>
            </a:pPr>
            <a:r>
              <a:rPr lang="en-US" sz="1300" b="1" dirty="0">
                <a:solidFill>
                  <a:srgbClr val="E8E6E1"/>
                </a:solidFill>
                <a:latin typeface="Arial" panose="020B0604020202090204" pitchFamily="34" charset="0"/>
                <a:ea typeface="Arial" panose="020B0604020202090204" pitchFamily="34" charset="-122"/>
                <a:cs typeface="Arial" panose="020B0604020202090204" pitchFamily="34" charset="-120"/>
              </a:rPr>
              <a:t>Principle</a:t>
            </a:r>
            <a:endParaRPr lang="en-US" sz="1300" dirty="0"/>
          </a:p>
        </p:txBody>
      </p:sp>
      <p:sp>
        <p:nvSpPr>
          <p:cNvPr id="12" name="Text 10"/>
          <p:cNvSpPr/>
          <p:nvPr/>
        </p:nvSpPr>
        <p:spPr>
          <a:xfrm>
            <a:off x="822960" y="2679192"/>
            <a:ext cx="4754880" cy="548640"/>
          </a:xfrm>
          <a:prstGeom prst="rect">
            <a:avLst/>
          </a:prstGeom>
          <a:noFill/>
        </p:spPr>
        <p:txBody>
          <a:bodyPr wrap="square" lIns="0" tIns="0" rIns="0" bIns="0" rtlCol="0" anchor="ctr"/>
          <a:lstStyle/>
          <a:p>
            <a:pPr marL="0" indent="0">
              <a:buNone/>
            </a:pPr>
            <a:r>
              <a:rPr lang="en-US" sz="1200" dirty="0">
                <a:solidFill>
                  <a:srgbClr val="9A9690"/>
                </a:solidFill>
                <a:latin typeface="Arial" panose="020B0604020202090204" pitchFamily="34" charset="0"/>
                <a:ea typeface="Arial" panose="020B0604020202090204" pitchFamily="34" charset="-122"/>
                <a:cs typeface="Arial" panose="020B0604020202090204" pitchFamily="34" charset="-120"/>
              </a:rPr>
              <a:t>Shaped charge with conical copper liner creates a high-velocity metal jet (~8–10 km/s) that penetrates armor via hydrodynamic flow.</a:t>
            </a:r>
            <a:endParaRPr lang="en-US" sz="1200" dirty="0"/>
          </a:p>
        </p:txBody>
      </p:sp>
      <p:sp>
        <p:nvSpPr>
          <p:cNvPr id="13" name="Text 11"/>
          <p:cNvSpPr/>
          <p:nvPr/>
        </p:nvSpPr>
        <p:spPr>
          <a:xfrm>
            <a:off x="822960" y="3291840"/>
            <a:ext cx="4754880" cy="228600"/>
          </a:xfrm>
          <a:prstGeom prst="rect">
            <a:avLst/>
          </a:prstGeom>
          <a:noFill/>
        </p:spPr>
        <p:txBody>
          <a:bodyPr wrap="square" lIns="0" tIns="0" rIns="0" bIns="0" rtlCol="0" anchor="ctr"/>
          <a:lstStyle/>
          <a:p>
            <a:pPr marL="0" indent="0">
              <a:buNone/>
            </a:pPr>
            <a:r>
              <a:rPr lang="en-US" sz="1300" b="1" dirty="0">
                <a:solidFill>
                  <a:srgbClr val="E8E6E1"/>
                </a:solidFill>
                <a:latin typeface="Arial" panose="020B0604020202090204" pitchFamily="34" charset="0"/>
                <a:ea typeface="Arial" panose="020B0604020202090204" pitchFamily="34" charset="-122"/>
                <a:cs typeface="Arial" panose="020B0604020202090204" pitchFamily="34" charset="-120"/>
              </a:rPr>
              <a:t>Performance</a:t>
            </a:r>
            <a:endParaRPr lang="en-US" sz="1300" dirty="0"/>
          </a:p>
        </p:txBody>
      </p:sp>
      <p:sp>
        <p:nvSpPr>
          <p:cNvPr id="14" name="Text 12"/>
          <p:cNvSpPr/>
          <p:nvPr/>
        </p:nvSpPr>
        <p:spPr>
          <a:xfrm>
            <a:off x="822960" y="3547872"/>
            <a:ext cx="4754880" cy="548640"/>
          </a:xfrm>
          <a:prstGeom prst="rect">
            <a:avLst/>
          </a:prstGeom>
          <a:noFill/>
        </p:spPr>
        <p:txBody>
          <a:bodyPr wrap="square" lIns="0" tIns="0" rIns="0" bIns="0" rtlCol="0" anchor="ctr"/>
          <a:lstStyle/>
          <a:p>
            <a:pPr marL="0" indent="0">
              <a:buNone/>
            </a:pPr>
            <a:r>
              <a:rPr lang="en-US" sz="1200" dirty="0">
                <a:solidFill>
                  <a:srgbClr val="9A9690"/>
                </a:solidFill>
                <a:latin typeface="Arial" panose="020B0604020202090204" pitchFamily="34" charset="0"/>
                <a:ea typeface="Arial" panose="020B0604020202090204" pitchFamily="34" charset="-122"/>
                <a:cs typeface="Arial" panose="020B0604020202090204" pitchFamily="34" charset="-120"/>
              </a:rPr>
              <a:t>Penetration measured in RHAe; modern rounds exceed 800–1000 mm. Effectiveness independent of impact velocity.</a:t>
            </a:r>
            <a:endParaRPr lang="en-US" sz="1200" dirty="0"/>
          </a:p>
        </p:txBody>
      </p:sp>
      <p:sp>
        <p:nvSpPr>
          <p:cNvPr id="15" name="Text 13"/>
          <p:cNvSpPr/>
          <p:nvPr/>
        </p:nvSpPr>
        <p:spPr>
          <a:xfrm>
            <a:off x="822960" y="4160520"/>
            <a:ext cx="4754880" cy="228600"/>
          </a:xfrm>
          <a:prstGeom prst="rect">
            <a:avLst/>
          </a:prstGeom>
          <a:noFill/>
        </p:spPr>
        <p:txBody>
          <a:bodyPr wrap="square" lIns="0" tIns="0" rIns="0" bIns="0" rtlCol="0" anchor="ctr"/>
          <a:lstStyle/>
          <a:p>
            <a:pPr marL="0" indent="0">
              <a:buNone/>
            </a:pPr>
            <a:r>
              <a:rPr lang="en-US" sz="1300" b="1" dirty="0">
                <a:solidFill>
                  <a:srgbClr val="E8E6E1"/>
                </a:solidFill>
                <a:latin typeface="Arial" panose="020B0604020202090204" pitchFamily="34" charset="0"/>
                <a:ea typeface="Arial" panose="020B0604020202090204" pitchFamily="34" charset="-122"/>
                <a:cs typeface="Arial" panose="020B0604020202090204" pitchFamily="34" charset="-120"/>
              </a:rPr>
              <a:t>Counters</a:t>
            </a:r>
            <a:endParaRPr lang="en-US" sz="1300" dirty="0"/>
          </a:p>
        </p:txBody>
      </p:sp>
      <p:sp>
        <p:nvSpPr>
          <p:cNvPr id="16" name="Text 14"/>
          <p:cNvSpPr/>
          <p:nvPr/>
        </p:nvSpPr>
        <p:spPr>
          <a:xfrm>
            <a:off x="822960" y="4416552"/>
            <a:ext cx="4754880" cy="548640"/>
          </a:xfrm>
          <a:prstGeom prst="rect">
            <a:avLst/>
          </a:prstGeom>
          <a:noFill/>
        </p:spPr>
        <p:txBody>
          <a:bodyPr wrap="square" lIns="0" tIns="0" rIns="0" bIns="0" rtlCol="0" anchor="ctr"/>
          <a:lstStyle/>
          <a:p>
            <a:pPr marL="0" indent="0">
              <a:buNone/>
            </a:pPr>
            <a:r>
              <a:rPr lang="en-US" sz="1200" dirty="0">
                <a:solidFill>
                  <a:srgbClr val="9A9690"/>
                </a:solidFill>
                <a:latin typeface="Arial" panose="020B0604020202090204" pitchFamily="34" charset="0"/>
                <a:ea typeface="Arial" panose="020B0604020202090204" pitchFamily="34" charset="-122"/>
                <a:cs typeface="Arial" panose="020B0604020202090204" pitchFamily="34" charset="-120"/>
              </a:rPr>
              <a:t>ERA, NERA, and composite arrays disrupt the jet. Spaced armor and cages also degrade performance.</a:t>
            </a:r>
            <a:endParaRPr lang="en-US" sz="1200" dirty="0"/>
          </a:p>
        </p:txBody>
      </p:sp>
      <p:sp>
        <p:nvSpPr>
          <p:cNvPr id="17" name="Text 15"/>
          <p:cNvSpPr/>
          <p:nvPr/>
        </p:nvSpPr>
        <p:spPr>
          <a:xfrm>
            <a:off x="822960" y="5029200"/>
            <a:ext cx="4754880" cy="228600"/>
          </a:xfrm>
          <a:prstGeom prst="rect">
            <a:avLst/>
          </a:prstGeom>
          <a:noFill/>
        </p:spPr>
        <p:txBody>
          <a:bodyPr wrap="square" lIns="0" tIns="0" rIns="0" bIns="0" rtlCol="0" anchor="ctr"/>
          <a:lstStyle/>
          <a:p>
            <a:pPr marL="0" indent="0">
              <a:buNone/>
            </a:pPr>
            <a:r>
              <a:rPr lang="en-US" sz="1300" b="1" dirty="0">
                <a:solidFill>
                  <a:srgbClr val="E8E6E1"/>
                </a:solidFill>
                <a:latin typeface="Arial" panose="020B0604020202090204" pitchFamily="34" charset="0"/>
                <a:ea typeface="Arial" panose="020B0604020202090204" pitchFamily="34" charset="-122"/>
                <a:cs typeface="Arial" panose="020B0604020202090204" pitchFamily="34" charset="-120"/>
              </a:rPr>
              <a:t>Use Cases</a:t>
            </a:r>
            <a:endParaRPr lang="en-US" sz="1300" dirty="0"/>
          </a:p>
        </p:txBody>
      </p:sp>
      <p:sp>
        <p:nvSpPr>
          <p:cNvPr id="18" name="Text 16"/>
          <p:cNvSpPr/>
          <p:nvPr/>
        </p:nvSpPr>
        <p:spPr>
          <a:xfrm>
            <a:off x="822960" y="5285232"/>
            <a:ext cx="4754880" cy="548640"/>
          </a:xfrm>
          <a:prstGeom prst="rect">
            <a:avLst/>
          </a:prstGeom>
          <a:noFill/>
        </p:spPr>
        <p:txBody>
          <a:bodyPr wrap="square" lIns="0" tIns="0" rIns="0" bIns="0" rtlCol="0" anchor="ctr"/>
          <a:lstStyle/>
          <a:p>
            <a:pPr marL="0" indent="0">
              <a:buNone/>
            </a:pPr>
            <a:r>
              <a:rPr lang="en-US" sz="1200" dirty="0">
                <a:solidFill>
                  <a:srgbClr val="9A9690"/>
                </a:solidFill>
                <a:latin typeface="Arial" panose="020B0604020202090204" pitchFamily="34" charset="0"/>
                <a:ea typeface="Arial" panose="020B0604020202090204" pitchFamily="34" charset="-122"/>
                <a:cs typeface="Arial" panose="020B0604020202090204" pitchFamily="34" charset="-120"/>
              </a:rPr>
              <a:t>Main battle tanks, ATGMs, recoilless rifles, and infantry portable systems (RPG-7, Javelin, etc.).</a:t>
            </a:r>
            <a:endParaRPr lang="en-US" sz="1200" dirty="0"/>
          </a:p>
        </p:txBody>
      </p:sp>
      <p:sp>
        <p:nvSpPr>
          <p:cNvPr id="19" name="Shape 17"/>
          <p:cNvSpPr/>
          <p:nvPr/>
        </p:nvSpPr>
        <p:spPr>
          <a:xfrm>
            <a:off x="6309360" y="1371600"/>
            <a:ext cx="5394960" cy="4754880"/>
          </a:xfrm>
          <a:prstGeom prst="roundRect">
            <a:avLst>
              <a:gd name="adj" fmla="val 1923"/>
            </a:avLst>
          </a:prstGeom>
          <a:solidFill>
            <a:srgbClr val="14171C"/>
          </a:solidFill>
        </p:spPr>
        <p:txBody>
          <a:bodyPr/>
          <a:lstStyle/>
          <a:p>
            <a:endParaRPr lang="en-CN"/>
          </a:p>
        </p:txBody>
      </p:sp>
      <p:sp>
        <p:nvSpPr>
          <p:cNvPr id="20" name="Shape 18"/>
          <p:cNvSpPr/>
          <p:nvPr/>
        </p:nvSpPr>
        <p:spPr>
          <a:xfrm>
            <a:off x="6309360" y="1371600"/>
            <a:ext cx="109728" cy="4754880"/>
          </a:xfrm>
          <a:prstGeom prst="rect">
            <a:avLst/>
          </a:prstGeom>
          <a:solidFill>
            <a:srgbClr val="3A7CA5"/>
          </a:solidFill>
        </p:spPr>
        <p:txBody>
          <a:bodyPr/>
          <a:lstStyle/>
          <a:p>
            <a:endParaRPr lang="en-CN"/>
          </a:p>
        </p:txBody>
      </p:sp>
      <p:sp>
        <p:nvSpPr>
          <p:cNvPr id="21" name="Text 19"/>
          <p:cNvSpPr/>
          <p:nvPr/>
        </p:nvSpPr>
        <p:spPr>
          <a:xfrm>
            <a:off x="6675120" y="1554480"/>
            <a:ext cx="4754880" cy="365760"/>
          </a:xfrm>
          <a:prstGeom prst="rect">
            <a:avLst/>
          </a:prstGeom>
          <a:noFill/>
        </p:spPr>
        <p:txBody>
          <a:bodyPr wrap="square" lIns="0" tIns="0" rIns="0" bIns="0" rtlCol="0" anchor="ctr"/>
          <a:lstStyle/>
          <a:p>
            <a:pPr marL="0" indent="0">
              <a:buNone/>
            </a:pPr>
            <a:r>
              <a:rPr lang="en-US" sz="2800" b="1" dirty="0">
                <a:solidFill>
                  <a:srgbClr val="E8E6E1"/>
                </a:solidFill>
                <a:latin typeface="Arial" panose="020B0604020202090204" pitchFamily="34" charset="0"/>
                <a:ea typeface="Arial" panose="020B0604020202090204" pitchFamily="34" charset="-122"/>
                <a:cs typeface="Arial" panose="020B0604020202090204" pitchFamily="34" charset="-120"/>
              </a:rPr>
              <a:t>HE</a:t>
            </a:r>
            <a:endParaRPr lang="en-US" sz="2800" dirty="0"/>
          </a:p>
        </p:txBody>
      </p:sp>
      <p:sp>
        <p:nvSpPr>
          <p:cNvPr id="22" name="Text 20"/>
          <p:cNvSpPr/>
          <p:nvPr/>
        </p:nvSpPr>
        <p:spPr>
          <a:xfrm>
            <a:off x="6675120" y="1965960"/>
            <a:ext cx="4754880" cy="274320"/>
          </a:xfrm>
          <a:prstGeom prst="rect">
            <a:avLst/>
          </a:prstGeom>
          <a:noFill/>
        </p:spPr>
        <p:txBody>
          <a:bodyPr wrap="square" lIns="0" tIns="0" rIns="0" bIns="0" rtlCol="0" anchor="ctr"/>
          <a:lstStyle/>
          <a:p>
            <a:pPr marL="0" indent="0">
              <a:buNone/>
            </a:pPr>
            <a:r>
              <a:rPr lang="en-US" sz="1400" dirty="0">
                <a:solidFill>
                  <a:srgbClr val="3A7CA5"/>
                </a:solidFill>
                <a:latin typeface="Arial" panose="020B0604020202090204" pitchFamily="34" charset="0"/>
                <a:ea typeface="Arial" panose="020B0604020202090204" pitchFamily="34" charset="-122"/>
                <a:cs typeface="Arial" panose="020B0604020202090204" pitchFamily="34" charset="-120"/>
              </a:rPr>
              <a:t>High Explosive</a:t>
            </a:r>
            <a:endParaRPr lang="en-US" sz="1400" dirty="0"/>
          </a:p>
        </p:txBody>
      </p:sp>
      <p:sp>
        <p:nvSpPr>
          <p:cNvPr id="23" name="Text 21"/>
          <p:cNvSpPr/>
          <p:nvPr/>
        </p:nvSpPr>
        <p:spPr>
          <a:xfrm>
            <a:off x="6675120" y="2423160"/>
            <a:ext cx="4754880" cy="228600"/>
          </a:xfrm>
          <a:prstGeom prst="rect">
            <a:avLst/>
          </a:prstGeom>
          <a:noFill/>
        </p:spPr>
        <p:txBody>
          <a:bodyPr wrap="square" lIns="0" tIns="0" rIns="0" bIns="0" rtlCol="0" anchor="ctr"/>
          <a:lstStyle/>
          <a:p>
            <a:pPr marL="0" indent="0">
              <a:buNone/>
            </a:pPr>
            <a:r>
              <a:rPr lang="en-US" sz="1300" b="1" dirty="0">
                <a:solidFill>
                  <a:srgbClr val="E8E6E1"/>
                </a:solidFill>
                <a:latin typeface="Arial" panose="020B0604020202090204" pitchFamily="34" charset="0"/>
                <a:ea typeface="Arial" panose="020B0604020202090204" pitchFamily="34" charset="-122"/>
                <a:cs typeface="Arial" panose="020B0604020202090204" pitchFamily="34" charset="-120"/>
              </a:rPr>
              <a:t>Principle</a:t>
            </a:r>
            <a:endParaRPr lang="en-US" sz="1300" dirty="0"/>
          </a:p>
        </p:txBody>
      </p:sp>
      <p:sp>
        <p:nvSpPr>
          <p:cNvPr id="24" name="Text 22"/>
          <p:cNvSpPr/>
          <p:nvPr/>
        </p:nvSpPr>
        <p:spPr>
          <a:xfrm>
            <a:off x="6675120" y="2679192"/>
            <a:ext cx="4754880" cy="548640"/>
          </a:xfrm>
          <a:prstGeom prst="rect">
            <a:avLst/>
          </a:prstGeom>
          <a:noFill/>
        </p:spPr>
        <p:txBody>
          <a:bodyPr wrap="square" lIns="0" tIns="0" rIns="0" bIns="0" rtlCol="0" anchor="ctr"/>
          <a:lstStyle/>
          <a:p>
            <a:pPr marL="0" indent="0">
              <a:buNone/>
            </a:pPr>
            <a:r>
              <a:rPr lang="en-US" sz="1200" dirty="0">
                <a:solidFill>
                  <a:srgbClr val="9A9690"/>
                </a:solidFill>
                <a:latin typeface="Arial" panose="020B0604020202090204" pitchFamily="34" charset="0"/>
                <a:ea typeface="Arial" panose="020B0604020202090204" pitchFamily="34" charset="-122"/>
                <a:cs typeface="Arial" panose="020B0604020202090204" pitchFamily="34" charset="-120"/>
              </a:rPr>
              <a:t>Thin-walled shell filled with high explosive. Detonation produces blast overpressure and fragmentation effects against soft targets.</a:t>
            </a:r>
            <a:endParaRPr lang="en-US" sz="1200" dirty="0"/>
          </a:p>
        </p:txBody>
      </p:sp>
      <p:sp>
        <p:nvSpPr>
          <p:cNvPr id="25" name="Text 23"/>
          <p:cNvSpPr/>
          <p:nvPr/>
        </p:nvSpPr>
        <p:spPr>
          <a:xfrm>
            <a:off x="6675120" y="3291840"/>
            <a:ext cx="4754880" cy="228600"/>
          </a:xfrm>
          <a:prstGeom prst="rect">
            <a:avLst/>
          </a:prstGeom>
          <a:noFill/>
        </p:spPr>
        <p:txBody>
          <a:bodyPr wrap="square" lIns="0" tIns="0" rIns="0" bIns="0" rtlCol="0" anchor="ctr"/>
          <a:lstStyle/>
          <a:p>
            <a:pPr marL="0" indent="0">
              <a:buNone/>
            </a:pPr>
            <a:r>
              <a:rPr lang="en-US" sz="1300" b="1" dirty="0">
                <a:solidFill>
                  <a:srgbClr val="E8E6E1"/>
                </a:solidFill>
                <a:latin typeface="Arial" panose="020B0604020202090204" pitchFamily="34" charset="0"/>
                <a:ea typeface="Arial" panose="020B0604020202090204" pitchFamily="34" charset="-122"/>
                <a:cs typeface="Arial" panose="020B0604020202090204" pitchFamily="34" charset="-120"/>
              </a:rPr>
              <a:t>Variants</a:t>
            </a:r>
            <a:endParaRPr lang="en-US" sz="1300" dirty="0"/>
          </a:p>
        </p:txBody>
      </p:sp>
      <p:sp>
        <p:nvSpPr>
          <p:cNvPr id="26" name="Text 24"/>
          <p:cNvSpPr/>
          <p:nvPr/>
        </p:nvSpPr>
        <p:spPr>
          <a:xfrm>
            <a:off x="6675120" y="3547872"/>
            <a:ext cx="4754880" cy="548640"/>
          </a:xfrm>
          <a:prstGeom prst="rect">
            <a:avLst/>
          </a:prstGeom>
          <a:noFill/>
        </p:spPr>
        <p:txBody>
          <a:bodyPr wrap="square" lIns="0" tIns="0" rIns="0" bIns="0" rtlCol="0" anchor="ctr"/>
          <a:lstStyle/>
          <a:p>
            <a:pPr marL="0" indent="0">
              <a:buNone/>
            </a:pPr>
            <a:r>
              <a:rPr lang="en-US" sz="1200" dirty="0">
                <a:solidFill>
                  <a:srgbClr val="9A9690"/>
                </a:solidFill>
                <a:latin typeface="Arial" panose="020B0604020202090204" pitchFamily="34" charset="0"/>
                <a:ea typeface="Arial" panose="020B0604020202090204" pitchFamily="34" charset="-122"/>
                <a:cs typeface="Arial" panose="020B0604020202090204" pitchFamily="34" charset="-120"/>
              </a:rPr>
              <a:t>HE-Frag, HEAT-MP (multi-purpose), and programmable airburst (e.g., 40 mm, 120 mm) for enhanced lethality against infantry.</a:t>
            </a:r>
            <a:endParaRPr lang="en-US" sz="1200" dirty="0"/>
          </a:p>
        </p:txBody>
      </p:sp>
      <p:sp>
        <p:nvSpPr>
          <p:cNvPr id="27" name="Text 25"/>
          <p:cNvSpPr/>
          <p:nvPr/>
        </p:nvSpPr>
        <p:spPr>
          <a:xfrm>
            <a:off x="6675120" y="4160520"/>
            <a:ext cx="4754880" cy="228600"/>
          </a:xfrm>
          <a:prstGeom prst="rect">
            <a:avLst/>
          </a:prstGeom>
          <a:noFill/>
        </p:spPr>
        <p:txBody>
          <a:bodyPr wrap="square" lIns="0" tIns="0" rIns="0" bIns="0" rtlCol="0" anchor="ctr"/>
          <a:lstStyle/>
          <a:p>
            <a:pPr marL="0" indent="0">
              <a:buNone/>
            </a:pPr>
            <a:r>
              <a:rPr lang="en-US" sz="1300" b="1" dirty="0">
                <a:solidFill>
                  <a:srgbClr val="E8E6E1"/>
                </a:solidFill>
                <a:latin typeface="Arial" panose="020B0604020202090204" pitchFamily="34" charset="0"/>
                <a:ea typeface="Arial" panose="020B0604020202090204" pitchFamily="34" charset="-122"/>
                <a:cs typeface="Arial" panose="020B0604020202090204" pitchFamily="34" charset="-120"/>
              </a:rPr>
              <a:t>Fuzing</a:t>
            </a:r>
            <a:endParaRPr lang="en-US" sz="1300" dirty="0"/>
          </a:p>
        </p:txBody>
      </p:sp>
      <p:sp>
        <p:nvSpPr>
          <p:cNvPr id="28" name="Text 26"/>
          <p:cNvSpPr/>
          <p:nvPr/>
        </p:nvSpPr>
        <p:spPr>
          <a:xfrm>
            <a:off x="6675120" y="4416552"/>
            <a:ext cx="4754880" cy="548640"/>
          </a:xfrm>
          <a:prstGeom prst="rect">
            <a:avLst/>
          </a:prstGeom>
          <a:noFill/>
        </p:spPr>
        <p:txBody>
          <a:bodyPr wrap="square" lIns="0" tIns="0" rIns="0" bIns="0" rtlCol="0" anchor="ctr"/>
          <a:lstStyle/>
          <a:p>
            <a:pPr marL="0" indent="0">
              <a:buNone/>
            </a:pPr>
            <a:r>
              <a:rPr lang="en-US" sz="1200" dirty="0">
                <a:solidFill>
                  <a:srgbClr val="9A9690"/>
                </a:solidFill>
                <a:latin typeface="Arial" panose="020B0604020202090204" pitchFamily="34" charset="0"/>
                <a:ea typeface="Arial" panose="020B0604020202090204" pitchFamily="34" charset="-122"/>
                <a:cs typeface="Arial" panose="020B0604020202090204" pitchFamily="34" charset="-120"/>
              </a:rPr>
              <a:t>Point-detonating, delayed, proximity, or time fuzes. Modern systems use electronic multi-mode fuzes selectable in-flight.</a:t>
            </a:r>
            <a:endParaRPr lang="en-US" sz="1200" dirty="0"/>
          </a:p>
        </p:txBody>
      </p:sp>
      <p:sp>
        <p:nvSpPr>
          <p:cNvPr id="29" name="Text 27"/>
          <p:cNvSpPr/>
          <p:nvPr/>
        </p:nvSpPr>
        <p:spPr>
          <a:xfrm>
            <a:off x="6675120" y="5029200"/>
            <a:ext cx="4754880" cy="228600"/>
          </a:xfrm>
          <a:prstGeom prst="rect">
            <a:avLst/>
          </a:prstGeom>
          <a:noFill/>
        </p:spPr>
        <p:txBody>
          <a:bodyPr wrap="square" lIns="0" tIns="0" rIns="0" bIns="0" rtlCol="0" anchor="ctr"/>
          <a:lstStyle/>
          <a:p>
            <a:pPr marL="0" indent="0">
              <a:buNone/>
            </a:pPr>
            <a:r>
              <a:rPr lang="en-US" sz="1300" b="1" dirty="0">
                <a:solidFill>
                  <a:srgbClr val="E8E6E1"/>
                </a:solidFill>
                <a:latin typeface="Arial" panose="020B0604020202090204" pitchFamily="34" charset="0"/>
                <a:ea typeface="Arial" panose="020B0604020202090204" pitchFamily="34" charset="-122"/>
                <a:cs typeface="Arial" panose="020B0604020202090204" pitchFamily="34" charset="-120"/>
              </a:rPr>
              <a:t>Role</a:t>
            </a:r>
            <a:endParaRPr lang="en-US" sz="1300" dirty="0"/>
          </a:p>
        </p:txBody>
      </p:sp>
      <p:sp>
        <p:nvSpPr>
          <p:cNvPr id="30" name="Text 28"/>
          <p:cNvSpPr/>
          <p:nvPr/>
        </p:nvSpPr>
        <p:spPr>
          <a:xfrm>
            <a:off x="6675120" y="5285232"/>
            <a:ext cx="4754880" cy="548640"/>
          </a:xfrm>
          <a:prstGeom prst="rect">
            <a:avLst/>
          </a:prstGeom>
          <a:noFill/>
        </p:spPr>
        <p:txBody>
          <a:bodyPr wrap="square" lIns="0" tIns="0" rIns="0" bIns="0" rtlCol="0" anchor="ctr"/>
          <a:lstStyle/>
          <a:p>
            <a:pPr marL="0" indent="0">
              <a:buNone/>
            </a:pPr>
            <a:r>
              <a:rPr lang="en-US" sz="1200" dirty="0">
                <a:solidFill>
                  <a:srgbClr val="9A9690"/>
                </a:solidFill>
                <a:latin typeface="Arial" panose="020B0604020202090204" pitchFamily="34" charset="0"/>
                <a:ea typeface="Arial" panose="020B0604020202090204" pitchFamily="34" charset="-122"/>
                <a:cs typeface="Arial" panose="020B0604020202090204" pitchFamily="34" charset="-120"/>
              </a:rPr>
              <a:t>Infantry support, fortification reduction, light armor defeat, and area suppression. Primary secondary armament for MBTs.</a:t>
            </a:r>
            <a:endParaRPr lang="en-US" sz="1200" dirty="0"/>
          </a:p>
        </p:txBody>
      </p:sp>
      <p:pic>
        <p:nvPicPr>
          <p:cNvPr id="31" name="Picture 30">
            <a:extLst>
              <a:ext uri="{FF2B5EF4-FFF2-40B4-BE49-F238E27FC236}">
                <a16:creationId xmlns:a16="http://schemas.microsoft.com/office/drawing/2014/main" id="{3BCAF4E0-01F9-133D-28F2-C81811BE542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3003452" y="1451400"/>
            <a:ext cx="1405304" cy="1227792"/>
          </a:xfrm>
          <a:prstGeom prst="rect">
            <a:avLst/>
          </a:prstGeom>
        </p:spPr>
      </p:pic>
      <p:pic>
        <p:nvPicPr>
          <p:cNvPr id="33" name="Picture 32">
            <a:extLst>
              <a:ext uri="{FF2B5EF4-FFF2-40B4-BE49-F238E27FC236}">
                <a16:creationId xmlns:a16="http://schemas.microsoft.com/office/drawing/2014/main" id="{C6EC99BF-3D92-09D4-5B9F-64DAE03020A8}"/>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142530" y="557784"/>
            <a:ext cx="1595830" cy="208737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56032"/>
            <a:ext cx="3657600" cy="274320"/>
          </a:xfrm>
          <a:prstGeom prst="rect">
            <a:avLst/>
          </a:prstGeom>
          <a:noFill/>
        </p:spPr>
        <p:txBody>
          <a:bodyPr wrap="square" lIns="0" tIns="0" rIns="0" bIns="0" rtlCol="0" anchor="ctr"/>
          <a:lstStyle/>
          <a:p>
            <a:pPr marL="0" indent="0">
              <a:buNone/>
            </a:pPr>
            <a:r>
              <a:rPr lang="en-US" sz="1100" kern="0" spc="200" dirty="0">
                <a:solidFill>
                  <a:srgbClr val="5C5954"/>
                </a:solidFill>
                <a:latin typeface="Arial" panose="020B0604020202090204" pitchFamily="34" charset="0"/>
                <a:ea typeface="Arial" panose="020B0604020202090204" pitchFamily="34" charset="-122"/>
                <a:cs typeface="Arial" panose="020B0604020202090204" pitchFamily="34" charset="-120"/>
              </a:rPr>
              <a:t>MODERN MUNITIONS</a:t>
            </a:r>
            <a:endParaRPr lang="en-US" sz="1100" dirty="0"/>
          </a:p>
        </p:txBody>
      </p:sp>
      <p:sp>
        <p:nvSpPr>
          <p:cNvPr id="3" name="Text 1"/>
          <p:cNvSpPr/>
          <p:nvPr/>
        </p:nvSpPr>
        <p:spPr>
          <a:xfrm>
            <a:off x="7772400" y="256032"/>
            <a:ext cx="3931920" cy="274320"/>
          </a:xfrm>
          <a:prstGeom prst="rect">
            <a:avLst/>
          </a:prstGeom>
          <a:noFill/>
        </p:spPr>
        <p:txBody>
          <a:bodyPr wrap="square" lIns="0" tIns="0" rIns="0" bIns="0" rtlCol="0" anchor="ctr"/>
          <a:lstStyle/>
          <a:p>
            <a:pPr marL="0" indent="0" algn="r">
              <a:buNone/>
            </a:pPr>
            <a:r>
              <a:rPr lang="en-US" sz="1100" dirty="0">
                <a:solidFill>
                  <a:srgbClr val="9A9690"/>
                </a:solidFill>
                <a:latin typeface="Arial" panose="020B0604020202090204" pitchFamily="34" charset="0"/>
                <a:ea typeface="Arial" panose="020B0604020202090204" pitchFamily="34" charset="-122"/>
                <a:cs typeface="Arial" panose="020B0604020202090204" pitchFamily="34" charset="-120"/>
              </a:rPr>
              <a:t>AMMUNITION  ·  02</a:t>
            </a:r>
            <a:endParaRPr lang="en-US" sz="1100" dirty="0"/>
          </a:p>
        </p:txBody>
      </p:sp>
      <p:sp>
        <p:nvSpPr>
          <p:cNvPr id="4" name="Shape 2"/>
          <p:cNvSpPr/>
          <p:nvPr/>
        </p:nvSpPr>
        <p:spPr>
          <a:xfrm>
            <a:off x="457200" y="566928"/>
            <a:ext cx="11277295" cy="13716"/>
          </a:xfrm>
          <a:prstGeom prst="rect">
            <a:avLst/>
          </a:prstGeom>
          <a:solidFill>
            <a:srgbClr val="2A2D33"/>
          </a:solidFill>
        </p:spPr>
        <p:txBody>
          <a:bodyPr/>
          <a:lstStyle/>
          <a:p>
            <a:endParaRPr lang="en-CN"/>
          </a:p>
        </p:txBody>
      </p:sp>
      <p:sp>
        <p:nvSpPr>
          <p:cNvPr id="5" name="Text 3"/>
          <p:cNvSpPr/>
          <p:nvPr/>
        </p:nvSpPr>
        <p:spPr>
          <a:xfrm>
            <a:off x="10241280" y="6510528"/>
            <a:ext cx="1463040" cy="228600"/>
          </a:xfrm>
          <a:prstGeom prst="rect">
            <a:avLst/>
          </a:prstGeom>
          <a:noFill/>
        </p:spPr>
        <p:txBody>
          <a:bodyPr wrap="square" lIns="0" tIns="0" rIns="0" bIns="0" rtlCol="0" anchor="ctr"/>
          <a:lstStyle/>
          <a:p>
            <a:pPr marL="0" indent="0" algn="r">
              <a:buNone/>
            </a:pPr>
            <a:r>
              <a:rPr lang="en-US" sz="1100" dirty="0">
                <a:solidFill>
                  <a:srgbClr val="5C5954"/>
                </a:solidFill>
                <a:latin typeface="Arial" panose="020B0604020202090204" pitchFamily="34" charset="0"/>
                <a:ea typeface="Arial" panose="020B0604020202090204" pitchFamily="34" charset="-122"/>
                <a:cs typeface="Arial" panose="020B0604020202090204" pitchFamily="34" charset="-120"/>
              </a:rPr>
              <a:t>02  /  06</a:t>
            </a:r>
            <a:endParaRPr lang="en-US" sz="1100" dirty="0"/>
          </a:p>
        </p:txBody>
      </p:sp>
      <p:sp>
        <p:nvSpPr>
          <p:cNvPr id="6" name="Text 4"/>
          <p:cNvSpPr/>
          <p:nvPr/>
        </p:nvSpPr>
        <p:spPr>
          <a:xfrm>
            <a:off x="457200" y="777240"/>
            <a:ext cx="10972800" cy="365760"/>
          </a:xfrm>
          <a:prstGeom prst="rect">
            <a:avLst/>
          </a:prstGeom>
          <a:noFill/>
        </p:spPr>
        <p:txBody>
          <a:bodyPr wrap="square" lIns="0" tIns="0" rIns="0" bIns="0" rtlCol="0" anchor="ctr"/>
          <a:lstStyle/>
          <a:p>
            <a:pPr marL="0" indent="0">
              <a:buNone/>
            </a:pPr>
            <a:r>
              <a:rPr lang="en-US" sz="2200" b="1" dirty="0">
                <a:solidFill>
                  <a:srgbClr val="FF0000"/>
                </a:solidFill>
                <a:highlight>
                  <a:srgbClr val="FFFF00"/>
                </a:highlight>
                <a:latin typeface="Arial" panose="020B0604020202090204" pitchFamily="34" charset="0"/>
                <a:ea typeface="Arial" panose="020B0604020202090204" pitchFamily="34" charset="-122"/>
                <a:cs typeface="Arial" panose="020B0604020202090204" pitchFamily="34" charset="-120"/>
              </a:rPr>
              <a:t>Armor-Piercing</a:t>
            </a:r>
            <a:r>
              <a:rPr lang="en-US" sz="2200" b="1" dirty="0">
                <a:solidFill>
                  <a:srgbClr val="E8E6E1"/>
                </a:solidFill>
                <a:latin typeface="Arial" panose="020B0604020202090204" pitchFamily="34" charset="0"/>
                <a:ea typeface="Arial" panose="020B0604020202090204" pitchFamily="34" charset="-122"/>
                <a:cs typeface="Arial" panose="020B0604020202090204" pitchFamily="34" charset="-120"/>
              </a:rPr>
              <a:t> </a:t>
            </a:r>
            <a:r>
              <a:rPr lang="en-US" sz="2200" b="1" dirty="0">
                <a:solidFill>
                  <a:srgbClr val="0070C0"/>
                </a:solidFill>
                <a:latin typeface="Arial" panose="020B0604020202090204" pitchFamily="34" charset="0"/>
                <a:ea typeface="Arial" panose="020B0604020202090204" pitchFamily="34" charset="-122"/>
                <a:cs typeface="Arial" panose="020B0604020202090204" pitchFamily="34" charset="-120"/>
              </a:rPr>
              <a:t>Kinetic Rounds</a:t>
            </a:r>
            <a:endParaRPr lang="en-US" sz="2200" dirty="0">
              <a:solidFill>
                <a:srgbClr val="0070C0"/>
              </a:solidFill>
            </a:endParaRPr>
          </a:p>
        </p:txBody>
      </p:sp>
      <p:sp>
        <p:nvSpPr>
          <p:cNvPr id="7" name="Shape 5"/>
          <p:cNvSpPr/>
          <p:nvPr/>
        </p:nvSpPr>
        <p:spPr>
          <a:xfrm>
            <a:off x="457200" y="1371600"/>
            <a:ext cx="5394960" cy="4754880"/>
          </a:xfrm>
          <a:prstGeom prst="roundRect">
            <a:avLst>
              <a:gd name="adj" fmla="val 1923"/>
            </a:avLst>
          </a:prstGeom>
          <a:solidFill>
            <a:srgbClr val="14171C"/>
          </a:solidFill>
        </p:spPr>
        <p:txBody>
          <a:bodyPr/>
          <a:lstStyle/>
          <a:p>
            <a:endParaRPr lang="en-CN"/>
          </a:p>
        </p:txBody>
      </p:sp>
      <p:sp>
        <p:nvSpPr>
          <p:cNvPr id="8" name="Shape 6"/>
          <p:cNvSpPr/>
          <p:nvPr/>
        </p:nvSpPr>
        <p:spPr>
          <a:xfrm>
            <a:off x="457200" y="1371600"/>
            <a:ext cx="109728" cy="4754880"/>
          </a:xfrm>
          <a:prstGeom prst="rect">
            <a:avLst/>
          </a:prstGeom>
          <a:solidFill>
            <a:srgbClr val="C45C26"/>
          </a:solidFill>
        </p:spPr>
        <p:txBody>
          <a:bodyPr/>
          <a:lstStyle/>
          <a:p>
            <a:endParaRPr lang="en-CN"/>
          </a:p>
        </p:txBody>
      </p:sp>
      <p:sp>
        <p:nvSpPr>
          <p:cNvPr id="9" name="Text 7"/>
          <p:cNvSpPr/>
          <p:nvPr/>
        </p:nvSpPr>
        <p:spPr>
          <a:xfrm>
            <a:off x="822960" y="1554480"/>
            <a:ext cx="4754880" cy="365760"/>
          </a:xfrm>
          <a:prstGeom prst="rect">
            <a:avLst/>
          </a:prstGeom>
          <a:noFill/>
        </p:spPr>
        <p:txBody>
          <a:bodyPr wrap="square" lIns="0" tIns="0" rIns="0" bIns="0" rtlCol="0" anchor="ctr"/>
          <a:lstStyle/>
          <a:p>
            <a:pPr marL="0" indent="0">
              <a:buNone/>
            </a:pPr>
            <a:r>
              <a:rPr lang="en-US" sz="2600" b="1" dirty="0">
                <a:solidFill>
                  <a:srgbClr val="E8E6E1"/>
                </a:solidFill>
                <a:latin typeface="Arial" panose="020B0604020202090204" pitchFamily="34" charset="0"/>
                <a:ea typeface="Arial" panose="020B0604020202090204" pitchFamily="34" charset="-122"/>
                <a:cs typeface="Arial" panose="020B0604020202090204" pitchFamily="34" charset="-120"/>
              </a:rPr>
              <a:t>AP / APHE</a:t>
            </a:r>
            <a:endParaRPr lang="en-US" sz="2600" dirty="0"/>
          </a:p>
        </p:txBody>
      </p:sp>
      <p:sp>
        <p:nvSpPr>
          <p:cNvPr id="10" name="Text 8"/>
          <p:cNvSpPr/>
          <p:nvPr/>
        </p:nvSpPr>
        <p:spPr>
          <a:xfrm>
            <a:off x="822960" y="1965960"/>
            <a:ext cx="4754880" cy="274320"/>
          </a:xfrm>
          <a:prstGeom prst="rect">
            <a:avLst/>
          </a:prstGeom>
          <a:noFill/>
        </p:spPr>
        <p:txBody>
          <a:bodyPr wrap="square" lIns="0" tIns="0" rIns="0" bIns="0" rtlCol="0" anchor="ctr"/>
          <a:lstStyle/>
          <a:p>
            <a:pPr marL="0" indent="0">
              <a:buNone/>
            </a:pPr>
            <a:r>
              <a:rPr lang="en-US" sz="1300" dirty="0">
                <a:solidFill>
                  <a:srgbClr val="C45C26"/>
                </a:solidFill>
                <a:latin typeface="Arial" panose="020B0604020202090204" pitchFamily="34" charset="0"/>
                <a:ea typeface="Arial" panose="020B0604020202090204" pitchFamily="34" charset="-122"/>
                <a:cs typeface="Arial" panose="020B0604020202090204" pitchFamily="34" charset="-120"/>
              </a:rPr>
              <a:t>Armor-Piercing / Armor-Piercing High-Explosive</a:t>
            </a:r>
            <a:endParaRPr lang="en-US" sz="1300" dirty="0"/>
          </a:p>
        </p:txBody>
      </p:sp>
      <p:sp>
        <p:nvSpPr>
          <p:cNvPr id="11" name="Text 9"/>
          <p:cNvSpPr/>
          <p:nvPr/>
        </p:nvSpPr>
        <p:spPr>
          <a:xfrm>
            <a:off x="822960" y="2423160"/>
            <a:ext cx="4754880" cy="228600"/>
          </a:xfrm>
          <a:prstGeom prst="rect">
            <a:avLst/>
          </a:prstGeom>
          <a:noFill/>
        </p:spPr>
        <p:txBody>
          <a:bodyPr wrap="square" lIns="0" tIns="0" rIns="0" bIns="0" rtlCol="0" anchor="ctr"/>
          <a:lstStyle/>
          <a:p>
            <a:pPr marL="0" indent="0">
              <a:buNone/>
            </a:pPr>
            <a:r>
              <a:rPr lang="en-US" sz="1300" b="1" dirty="0">
                <a:solidFill>
                  <a:srgbClr val="E8E6E1"/>
                </a:solidFill>
                <a:latin typeface="Arial" panose="020B0604020202090204" pitchFamily="34" charset="0"/>
                <a:ea typeface="Arial" panose="020B0604020202090204" pitchFamily="34" charset="-122"/>
                <a:cs typeface="Arial" panose="020B0604020202090204" pitchFamily="34" charset="-120"/>
              </a:rPr>
              <a:t>AP Principle</a:t>
            </a:r>
            <a:endParaRPr lang="en-US" sz="1300" dirty="0"/>
          </a:p>
        </p:txBody>
      </p:sp>
      <p:sp>
        <p:nvSpPr>
          <p:cNvPr id="12" name="Text 10"/>
          <p:cNvSpPr/>
          <p:nvPr/>
        </p:nvSpPr>
        <p:spPr>
          <a:xfrm>
            <a:off x="822960" y="2679192"/>
            <a:ext cx="4754880" cy="548640"/>
          </a:xfrm>
          <a:prstGeom prst="rect">
            <a:avLst/>
          </a:prstGeom>
          <a:noFill/>
        </p:spPr>
        <p:txBody>
          <a:bodyPr wrap="square" lIns="0" tIns="0" rIns="0" bIns="0" rtlCol="0" anchor="ctr"/>
          <a:lstStyle/>
          <a:p>
            <a:pPr marL="0" indent="0">
              <a:buNone/>
            </a:pPr>
            <a:r>
              <a:rPr lang="en-US" sz="1200" dirty="0">
                <a:solidFill>
                  <a:srgbClr val="9A9690"/>
                </a:solidFill>
                <a:latin typeface="Arial" panose="020B0604020202090204" pitchFamily="34" charset="0"/>
                <a:ea typeface="Arial" panose="020B0604020202090204" pitchFamily="34" charset="-122"/>
                <a:cs typeface="Arial" panose="020B0604020202090204" pitchFamily="34" charset="-120"/>
              </a:rPr>
              <a:t>Solid dense projectile (steel or tungsten) relies on kinetic energy and sectional density to punch through armor plate.</a:t>
            </a:r>
            <a:endParaRPr lang="en-US" sz="1200" dirty="0"/>
          </a:p>
        </p:txBody>
      </p:sp>
      <p:sp>
        <p:nvSpPr>
          <p:cNvPr id="13" name="Text 11"/>
          <p:cNvSpPr/>
          <p:nvPr/>
        </p:nvSpPr>
        <p:spPr>
          <a:xfrm>
            <a:off x="822960" y="3291840"/>
            <a:ext cx="4754880" cy="228600"/>
          </a:xfrm>
          <a:prstGeom prst="rect">
            <a:avLst/>
          </a:prstGeom>
          <a:noFill/>
        </p:spPr>
        <p:txBody>
          <a:bodyPr wrap="square" lIns="0" tIns="0" rIns="0" bIns="0" rtlCol="0" anchor="ctr"/>
          <a:lstStyle/>
          <a:p>
            <a:pPr marL="0" indent="0">
              <a:buNone/>
            </a:pPr>
            <a:r>
              <a:rPr lang="en-US" sz="1300" b="1" dirty="0">
                <a:solidFill>
                  <a:srgbClr val="E8E6E1"/>
                </a:solidFill>
                <a:latin typeface="Arial" panose="020B0604020202090204" pitchFamily="34" charset="0"/>
                <a:ea typeface="Arial" panose="020B0604020202090204" pitchFamily="34" charset="-122"/>
                <a:cs typeface="Arial" panose="020B0604020202090204" pitchFamily="34" charset="-120"/>
              </a:rPr>
              <a:t>APHE</a:t>
            </a:r>
            <a:endParaRPr lang="en-US" sz="1300" dirty="0"/>
          </a:p>
        </p:txBody>
      </p:sp>
      <p:sp>
        <p:nvSpPr>
          <p:cNvPr id="14" name="Text 12"/>
          <p:cNvSpPr/>
          <p:nvPr/>
        </p:nvSpPr>
        <p:spPr>
          <a:xfrm>
            <a:off x="822960" y="3547872"/>
            <a:ext cx="4754880" cy="548640"/>
          </a:xfrm>
          <a:prstGeom prst="rect">
            <a:avLst/>
          </a:prstGeom>
          <a:noFill/>
        </p:spPr>
        <p:txBody>
          <a:bodyPr wrap="square" lIns="0" tIns="0" rIns="0" bIns="0" rtlCol="0" anchor="ctr"/>
          <a:lstStyle/>
          <a:p>
            <a:pPr marL="0" indent="0">
              <a:buNone/>
            </a:pPr>
            <a:r>
              <a:rPr lang="en-US" sz="1200" dirty="0">
                <a:solidFill>
                  <a:srgbClr val="9A9690"/>
                </a:solidFill>
                <a:latin typeface="Arial" panose="020B0604020202090204" pitchFamily="34" charset="0"/>
                <a:ea typeface="Arial" panose="020B0604020202090204" pitchFamily="34" charset="-122"/>
                <a:cs typeface="Arial" panose="020B0604020202090204" pitchFamily="34" charset="-120"/>
              </a:rPr>
              <a:t>AP shell with a small explosive burster and base fuze. After penetration the charge detonates, increasing behind-armor effect (spall + blast).</a:t>
            </a:r>
            <a:endParaRPr lang="en-US" sz="1200" dirty="0"/>
          </a:p>
        </p:txBody>
      </p:sp>
      <p:sp>
        <p:nvSpPr>
          <p:cNvPr id="15" name="Text 13"/>
          <p:cNvSpPr/>
          <p:nvPr/>
        </p:nvSpPr>
        <p:spPr>
          <a:xfrm>
            <a:off x="822960" y="4160520"/>
            <a:ext cx="4754880" cy="228600"/>
          </a:xfrm>
          <a:prstGeom prst="rect">
            <a:avLst/>
          </a:prstGeom>
          <a:noFill/>
        </p:spPr>
        <p:txBody>
          <a:bodyPr wrap="square" lIns="0" tIns="0" rIns="0" bIns="0" rtlCol="0" anchor="ctr"/>
          <a:lstStyle/>
          <a:p>
            <a:pPr marL="0" indent="0">
              <a:buNone/>
            </a:pPr>
            <a:r>
              <a:rPr lang="en-US" sz="1300" b="1" dirty="0">
                <a:solidFill>
                  <a:srgbClr val="E8E6E1"/>
                </a:solidFill>
                <a:latin typeface="Arial" panose="020B0604020202090204" pitchFamily="34" charset="0"/>
                <a:ea typeface="Arial" panose="020B0604020202090204" pitchFamily="34" charset="-122"/>
                <a:cs typeface="Arial" panose="020B0604020202090204" pitchFamily="34" charset="-120"/>
              </a:rPr>
              <a:t>Era</a:t>
            </a:r>
            <a:endParaRPr lang="en-US" sz="1300" dirty="0"/>
          </a:p>
        </p:txBody>
      </p:sp>
      <p:sp>
        <p:nvSpPr>
          <p:cNvPr id="16" name="Text 14"/>
          <p:cNvSpPr/>
          <p:nvPr/>
        </p:nvSpPr>
        <p:spPr>
          <a:xfrm>
            <a:off x="822960" y="4416552"/>
            <a:ext cx="4754880" cy="548640"/>
          </a:xfrm>
          <a:prstGeom prst="rect">
            <a:avLst/>
          </a:prstGeom>
          <a:noFill/>
        </p:spPr>
        <p:txBody>
          <a:bodyPr wrap="square" lIns="0" tIns="0" rIns="0" bIns="0" rtlCol="0" anchor="ctr"/>
          <a:lstStyle/>
          <a:p>
            <a:r>
              <a:rPr lang="en-US" sz="1200" dirty="0">
                <a:solidFill>
                  <a:srgbClr val="9A9690"/>
                </a:solidFill>
                <a:latin typeface="Arial" panose="020B0604020202090204" pitchFamily="34" charset="0"/>
                <a:ea typeface="Arial" panose="020B0604020202090204" pitchFamily="34" charset="-122"/>
                <a:cs typeface="Arial" panose="020B0604020202090204" pitchFamily="34" charset="-120"/>
              </a:rPr>
              <a:t>Dominant WWII through early Cold War. Largely superseded by the </a:t>
            </a:r>
            <a:r>
              <a:rPr lang="en-CN" b="1" dirty="0">
                <a:solidFill>
                  <a:srgbClr val="0070C0"/>
                </a:solidFill>
              </a:rPr>
              <a:t>Armor-Piercing Discarding Sabot</a:t>
            </a:r>
            <a:r>
              <a:rPr lang="en-US" sz="1200" dirty="0">
                <a:solidFill>
                  <a:srgbClr val="0070C0"/>
                </a:solidFill>
                <a:latin typeface="Arial" panose="020B0604020202090204" pitchFamily="34" charset="0"/>
                <a:ea typeface="Arial" panose="020B0604020202090204" pitchFamily="34" charset="-122"/>
                <a:cs typeface="Arial" panose="020B0604020202090204" pitchFamily="34" charset="-120"/>
              </a:rPr>
              <a:t> </a:t>
            </a:r>
            <a:r>
              <a:rPr lang="en-US" sz="1200" dirty="0">
                <a:solidFill>
                  <a:srgbClr val="9A9690"/>
                </a:solidFill>
                <a:latin typeface="Arial" panose="020B0604020202090204" pitchFamily="34" charset="0"/>
                <a:ea typeface="Arial" panose="020B0604020202090204" pitchFamily="34" charset="-122"/>
                <a:cs typeface="Arial" panose="020B0604020202090204" pitchFamily="34" charset="-120"/>
              </a:rPr>
              <a:t>and later APFSDS for main tank guns.</a:t>
            </a:r>
            <a:endParaRPr lang="en-US" sz="1200" dirty="0"/>
          </a:p>
        </p:txBody>
      </p:sp>
      <p:sp>
        <p:nvSpPr>
          <p:cNvPr id="17" name="Text 15"/>
          <p:cNvSpPr/>
          <p:nvPr/>
        </p:nvSpPr>
        <p:spPr>
          <a:xfrm>
            <a:off x="822960" y="5029200"/>
            <a:ext cx="4754880" cy="228600"/>
          </a:xfrm>
          <a:prstGeom prst="rect">
            <a:avLst/>
          </a:prstGeom>
          <a:noFill/>
        </p:spPr>
        <p:txBody>
          <a:bodyPr wrap="square" lIns="0" tIns="0" rIns="0" bIns="0" rtlCol="0" anchor="ctr"/>
          <a:lstStyle/>
          <a:p>
            <a:pPr marL="0" indent="0">
              <a:buNone/>
            </a:pPr>
            <a:r>
              <a:rPr lang="en-US" sz="1300" b="1" dirty="0">
                <a:solidFill>
                  <a:srgbClr val="E8E6E1"/>
                </a:solidFill>
                <a:latin typeface="Arial" panose="020B0604020202090204" pitchFamily="34" charset="0"/>
                <a:ea typeface="Arial" panose="020B0604020202090204" pitchFamily="34" charset="-122"/>
                <a:cs typeface="Arial" panose="020B0604020202090204" pitchFamily="34" charset="-120"/>
              </a:rPr>
              <a:t>Legacy Use</a:t>
            </a:r>
            <a:endParaRPr lang="en-US" sz="1300" dirty="0"/>
          </a:p>
        </p:txBody>
      </p:sp>
      <p:sp>
        <p:nvSpPr>
          <p:cNvPr id="18" name="Text 16"/>
          <p:cNvSpPr/>
          <p:nvPr/>
        </p:nvSpPr>
        <p:spPr>
          <a:xfrm>
            <a:off x="822960" y="5285232"/>
            <a:ext cx="4754880" cy="548640"/>
          </a:xfrm>
          <a:prstGeom prst="rect">
            <a:avLst/>
          </a:prstGeom>
          <a:noFill/>
        </p:spPr>
        <p:txBody>
          <a:bodyPr wrap="square" lIns="0" tIns="0" rIns="0" bIns="0" rtlCol="0" anchor="ctr"/>
          <a:lstStyle/>
          <a:p>
            <a:pPr marL="0" indent="0">
              <a:buNone/>
            </a:pPr>
            <a:r>
              <a:rPr lang="en-US" sz="1200" dirty="0">
                <a:solidFill>
                  <a:srgbClr val="9A9690"/>
                </a:solidFill>
                <a:latin typeface="Arial" panose="020B0604020202090204" pitchFamily="34" charset="0"/>
                <a:ea typeface="Arial" panose="020B0604020202090204" pitchFamily="34" charset="-122"/>
                <a:cs typeface="Arial" panose="020B0604020202090204" pitchFamily="34" charset="-120"/>
              </a:rPr>
              <a:t>Still found in older AFVs, naval secondary batteries, and some medium-caliber autocannon ammunition.</a:t>
            </a:r>
            <a:endParaRPr lang="en-US" sz="1200" dirty="0"/>
          </a:p>
        </p:txBody>
      </p:sp>
      <p:sp>
        <p:nvSpPr>
          <p:cNvPr id="19" name="Shape 17"/>
          <p:cNvSpPr/>
          <p:nvPr/>
        </p:nvSpPr>
        <p:spPr>
          <a:xfrm>
            <a:off x="6309360" y="1371600"/>
            <a:ext cx="5394960" cy="4754880"/>
          </a:xfrm>
          <a:prstGeom prst="roundRect">
            <a:avLst>
              <a:gd name="adj" fmla="val 1923"/>
            </a:avLst>
          </a:prstGeom>
          <a:solidFill>
            <a:srgbClr val="14171C"/>
          </a:solidFill>
        </p:spPr>
        <p:txBody>
          <a:bodyPr/>
          <a:lstStyle/>
          <a:p>
            <a:endParaRPr lang="en-CN"/>
          </a:p>
        </p:txBody>
      </p:sp>
      <p:sp>
        <p:nvSpPr>
          <p:cNvPr id="20" name="Shape 18"/>
          <p:cNvSpPr/>
          <p:nvPr/>
        </p:nvSpPr>
        <p:spPr>
          <a:xfrm>
            <a:off x="6309360" y="1371600"/>
            <a:ext cx="109728" cy="4754880"/>
          </a:xfrm>
          <a:prstGeom prst="rect">
            <a:avLst/>
          </a:prstGeom>
          <a:solidFill>
            <a:srgbClr val="3A7CA5"/>
          </a:solidFill>
        </p:spPr>
        <p:txBody>
          <a:bodyPr/>
          <a:lstStyle/>
          <a:p>
            <a:endParaRPr lang="en-CN"/>
          </a:p>
        </p:txBody>
      </p:sp>
      <p:sp>
        <p:nvSpPr>
          <p:cNvPr id="21" name="Text 19"/>
          <p:cNvSpPr/>
          <p:nvPr/>
        </p:nvSpPr>
        <p:spPr>
          <a:xfrm>
            <a:off x="6675120" y="1554480"/>
            <a:ext cx="4754880" cy="365760"/>
          </a:xfrm>
          <a:prstGeom prst="rect">
            <a:avLst/>
          </a:prstGeom>
          <a:noFill/>
        </p:spPr>
        <p:txBody>
          <a:bodyPr wrap="square" lIns="0" tIns="0" rIns="0" bIns="0" rtlCol="0" anchor="ctr"/>
          <a:lstStyle/>
          <a:p>
            <a:pPr marL="0" indent="0">
              <a:buNone/>
            </a:pPr>
            <a:r>
              <a:rPr lang="en-US" sz="2600" b="1" dirty="0">
                <a:solidFill>
                  <a:srgbClr val="E8E6E1"/>
                </a:solidFill>
                <a:latin typeface="Arial" panose="020B0604020202090204" pitchFamily="34" charset="0"/>
                <a:ea typeface="Arial" panose="020B0604020202090204" pitchFamily="34" charset="-122"/>
                <a:cs typeface="Arial" panose="020B0604020202090204" pitchFamily="34" charset="-120"/>
              </a:rPr>
              <a:t>APFSDS</a:t>
            </a:r>
            <a:endParaRPr lang="en-US" sz="2600" dirty="0"/>
          </a:p>
        </p:txBody>
      </p:sp>
      <p:sp>
        <p:nvSpPr>
          <p:cNvPr id="22" name="Text 20"/>
          <p:cNvSpPr/>
          <p:nvPr/>
        </p:nvSpPr>
        <p:spPr>
          <a:xfrm>
            <a:off x="6675120" y="1965960"/>
            <a:ext cx="4754880" cy="274320"/>
          </a:xfrm>
          <a:prstGeom prst="rect">
            <a:avLst/>
          </a:prstGeom>
          <a:noFill/>
        </p:spPr>
        <p:txBody>
          <a:bodyPr wrap="square" lIns="0" tIns="0" rIns="0" bIns="0" rtlCol="0" anchor="ctr"/>
          <a:lstStyle/>
          <a:p>
            <a:pPr marL="0" indent="0">
              <a:buNone/>
            </a:pPr>
            <a:r>
              <a:rPr lang="en-US" sz="1200" dirty="0">
                <a:solidFill>
                  <a:srgbClr val="3A7CA5"/>
                </a:solidFill>
                <a:latin typeface="Arial" panose="020B0604020202090204" pitchFamily="34" charset="0"/>
                <a:ea typeface="Arial" panose="020B0604020202090204" pitchFamily="34" charset="-122"/>
                <a:cs typeface="Arial" panose="020B0604020202090204" pitchFamily="34" charset="-120"/>
              </a:rPr>
              <a:t>Armor-Piercing Fin-Stabilized Discarding Sabot</a:t>
            </a:r>
            <a:endParaRPr lang="en-US" sz="1200" dirty="0"/>
          </a:p>
        </p:txBody>
      </p:sp>
      <p:sp>
        <p:nvSpPr>
          <p:cNvPr id="23" name="Text 21"/>
          <p:cNvSpPr/>
          <p:nvPr/>
        </p:nvSpPr>
        <p:spPr>
          <a:xfrm>
            <a:off x="6675120" y="2423160"/>
            <a:ext cx="4754880" cy="228600"/>
          </a:xfrm>
          <a:prstGeom prst="rect">
            <a:avLst/>
          </a:prstGeom>
          <a:noFill/>
        </p:spPr>
        <p:txBody>
          <a:bodyPr wrap="square" lIns="0" tIns="0" rIns="0" bIns="0" rtlCol="0" anchor="ctr"/>
          <a:lstStyle/>
          <a:p>
            <a:pPr marL="0" indent="0">
              <a:buNone/>
            </a:pPr>
            <a:r>
              <a:rPr lang="en-US" sz="1300" b="1" dirty="0">
                <a:solidFill>
                  <a:srgbClr val="E8E6E1"/>
                </a:solidFill>
                <a:latin typeface="Arial" panose="020B0604020202090204" pitchFamily="34" charset="0"/>
                <a:ea typeface="Arial" panose="020B0604020202090204" pitchFamily="34" charset="-122"/>
                <a:cs typeface="Arial" panose="020B0604020202090204" pitchFamily="34" charset="-120"/>
              </a:rPr>
              <a:t>Design</a:t>
            </a:r>
            <a:endParaRPr lang="en-US" sz="1300" dirty="0"/>
          </a:p>
        </p:txBody>
      </p:sp>
      <p:sp>
        <p:nvSpPr>
          <p:cNvPr id="24" name="Text 22"/>
          <p:cNvSpPr/>
          <p:nvPr/>
        </p:nvSpPr>
        <p:spPr>
          <a:xfrm>
            <a:off x="6675120" y="2679192"/>
            <a:ext cx="4754880" cy="548640"/>
          </a:xfrm>
          <a:prstGeom prst="rect">
            <a:avLst/>
          </a:prstGeom>
          <a:noFill/>
        </p:spPr>
        <p:txBody>
          <a:bodyPr wrap="square" lIns="0" tIns="0" rIns="0" bIns="0" rtlCol="0" anchor="ctr"/>
          <a:lstStyle/>
          <a:p>
            <a:pPr marL="0" indent="0">
              <a:buNone/>
            </a:pPr>
            <a:r>
              <a:rPr lang="en-US" sz="1200" dirty="0">
                <a:solidFill>
                  <a:srgbClr val="9A9690"/>
                </a:solidFill>
                <a:latin typeface="Arial" panose="020B0604020202090204" pitchFamily="34" charset="0"/>
                <a:ea typeface="Arial" panose="020B0604020202090204" pitchFamily="34" charset="-122"/>
                <a:cs typeface="Arial" panose="020B0604020202090204" pitchFamily="34" charset="-120"/>
              </a:rPr>
              <a:t>Long-rod penetrator (L/D &gt; 20) of tungsten or depleted uranium, held by a lightweight sabot that discards after muzzle exit.</a:t>
            </a:r>
            <a:endParaRPr lang="en-US" sz="1200" dirty="0"/>
          </a:p>
        </p:txBody>
      </p:sp>
      <p:sp>
        <p:nvSpPr>
          <p:cNvPr id="25" name="Text 23"/>
          <p:cNvSpPr/>
          <p:nvPr/>
        </p:nvSpPr>
        <p:spPr>
          <a:xfrm>
            <a:off x="6675120" y="3291840"/>
            <a:ext cx="4754880" cy="228600"/>
          </a:xfrm>
          <a:prstGeom prst="rect">
            <a:avLst/>
          </a:prstGeom>
          <a:noFill/>
        </p:spPr>
        <p:txBody>
          <a:bodyPr wrap="square" lIns="0" tIns="0" rIns="0" bIns="0" rtlCol="0" anchor="ctr"/>
          <a:lstStyle/>
          <a:p>
            <a:pPr marL="0" indent="0">
              <a:buNone/>
            </a:pPr>
            <a:r>
              <a:rPr lang="en-US" sz="1300" b="1" dirty="0">
                <a:solidFill>
                  <a:srgbClr val="E8E6E1"/>
                </a:solidFill>
                <a:latin typeface="Arial" panose="020B0604020202090204" pitchFamily="34" charset="0"/>
                <a:ea typeface="Arial" panose="020B0604020202090204" pitchFamily="34" charset="-122"/>
                <a:cs typeface="Arial" panose="020B0604020202090204" pitchFamily="34" charset="-120"/>
              </a:rPr>
              <a:t>Velocity</a:t>
            </a:r>
            <a:endParaRPr lang="en-US" sz="1300" dirty="0"/>
          </a:p>
        </p:txBody>
      </p:sp>
      <p:sp>
        <p:nvSpPr>
          <p:cNvPr id="26" name="Text 24"/>
          <p:cNvSpPr/>
          <p:nvPr/>
        </p:nvSpPr>
        <p:spPr>
          <a:xfrm>
            <a:off x="6675120" y="3547872"/>
            <a:ext cx="4754880" cy="548640"/>
          </a:xfrm>
          <a:prstGeom prst="rect">
            <a:avLst/>
          </a:prstGeom>
          <a:noFill/>
        </p:spPr>
        <p:txBody>
          <a:bodyPr wrap="square" lIns="0" tIns="0" rIns="0" bIns="0" rtlCol="0" anchor="ctr"/>
          <a:lstStyle/>
          <a:p>
            <a:pPr marL="0" indent="0">
              <a:buNone/>
            </a:pPr>
            <a:r>
              <a:rPr lang="en-US" sz="1200" dirty="0">
                <a:solidFill>
                  <a:srgbClr val="9A9690"/>
                </a:solidFill>
                <a:latin typeface="Arial" panose="020B0604020202090204" pitchFamily="34" charset="0"/>
                <a:ea typeface="Arial" panose="020B0604020202090204" pitchFamily="34" charset="-122"/>
                <a:cs typeface="Arial" panose="020B0604020202090204" pitchFamily="34" charset="-120"/>
              </a:rPr>
              <a:t>Muzzle velocities typically 1,500–1,800 m/s. Penetration scales with velocity² and length of the rod.</a:t>
            </a:r>
            <a:endParaRPr lang="en-US" sz="1200" dirty="0"/>
          </a:p>
        </p:txBody>
      </p:sp>
      <p:sp>
        <p:nvSpPr>
          <p:cNvPr id="27" name="Text 25"/>
          <p:cNvSpPr/>
          <p:nvPr/>
        </p:nvSpPr>
        <p:spPr>
          <a:xfrm>
            <a:off x="6675120" y="4160520"/>
            <a:ext cx="4754880" cy="228600"/>
          </a:xfrm>
          <a:prstGeom prst="rect">
            <a:avLst/>
          </a:prstGeom>
          <a:noFill/>
        </p:spPr>
        <p:txBody>
          <a:bodyPr wrap="square" lIns="0" tIns="0" rIns="0" bIns="0" rtlCol="0" anchor="ctr"/>
          <a:lstStyle/>
          <a:p>
            <a:pPr marL="0" indent="0">
              <a:buNone/>
            </a:pPr>
            <a:r>
              <a:rPr lang="en-US" sz="1300" b="1" dirty="0">
                <a:solidFill>
                  <a:srgbClr val="E8E6E1"/>
                </a:solidFill>
                <a:latin typeface="Arial" panose="020B0604020202090204" pitchFamily="34" charset="0"/>
                <a:ea typeface="Arial" panose="020B0604020202090204" pitchFamily="34" charset="-122"/>
                <a:cs typeface="Arial" panose="020B0604020202090204" pitchFamily="34" charset="-120"/>
              </a:rPr>
              <a:t>Material Edge</a:t>
            </a:r>
            <a:endParaRPr lang="en-US" sz="1300" dirty="0"/>
          </a:p>
        </p:txBody>
      </p:sp>
      <p:sp>
        <p:nvSpPr>
          <p:cNvPr id="28" name="Text 26"/>
          <p:cNvSpPr/>
          <p:nvPr/>
        </p:nvSpPr>
        <p:spPr>
          <a:xfrm>
            <a:off x="6675120" y="4416552"/>
            <a:ext cx="4754880" cy="548640"/>
          </a:xfrm>
          <a:prstGeom prst="rect">
            <a:avLst/>
          </a:prstGeom>
          <a:noFill/>
        </p:spPr>
        <p:txBody>
          <a:bodyPr wrap="square" lIns="0" tIns="0" rIns="0" bIns="0" rtlCol="0" anchor="ctr"/>
          <a:lstStyle/>
          <a:p>
            <a:pPr marL="0" indent="0">
              <a:buNone/>
            </a:pPr>
            <a:r>
              <a:rPr lang="en-US" sz="1200" dirty="0">
                <a:solidFill>
                  <a:srgbClr val="9A9690"/>
                </a:solidFill>
                <a:latin typeface="Arial" panose="020B0604020202090204" pitchFamily="34" charset="0"/>
                <a:ea typeface="Arial" panose="020B0604020202090204" pitchFamily="34" charset="-122"/>
                <a:cs typeface="Arial" panose="020B0604020202090204" pitchFamily="34" charset="-120"/>
              </a:rPr>
              <a:t>DU self-sharpens on impact (adiabatic shear); tungsten tends to mushroom. Both remain in service worldwide.</a:t>
            </a:r>
            <a:endParaRPr lang="en-US" sz="1200" dirty="0"/>
          </a:p>
        </p:txBody>
      </p:sp>
      <p:sp>
        <p:nvSpPr>
          <p:cNvPr id="29" name="Text 27"/>
          <p:cNvSpPr/>
          <p:nvPr/>
        </p:nvSpPr>
        <p:spPr>
          <a:xfrm>
            <a:off x="6675120" y="5029200"/>
            <a:ext cx="4754880" cy="228600"/>
          </a:xfrm>
          <a:prstGeom prst="rect">
            <a:avLst/>
          </a:prstGeom>
          <a:noFill/>
        </p:spPr>
        <p:txBody>
          <a:bodyPr wrap="square" lIns="0" tIns="0" rIns="0" bIns="0" rtlCol="0" anchor="ctr"/>
          <a:lstStyle/>
          <a:p>
            <a:pPr marL="0" indent="0">
              <a:buNone/>
            </a:pPr>
            <a:r>
              <a:rPr lang="en-US" sz="1300" b="1" dirty="0">
                <a:solidFill>
                  <a:srgbClr val="E8E6E1"/>
                </a:solidFill>
                <a:latin typeface="Arial" panose="020B0604020202090204" pitchFamily="34" charset="0"/>
                <a:ea typeface="Arial" panose="020B0604020202090204" pitchFamily="34" charset="-122"/>
                <a:cs typeface="Arial" panose="020B0604020202090204" pitchFamily="34" charset="-120"/>
              </a:rPr>
              <a:t>Modern Status</a:t>
            </a:r>
            <a:endParaRPr lang="en-US" sz="1300" dirty="0"/>
          </a:p>
        </p:txBody>
      </p:sp>
      <p:sp>
        <p:nvSpPr>
          <p:cNvPr id="30" name="Text 28"/>
          <p:cNvSpPr/>
          <p:nvPr/>
        </p:nvSpPr>
        <p:spPr>
          <a:xfrm>
            <a:off x="6675120" y="5285232"/>
            <a:ext cx="4754880" cy="548640"/>
          </a:xfrm>
          <a:prstGeom prst="rect">
            <a:avLst/>
          </a:prstGeom>
          <a:noFill/>
        </p:spPr>
        <p:txBody>
          <a:bodyPr wrap="square" lIns="0" tIns="0" rIns="0" bIns="0" rtlCol="0" anchor="ctr"/>
          <a:lstStyle/>
          <a:p>
            <a:pPr marL="0" indent="0">
              <a:buNone/>
            </a:pPr>
            <a:r>
              <a:rPr lang="en-US" sz="1200" dirty="0">
                <a:solidFill>
                  <a:srgbClr val="9A9690"/>
                </a:solidFill>
                <a:latin typeface="Arial" panose="020B0604020202090204" pitchFamily="34" charset="0"/>
                <a:ea typeface="Arial" panose="020B0604020202090204" pitchFamily="34" charset="-122"/>
                <a:cs typeface="Arial" panose="020B0604020202090204" pitchFamily="34" charset="-120"/>
              </a:rPr>
              <a:t>Primary anti-armor round for 120 mm and 125 mm tank guns (M829A4, DM63, 3BM60, etc.).</a:t>
            </a:r>
            <a:endParaRPr lang="en-US" sz="1200" dirty="0"/>
          </a:p>
        </p:txBody>
      </p:sp>
      <p:pic>
        <p:nvPicPr>
          <p:cNvPr id="31" name="Picture 30" descr="WW1 British 1917 Dated 6pdr APHE Shell In Case – MJL Militaria">
            <a:extLst>
              <a:ext uri="{FF2B5EF4-FFF2-40B4-BE49-F238E27FC236}">
                <a16:creationId xmlns:a16="http://schemas.microsoft.com/office/drawing/2014/main" id="{A26A69C3-F941-24A5-9DBC-C2928D3337E4}"/>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3033086" y="1119547"/>
            <a:ext cx="1578102" cy="885602"/>
          </a:xfrm>
          <a:prstGeom prst="rect">
            <a:avLst/>
          </a:prstGeom>
        </p:spPr>
      </p:pic>
      <p:pic>
        <p:nvPicPr>
          <p:cNvPr id="32" name="Picture 31" descr="APFSDS - WikiTanks">
            <a:extLst>
              <a:ext uri="{FF2B5EF4-FFF2-40B4-BE49-F238E27FC236}">
                <a16:creationId xmlns:a16="http://schemas.microsoft.com/office/drawing/2014/main" id="{E16AC3A5-A92B-A277-13E9-5B539B1579AE}"/>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605125" y="635169"/>
            <a:ext cx="2035650" cy="129878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56032"/>
            <a:ext cx="3657600" cy="274320"/>
          </a:xfrm>
          <a:prstGeom prst="rect">
            <a:avLst/>
          </a:prstGeom>
          <a:noFill/>
        </p:spPr>
        <p:txBody>
          <a:bodyPr wrap="square" lIns="0" tIns="0" rIns="0" bIns="0" rtlCol="0" anchor="ctr"/>
          <a:lstStyle/>
          <a:p>
            <a:pPr marL="0" indent="0">
              <a:buNone/>
            </a:pPr>
            <a:r>
              <a:rPr lang="en-US" sz="1100" kern="0" spc="200" dirty="0">
                <a:solidFill>
                  <a:srgbClr val="5C5954"/>
                </a:solidFill>
                <a:latin typeface="Arial" panose="020B0604020202090204" pitchFamily="34" charset="0"/>
                <a:ea typeface="Arial" panose="020B0604020202090204" pitchFamily="34" charset="-122"/>
                <a:cs typeface="Arial" panose="020B0604020202090204" pitchFamily="34" charset="-120"/>
              </a:rPr>
              <a:t>MODERN MUNITIONS</a:t>
            </a:r>
            <a:endParaRPr lang="en-US" sz="1100" dirty="0"/>
          </a:p>
        </p:txBody>
      </p:sp>
      <p:sp>
        <p:nvSpPr>
          <p:cNvPr id="3" name="Text 1"/>
          <p:cNvSpPr/>
          <p:nvPr/>
        </p:nvSpPr>
        <p:spPr>
          <a:xfrm>
            <a:off x="7772400" y="256032"/>
            <a:ext cx="3931920" cy="274320"/>
          </a:xfrm>
          <a:prstGeom prst="rect">
            <a:avLst/>
          </a:prstGeom>
          <a:noFill/>
        </p:spPr>
        <p:txBody>
          <a:bodyPr wrap="square" lIns="0" tIns="0" rIns="0" bIns="0" rtlCol="0" anchor="ctr"/>
          <a:lstStyle/>
          <a:p>
            <a:pPr marL="0" indent="0" algn="r">
              <a:buNone/>
            </a:pPr>
            <a:r>
              <a:rPr lang="en-US" sz="1100" dirty="0">
                <a:solidFill>
                  <a:srgbClr val="9A9690"/>
                </a:solidFill>
                <a:latin typeface="Arial" panose="020B0604020202090204" pitchFamily="34" charset="0"/>
                <a:ea typeface="Arial" panose="020B0604020202090204" pitchFamily="34" charset="-122"/>
                <a:cs typeface="Arial" panose="020B0604020202090204" pitchFamily="34" charset="-120"/>
              </a:rPr>
              <a:t>AMMUNITION  ·  03</a:t>
            </a:r>
            <a:endParaRPr lang="en-US" sz="1100" dirty="0"/>
          </a:p>
        </p:txBody>
      </p:sp>
      <p:sp>
        <p:nvSpPr>
          <p:cNvPr id="4" name="Shape 2"/>
          <p:cNvSpPr/>
          <p:nvPr/>
        </p:nvSpPr>
        <p:spPr>
          <a:xfrm>
            <a:off x="457200" y="566928"/>
            <a:ext cx="11277295" cy="13716"/>
          </a:xfrm>
          <a:prstGeom prst="rect">
            <a:avLst/>
          </a:prstGeom>
          <a:solidFill>
            <a:srgbClr val="2A2D33"/>
          </a:solidFill>
        </p:spPr>
        <p:txBody>
          <a:bodyPr/>
          <a:lstStyle/>
          <a:p>
            <a:endParaRPr lang="en-CN"/>
          </a:p>
        </p:txBody>
      </p:sp>
      <p:sp>
        <p:nvSpPr>
          <p:cNvPr id="5" name="Text 3"/>
          <p:cNvSpPr/>
          <p:nvPr/>
        </p:nvSpPr>
        <p:spPr>
          <a:xfrm>
            <a:off x="10241280" y="6510528"/>
            <a:ext cx="1463040" cy="228600"/>
          </a:xfrm>
          <a:prstGeom prst="rect">
            <a:avLst/>
          </a:prstGeom>
          <a:noFill/>
        </p:spPr>
        <p:txBody>
          <a:bodyPr wrap="square" lIns="0" tIns="0" rIns="0" bIns="0" rtlCol="0" anchor="ctr"/>
          <a:lstStyle/>
          <a:p>
            <a:pPr marL="0" indent="0" algn="r">
              <a:buNone/>
            </a:pPr>
            <a:r>
              <a:rPr lang="en-US" sz="1100" dirty="0">
                <a:solidFill>
                  <a:srgbClr val="5C5954"/>
                </a:solidFill>
                <a:latin typeface="Arial" panose="020B0604020202090204" pitchFamily="34" charset="0"/>
                <a:ea typeface="Arial" panose="020B0604020202090204" pitchFamily="34" charset="-122"/>
                <a:cs typeface="Arial" panose="020B0604020202090204" pitchFamily="34" charset="-120"/>
              </a:rPr>
              <a:t>03  /  06</a:t>
            </a:r>
            <a:endParaRPr lang="en-US" sz="1100" dirty="0"/>
          </a:p>
        </p:txBody>
      </p:sp>
      <p:sp>
        <p:nvSpPr>
          <p:cNvPr id="6" name="Text 4"/>
          <p:cNvSpPr/>
          <p:nvPr/>
        </p:nvSpPr>
        <p:spPr>
          <a:xfrm>
            <a:off x="457200" y="777240"/>
            <a:ext cx="10972800" cy="365760"/>
          </a:xfrm>
          <a:prstGeom prst="rect">
            <a:avLst/>
          </a:prstGeom>
          <a:noFill/>
        </p:spPr>
        <p:txBody>
          <a:bodyPr wrap="square" lIns="0" tIns="0" rIns="0" bIns="0" rtlCol="0" anchor="ctr"/>
          <a:lstStyle/>
          <a:p>
            <a:pPr marL="0" indent="0">
              <a:buNone/>
            </a:pPr>
            <a:r>
              <a:rPr lang="en-US" sz="2200" b="1" dirty="0">
                <a:solidFill>
                  <a:srgbClr val="FF0000"/>
                </a:solidFill>
                <a:highlight>
                  <a:srgbClr val="FFFF00"/>
                </a:highlight>
                <a:latin typeface="Arial" panose="020B0604020202090204" pitchFamily="34" charset="0"/>
                <a:ea typeface="Arial" panose="020B0604020202090204" pitchFamily="34" charset="-122"/>
                <a:cs typeface="Arial" panose="020B0604020202090204" pitchFamily="34" charset="-120"/>
              </a:rPr>
              <a:t>Specialized</a:t>
            </a:r>
            <a:r>
              <a:rPr lang="en-US" sz="2200" b="1" dirty="0">
                <a:solidFill>
                  <a:srgbClr val="E8E6E1"/>
                </a:solidFill>
                <a:highlight>
                  <a:srgbClr val="FFFF00"/>
                </a:highlight>
                <a:latin typeface="Arial" panose="020B0604020202090204" pitchFamily="34" charset="0"/>
                <a:ea typeface="Arial" panose="020B0604020202090204" pitchFamily="34" charset="-122"/>
                <a:cs typeface="Arial" panose="020B0604020202090204" pitchFamily="34" charset="-120"/>
              </a:rPr>
              <a:t> </a:t>
            </a:r>
            <a:r>
              <a:rPr lang="en-US" sz="2200" b="1" dirty="0">
                <a:solidFill>
                  <a:srgbClr val="0070C0"/>
                </a:solidFill>
                <a:latin typeface="Arial" panose="020B0604020202090204" pitchFamily="34" charset="0"/>
                <a:ea typeface="Arial" panose="020B0604020202090204" pitchFamily="34" charset="-122"/>
                <a:cs typeface="Arial" panose="020B0604020202090204" pitchFamily="34" charset="-120"/>
              </a:rPr>
              <a:t>Kinetic</a:t>
            </a:r>
            <a:r>
              <a:rPr lang="en-US" sz="2200" b="1" dirty="0">
                <a:solidFill>
                  <a:srgbClr val="E8E6E1"/>
                </a:solidFill>
                <a:latin typeface="Arial" panose="020B0604020202090204" pitchFamily="34" charset="0"/>
                <a:ea typeface="Arial" panose="020B0604020202090204" pitchFamily="34" charset="-122"/>
                <a:cs typeface="Arial" panose="020B0604020202090204" pitchFamily="34" charset="-120"/>
              </a:rPr>
              <a:t> </a:t>
            </a:r>
            <a:r>
              <a:rPr lang="en-US" sz="2200" b="1" dirty="0">
                <a:solidFill>
                  <a:schemeClr val="tx2"/>
                </a:solidFill>
                <a:latin typeface="Arial" panose="020B0604020202090204" pitchFamily="34" charset="0"/>
                <a:ea typeface="Arial" panose="020B0604020202090204" pitchFamily="34" charset="-122"/>
                <a:cs typeface="Arial" panose="020B0604020202090204" pitchFamily="34" charset="-120"/>
              </a:rPr>
              <a:t>&amp;</a:t>
            </a:r>
            <a:r>
              <a:rPr lang="en-US" sz="2200" b="1" dirty="0">
                <a:solidFill>
                  <a:srgbClr val="FF0000"/>
                </a:solidFill>
                <a:latin typeface="Arial" panose="020B0604020202090204" pitchFamily="34" charset="0"/>
                <a:ea typeface="Arial" panose="020B0604020202090204" pitchFamily="34" charset="-122"/>
                <a:cs typeface="Arial" panose="020B0604020202090204" pitchFamily="34" charset="-120"/>
              </a:rPr>
              <a:t> </a:t>
            </a:r>
            <a:r>
              <a:rPr lang="en-US" sz="2200" b="1" dirty="0">
                <a:solidFill>
                  <a:srgbClr val="FF0000"/>
                </a:solidFill>
                <a:highlight>
                  <a:srgbClr val="FFFF00"/>
                </a:highlight>
                <a:latin typeface="Arial" panose="020B0604020202090204" pitchFamily="34" charset="0"/>
                <a:ea typeface="Arial" panose="020B0604020202090204" pitchFamily="34" charset="-122"/>
                <a:cs typeface="Arial" panose="020B0604020202090204" pitchFamily="34" charset="-120"/>
              </a:rPr>
              <a:t>Squash-Head</a:t>
            </a:r>
            <a:r>
              <a:rPr lang="en-US" sz="2200" b="1" dirty="0">
                <a:solidFill>
                  <a:srgbClr val="FF0000"/>
                </a:solidFill>
                <a:latin typeface="Arial" panose="020B0604020202090204" pitchFamily="34" charset="0"/>
                <a:ea typeface="Arial" panose="020B0604020202090204" pitchFamily="34" charset="-122"/>
                <a:cs typeface="Arial" panose="020B0604020202090204" pitchFamily="34" charset="-120"/>
              </a:rPr>
              <a:t> </a:t>
            </a:r>
            <a:r>
              <a:rPr lang="en-US" sz="2200" b="1" dirty="0">
                <a:solidFill>
                  <a:srgbClr val="0070C0"/>
                </a:solidFill>
                <a:latin typeface="Arial" panose="020B0604020202090204" pitchFamily="34" charset="0"/>
                <a:ea typeface="Arial" panose="020B0604020202090204" pitchFamily="34" charset="-122"/>
                <a:cs typeface="Arial" panose="020B0604020202090204" pitchFamily="34" charset="-120"/>
              </a:rPr>
              <a:t>Rounds</a:t>
            </a:r>
            <a:endParaRPr lang="en-US" sz="2200" dirty="0">
              <a:solidFill>
                <a:srgbClr val="0070C0"/>
              </a:solidFill>
            </a:endParaRPr>
          </a:p>
        </p:txBody>
      </p:sp>
      <p:sp>
        <p:nvSpPr>
          <p:cNvPr id="7" name="Shape 5"/>
          <p:cNvSpPr/>
          <p:nvPr/>
        </p:nvSpPr>
        <p:spPr>
          <a:xfrm>
            <a:off x="457200" y="1371600"/>
            <a:ext cx="5394960" cy="4754880"/>
          </a:xfrm>
          <a:prstGeom prst="roundRect">
            <a:avLst>
              <a:gd name="adj" fmla="val 1923"/>
            </a:avLst>
          </a:prstGeom>
          <a:solidFill>
            <a:srgbClr val="14171C"/>
          </a:solidFill>
        </p:spPr>
        <p:txBody>
          <a:bodyPr/>
          <a:lstStyle/>
          <a:p>
            <a:endParaRPr lang="en-CN"/>
          </a:p>
        </p:txBody>
      </p:sp>
      <p:sp>
        <p:nvSpPr>
          <p:cNvPr id="8" name="Shape 6"/>
          <p:cNvSpPr/>
          <p:nvPr/>
        </p:nvSpPr>
        <p:spPr>
          <a:xfrm>
            <a:off x="457200" y="1371600"/>
            <a:ext cx="109728" cy="4754880"/>
          </a:xfrm>
          <a:prstGeom prst="rect">
            <a:avLst/>
          </a:prstGeom>
          <a:solidFill>
            <a:srgbClr val="C45C26"/>
          </a:solidFill>
        </p:spPr>
        <p:txBody>
          <a:bodyPr/>
          <a:lstStyle/>
          <a:p>
            <a:endParaRPr lang="en-CN"/>
          </a:p>
        </p:txBody>
      </p:sp>
      <p:sp>
        <p:nvSpPr>
          <p:cNvPr id="9" name="Text 7"/>
          <p:cNvSpPr/>
          <p:nvPr/>
        </p:nvSpPr>
        <p:spPr>
          <a:xfrm>
            <a:off x="822960" y="1554480"/>
            <a:ext cx="4754880" cy="365760"/>
          </a:xfrm>
          <a:prstGeom prst="rect">
            <a:avLst/>
          </a:prstGeom>
          <a:noFill/>
        </p:spPr>
        <p:txBody>
          <a:bodyPr wrap="square" lIns="0" tIns="0" rIns="0" bIns="0" rtlCol="0" anchor="ctr"/>
          <a:lstStyle/>
          <a:p>
            <a:pPr marL="0" indent="0">
              <a:buNone/>
            </a:pPr>
            <a:r>
              <a:rPr lang="en-US" sz="2800" b="1" dirty="0">
                <a:solidFill>
                  <a:srgbClr val="E8E6E1"/>
                </a:solidFill>
                <a:latin typeface="Arial" panose="020B0604020202090204" pitchFamily="34" charset="0"/>
                <a:ea typeface="Arial" panose="020B0604020202090204" pitchFamily="34" charset="-122"/>
                <a:cs typeface="Arial" panose="020B0604020202090204" pitchFamily="34" charset="-120"/>
              </a:rPr>
              <a:t>HESH</a:t>
            </a:r>
            <a:endParaRPr lang="en-US" sz="2800" dirty="0"/>
          </a:p>
        </p:txBody>
      </p:sp>
      <p:sp>
        <p:nvSpPr>
          <p:cNvPr id="10" name="Text 8"/>
          <p:cNvSpPr/>
          <p:nvPr/>
        </p:nvSpPr>
        <p:spPr>
          <a:xfrm>
            <a:off x="822960" y="1965960"/>
            <a:ext cx="4754880" cy="274320"/>
          </a:xfrm>
          <a:prstGeom prst="rect">
            <a:avLst/>
          </a:prstGeom>
          <a:noFill/>
        </p:spPr>
        <p:txBody>
          <a:bodyPr wrap="square" lIns="0" tIns="0" rIns="0" bIns="0" rtlCol="0" anchor="ctr"/>
          <a:lstStyle/>
          <a:p>
            <a:pPr marL="0" indent="0">
              <a:buNone/>
            </a:pPr>
            <a:r>
              <a:rPr lang="en-US" sz="1400" dirty="0">
                <a:solidFill>
                  <a:srgbClr val="C45C26"/>
                </a:solidFill>
                <a:latin typeface="Arial" panose="020B0604020202090204" pitchFamily="34" charset="0"/>
                <a:ea typeface="Arial" panose="020B0604020202090204" pitchFamily="34" charset="-122"/>
                <a:cs typeface="Arial" panose="020B0604020202090204" pitchFamily="34" charset="-120"/>
              </a:rPr>
              <a:t>High-Explosive Squash Head</a:t>
            </a:r>
            <a:endParaRPr lang="en-US" sz="1400" dirty="0"/>
          </a:p>
        </p:txBody>
      </p:sp>
      <p:sp>
        <p:nvSpPr>
          <p:cNvPr id="11" name="Text 9"/>
          <p:cNvSpPr/>
          <p:nvPr/>
        </p:nvSpPr>
        <p:spPr>
          <a:xfrm>
            <a:off x="822960" y="2423160"/>
            <a:ext cx="4754880" cy="228600"/>
          </a:xfrm>
          <a:prstGeom prst="rect">
            <a:avLst/>
          </a:prstGeom>
          <a:noFill/>
        </p:spPr>
        <p:txBody>
          <a:bodyPr wrap="square" lIns="0" tIns="0" rIns="0" bIns="0" rtlCol="0" anchor="ctr"/>
          <a:lstStyle/>
          <a:p>
            <a:pPr marL="0" indent="0">
              <a:buNone/>
            </a:pPr>
            <a:r>
              <a:rPr lang="en-US" sz="1300" b="1" dirty="0">
                <a:solidFill>
                  <a:srgbClr val="E8E6E1"/>
                </a:solidFill>
                <a:latin typeface="Arial" panose="020B0604020202090204" pitchFamily="34" charset="0"/>
                <a:ea typeface="Arial" panose="020B0604020202090204" pitchFamily="34" charset="-122"/>
                <a:cs typeface="Arial" panose="020B0604020202090204" pitchFamily="34" charset="-120"/>
              </a:rPr>
              <a:t>Mechanism</a:t>
            </a:r>
            <a:endParaRPr lang="en-US" sz="1300" dirty="0"/>
          </a:p>
        </p:txBody>
      </p:sp>
      <p:sp>
        <p:nvSpPr>
          <p:cNvPr id="12" name="Text 10"/>
          <p:cNvSpPr/>
          <p:nvPr/>
        </p:nvSpPr>
        <p:spPr>
          <a:xfrm>
            <a:off x="822960" y="2679192"/>
            <a:ext cx="4754880" cy="548640"/>
          </a:xfrm>
          <a:prstGeom prst="rect">
            <a:avLst/>
          </a:prstGeom>
          <a:noFill/>
        </p:spPr>
        <p:txBody>
          <a:bodyPr wrap="square" lIns="0" tIns="0" rIns="0" bIns="0" rtlCol="0" anchor="ctr"/>
          <a:lstStyle/>
          <a:p>
            <a:pPr marL="0" indent="0">
              <a:buNone/>
            </a:pPr>
            <a:r>
              <a:rPr lang="en-US" sz="1200" dirty="0">
                <a:solidFill>
                  <a:srgbClr val="9A9690"/>
                </a:solidFill>
                <a:latin typeface="Arial" panose="020B0604020202090204" pitchFamily="34" charset="0"/>
                <a:ea typeface="Arial" panose="020B0604020202090204" pitchFamily="34" charset="-122"/>
                <a:cs typeface="Arial" panose="020B0604020202090204" pitchFamily="34" charset="-120"/>
              </a:rPr>
              <a:t>Plastic explosive spreads on impact then detonates, sending a shock wave through the armor that spalls fragments from the inner face.</a:t>
            </a:r>
            <a:endParaRPr lang="en-US" sz="1200" dirty="0"/>
          </a:p>
        </p:txBody>
      </p:sp>
      <p:sp>
        <p:nvSpPr>
          <p:cNvPr id="13" name="Text 11"/>
          <p:cNvSpPr/>
          <p:nvPr/>
        </p:nvSpPr>
        <p:spPr>
          <a:xfrm>
            <a:off x="822960" y="3291840"/>
            <a:ext cx="4754880" cy="228600"/>
          </a:xfrm>
          <a:prstGeom prst="rect">
            <a:avLst/>
          </a:prstGeom>
          <a:noFill/>
        </p:spPr>
        <p:txBody>
          <a:bodyPr wrap="square" lIns="0" tIns="0" rIns="0" bIns="0" rtlCol="0" anchor="ctr"/>
          <a:lstStyle/>
          <a:p>
            <a:pPr marL="0" indent="0">
              <a:buNone/>
            </a:pPr>
            <a:r>
              <a:rPr lang="en-US" sz="1300" b="1" dirty="0">
                <a:solidFill>
                  <a:srgbClr val="E8E6E1"/>
                </a:solidFill>
                <a:latin typeface="Arial" panose="020B0604020202090204" pitchFamily="34" charset="0"/>
                <a:ea typeface="Arial" panose="020B0604020202090204" pitchFamily="34" charset="-122"/>
                <a:cs typeface="Arial" panose="020B0604020202090204" pitchFamily="34" charset="-120"/>
              </a:rPr>
              <a:t>Advantage</a:t>
            </a:r>
            <a:endParaRPr lang="en-US" sz="1300" dirty="0"/>
          </a:p>
        </p:txBody>
      </p:sp>
      <p:sp>
        <p:nvSpPr>
          <p:cNvPr id="14" name="Text 12"/>
          <p:cNvSpPr/>
          <p:nvPr/>
        </p:nvSpPr>
        <p:spPr>
          <a:xfrm>
            <a:off x="822960" y="3547872"/>
            <a:ext cx="4754880" cy="548640"/>
          </a:xfrm>
          <a:prstGeom prst="rect">
            <a:avLst/>
          </a:prstGeom>
          <a:noFill/>
        </p:spPr>
        <p:txBody>
          <a:bodyPr wrap="square" lIns="0" tIns="0" rIns="0" bIns="0" rtlCol="0" anchor="ctr"/>
          <a:lstStyle/>
          <a:p>
            <a:pPr marL="0" indent="0">
              <a:buNone/>
            </a:pPr>
            <a:r>
              <a:rPr lang="en-US" sz="1200" dirty="0">
                <a:solidFill>
                  <a:srgbClr val="9A9690"/>
                </a:solidFill>
                <a:latin typeface="Arial" panose="020B0604020202090204" pitchFamily="34" charset="0"/>
                <a:ea typeface="Arial" panose="020B0604020202090204" pitchFamily="34" charset="-122"/>
                <a:cs typeface="Arial" panose="020B0604020202090204" pitchFamily="34" charset="-120"/>
              </a:rPr>
              <a:t>Effective against spaced or lightly angled armor; does not require penetration of the main plate. Good against fortifications.</a:t>
            </a:r>
            <a:endParaRPr lang="en-US" sz="1200" dirty="0"/>
          </a:p>
        </p:txBody>
      </p:sp>
      <p:sp>
        <p:nvSpPr>
          <p:cNvPr id="15" name="Text 13"/>
          <p:cNvSpPr/>
          <p:nvPr/>
        </p:nvSpPr>
        <p:spPr>
          <a:xfrm>
            <a:off x="822960" y="4160520"/>
            <a:ext cx="4754880" cy="228600"/>
          </a:xfrm>
          <a:prstGeom prst="rect">
            <a:avLst/>
          </a:prstGeom>
          <a:noFill/>
        </p:spPr>
        <p:txBody>
          <a:bodyPr wrap="square" lIns="0" tIns="0" rIns="0" bIns="0" rtlCol="0" anchor="ctr"/>
          <a:lstStyle/>
          <a:p>
            <a:pPr marL="0" indent="0">
              <a:buNone/>
            </a:pPr>
            <a:r>
              <a:rPr lang="en-US" sz="1300" b="1" dirty="0">
                <a:solidFill>
                  <a:srgbClr val="E8E6E1"/>
                </a:solidFill>
                <a:latin typeface="Arial" panose="020B0604020202090204" pitchFamily="34" charset="0"/>
                <a:ea typeface="Arial" panose="020B0604020202090204" pitchFamily="34" charset="-122"/>
                <a:cs typeface="Arial" panose="020B0604020202090204" pitchFamily="34" charset="-120"/>
              </a:rPr>
              <a:t>Limitation</a:t>
            </a:r>
            <a:endParaRPr lang="en-US" sz="1300" dirty="0"/>
          </a:p>
        </p:txBody>
      </p:sp>
      <p:sp>
        <p:nvSpPr>
          <p:cNvPr id="16" name="Text 14"/>
          <p:cNvSpPr/>
          <p:nvPr/>
        </p:nvSpPr>
        <p:spPr>
          <a:xfrm>
            <a:off x="822960" y="4416552"/>
            <a:ext cx="4754880" cy="548640"/>
          </a:xfrm>
          <a:prstGeom prst="rect">
            <a:avLst/>
          </a:prstGeom>
          <a:noFill/>
        </p:spPr>
        <p:txBody>
          <a:bodyPr wrap="square" lIns="0" tIns="0" rIns="0" bIns="0" rtlCol="0" anchor="ctr"/>
          <a:lstStyle/>
          <a:p>
            <a:pPr marL="0" indent="0">
              <a:buNone/>
            </a:pPr>
            <a:r>
              <a:rPr lang="en-US" sz="1200" dirty="0">
                <a:solidFill>
                  <a:srgbClr val="9A9690"/>
                </a:solidFill>
                <a:latin typeface="Arial" panose="020B0604020202090204" pitchFamily="34" charset="0"/>
                <a:ea typeface="Arial" panose="020B0604020202090204" pitchFamily="34" charset="-122"/>
                <a:cs typeface="Arial" panose="020B0604020202090204" pitchFamily="34" charset="-120"/>
              </a:rPr>
              <a:t>Largely defeated by modern composite and spaced arrays that absorb or disrupt the shock wave before it reaches the inner face.</a:t>
            </a:r>
            <a:endParaRPr lang="en-US" sz="1200" dirty="0"/>
          </a:p>
        </p:txBody>
      </p:sp>
      <p:sp>
        <p:nvSpPr>
          <p:cNvPr id="17" name="Text 15"/>
          <p:cNvSpPr/>
          <p:nvPr/>
        </p:nvSpPr>
        <p:spPr>
          <a:xfrm>
            <a:off x="822960" y="5029200"/>
            <a:ext cx="4754880" cy="228600"/>
          </a:xfrm>
          <a:prstGeom prst="rect">
            <a:avLst/>
          </a:prstGeom>
          <a:noFill/>
        </p:spPr>
        <p:txBody>
          <a:bodyPr wrap="square" lIns="0" tIns="0" rIns="0" bIns="0" rtlCol="0" anchor="ctr"/>
          <a:lstStyle/>
          <a:p>
            <a:pPr marL="0" indent="0">
              <a:buNone/>
            </a:pPr>
            <a:r>
              <a:rPr lang="en-US" sz="1300" b="1" dirty="0">
                <a:solidFill>
                  <a:srgbClr val="E8E6E1"/>
                </a:solidFill>
                <a:latin typeface="Arial" panose="020B0604020202090204" pitchFamily="34" charset="0"/>
                <a:ea typeface="Arial" panose="020B0604020202090204" pitchFamily="34" charset="-122"/>
                <a:cs typeface="Arial" panose="020B0604020202090204" pitchFamily="34" charset="-120"/>
              </a:rPr>
              <a:t>Users</a:t>
            </a:r>
            <a:endParaRPr lang="en-US" sz="1300" dirty="0"/>
          </a:p>
        </p:txBody>
      </p:sp>
      <p:sp>
        <p:nvSpPr>
          <p:cNvPr id="18" name="Text 16"/>
          <p:cNvSpPr/>
          <p:nvPr/>
        </p:nvSpPr>
        <p:spPr>
          <a:xfrm>
            <a:off x="822960" y="5285232"/>
            <a:ext cx="4754880" cy="548640"/>
          </a:xfrm>
          <a:prstGeom prst="rect">
            <a:avLst/>
          </a:prstGeom>
          <a:noFill/>
        </p:spPr>
        <p:txBody>
          <a:bodyPr wrap="square" lIns="0" tIns="0" rIns="0" bIns="0" rtlCol="0" anchor="ctr"/>
          <a:lstStyle/>
          <a:p>
            <a:pPr marL="0" indent="0">
              <a:buNone/>
            </a:pPr>
            <a:r>
              <a:rPr lang="en-US" sz="1200" dirty="0">
                <a:solidFill>
                  <a:srgbClr val="9A9690"/>
                </a:solidFill>
                <a:latin typeface="Arial" panose="020B0604020202090204" pitchFamily="34" charset="0"/>
                <a:ea typeface="Arial" panose="020B0604020202090204" pitchFamily="34" charset="-122"/>
                <a:cs typeface="Arial" panose="020B0604020202090204" pitchFamily="34" charset="-120"/>
              </a:rPr>
              <a:t>Historically British (L31), still used by some nations for secondary roles; largely replaced by HEAT and APFSDS for primary anti-armor.</a:t>
            </a:r>
            <a:endParaRPr lang="en-US" sz="1200" dirty="0"/>
          </a:p>
        </p:txBody>
      </p:sp>
      <p:sp>
        <p:nvSpPr>
          <p:cNvPr id="19" name="Shape 17"/>
          <p:cNvSpPr/>
          <p:nvPr/>
        </p:nvSpPr>
        <p:spPr>
          <a:xfrm>
            <a:off x="6309360" y="1371600"/>
            <a:ext cx="5394960" cy="4754880"/>
          </a:xfrm>
          <a:prstGeom prst="roundRect">
            <a:avLst>
              <a:gd name="adj" fmla="val 1923"/>
            </a:avLst>
          </a:prstGeom>
          <a:solidFill>
            <a:srgbClr val="14171C"/>
          </a:solidFill>
        </p:spPr>
        <p:txBody>
          <a:bodyPr/>
          <a:lstStyle/>
          <a:p>
            <a:endParaRPr lang="en-CN"/>
          </a:p>
        </p:txBody>
      </p:sp>
      <p:sp>
        <p:nvSpPr>
          <p:cNvPr id="20" name="Shape 18"/>
          <p:cNvSpPr/>
          <p:nvPr/>
        </p:nvSpPr>
        <p:spPr>
          <a:xfrm>
            <a:off x="6309360" y="1371600"/>
            <a:ext cx="109728" cy="4754880"/>
          </a:xfrm>
          <a:prstGeom prst="rect">
            <a:avLst/>
          </a:prstGeom>
          <a:solidFill>
            <a:srgbClr val="3A7CA5"/>
          </a:solidFill>
        </p:spPr>
        <p:txBody>
          <a:bodyPr/>
          <a:lstStyle/>
          <a:p>
            <a:endParaRPr lang="en-CN"/>
          </a:p>
        </p:txBody>
      </p:sp>
      <p:sp>
        <p:nvSpPr>
          <p:cNvPr id="21" name="Text 19"/>
          <p:cNvSpPr/>
          <p:nvPr/>
        </p:nvSpPr>
        <p:spPr>
          <a:xfrm>
            <a:off x="6675120" y="1554480"/>
            <a:ext cx="4754880" cy="365760"/>
          </a:xfrm>
          <a:prstGeom prst="rect">
            <a:avLst/>
          </a:prstGeom>
          <a:noFill/>
        </p:spPr>
        <p:txBody>
          <a:bodyPr wrap="square" lIns="0" tIns="0" rIns="0" bIns="0" rtlCol="0" anchor="ctr"/>
          <a:lstStyle/>
          <a:p>
            <a:pPr marL="0" indent="0">
              <a:buNone/>
            </a:pPr>
            <a:r>
              <a:rPr lang="en-US" sz="2800" b="1" dirty="0">
                <a:solidFill>
                  <a:srgbClr val="E8E6E1"/>
                </a:solidFill>
                <a:latin typeface="Arial" panose="020B0604020202090204" pitchFamily="34" charset="0"/>
                <a:ea typeface="Arial" panose="020B0604020202090204" pitchFamily="34" charset="-122"/>
                <a:cs typeface="Arial" panose="020B0604020202090204" pitchFamily="34" charset="-120"/>
              </a:rPr>
              <a:t>APCR</a:t>
            </a:r>
            <a:endParaRPr lang="en-US" sz="2800" dirty="0"/>
          </a:p>
        </p:txBody>
      </p:sp>
      <p:sp>
        <p:nvSpPr>
          <p:cNvPr id="22" name="Text 20"/>
          <p:cNvSpPr/>
          <p:nvPr/>
        </p:nvSpPr>
        <p:spPr>
          <a:xfrm>
            <a:off x="6675120" y="1965960"/>
            <a:ext cx="4754880" cy="274320"/>
          </a:xfrm>
          <a:prstGeom prst="rect">
            <a:avLst/>
          </a:prstGeom>
          <a:noFill/>
        </p:spPr>
        <p:txBody>
          <a:bodyPr wrap="square" lIns="0" tIns="0" rIns="0" bIns="0" rtlCol="0" anchor="ctr"/>
          <a:lstStyle/>
          <a:p>
            <a:pPr marL="0" indent="0">
              <a:buNone/>
            </a:pPr>
            <a:r>
              <a:rPr lang="en-US" sz="1400" dirty="0">
                <a:solidFill>
                  <a:srgbClr val="3A7CA5"/>
                </a:solidFill>
                <a:latin typeface="Arial" panose="020B0604020202090204" pitchFamily="34" charset="0"/>
                <a:ea typeface="Arial" panose="020B0604020202090204" pitchFamily="34" charset="-122"/>
                <a:cs typeface="Arial" panose="020B0604020202090204" pitchFamily="34" charset="-120"/>
              </a:rPr>
              <a:t>Armor-Piercing Composite Rigid</a:t>
            </a:r>
            <a:endParaRPr lang="en-US" sz="1400" dirty="0"/>
          </a:p>
        </p:txBody>
      </p:sp>
      <p:sp>
        <p:nvSpPr>
          <p:cNvPr id="23" name="Text 21"/>
          <p:cNvSpPr/>
          <p:nvPr/>
        </p:nvSpPr>
        <p:spPr>
          <a:xfrm>
            <a:off x="6675120" y="2423160"/>
            <a:ext cx="4754880" cy="228600"/>
          </a:xfrm>
          <a:prstGeom prst="rect">
            <a:avLst/>
          </a:prstGeom>
          <a:noFill/>
        </p:spPr>
        <p:txBody>
          <a:bodyPr wrap="square" lIns="0" tIns="0" rIns="0" bIns="0" rtlCol="0" anchor="ctr"/>
          <a:lstStyle/>
          <a:p>
            <a:pPr marL="0" indent="0">
              <a:buNone/>
            </a:pPr>
            <a:r>
              <a:rPr lang="en-US" sz="1300" b="1" dirty="0">
                <a:solidFill>
                  <a:srgbClr val="E8E6E1"/>
                </a:solidFill>
                <a:latin typeface="Arial" panose="020B0604020202090204" pitchFamily="34" charset="0"/>
                <a:ea typeface="Arial" panose="020B0604020202090204" pitchFamily="34" charset="-122"/>
                <a:cs typeface="Arial" panose="020B0604020202090204" pitchFamily="34" charset="-120"/>
              </a:rPr>
              <a:t>Construction</a:t>
            </a:r>
            <a:endParaRPr lang="en-US" sz="1300" dirty="0"/>
          </a:p>
        </p:txBody>
      </p:sp>
      <p:sp>
        <p:nvSpPr>
          <p:cNvPr id="24" name="Text 22"/>
          <p:cNvSpPr/>
          <p:nvPr/>
        </p:nvSpPr>
        <p:spPr>
          <a:xfrm>
            <a:off x="6675120" y="2679192"/>
            <a:ext cx="4754880" cy="548640"/>
          </a:xfrm>
          <a:prstGeom prst="rect">
            <a:avLst/>
          </a:prstGeom>
          <a:noFill/>
        </p:spPr>
        <p:txBody>
          <a:bodyPr wrap="square" lIns="0" tIns="0" rIns="0" bIns="0" rtlCol="0" anchor="ctr"/>
          <a:lstStyle/>
          <a:p>
            <a:pPr marL="0" indent="0">
              <a:buNone/>
            </a:pPr>
            <a:r>
              <a:rPr lang="en-US" sz="1200" dirty="0">
                <a:solidFill>
                  <a:srgbClr val="9A9690"/>
                </a:solidFill>
                <a:latin typeface="Arial" panose="020B0604020202090204" pitchFamily="34" charset="0"/>
                <a:ea typeface="Arial" panose="020B0604020202090204" pitchFamily="34" charset="-122"/>
                <a:cs typeface="Arial" panose="020B0604020202090204" pitchFamily="34" charset="-120"/>
              </a:rPr>
              <a:t>Lightweight alloy</a:t>
            </a:r>
            <a:endParaRPr lang="en-US" sz="1200" dirty="0"/>
          </a:p>
        </p:txBody>
      </p:sp>
      <p:sp>
        <p:nvSpPr>
          <p:cNvPr id="25" name="Text 23"/>
          <p:cNvSpPr/>
          <p:nvPr/>
        </p:nvSpPr>
        <p:spPr>
          <a:xfrm>
            <a:off x="6675120" y="3291840"/>
            <a:ext cx="4754880" cy="228600"/>
          </a:xfrm>
          <a:prstGeom prst="rect">
            <a:avLst/>
          </a:prstGeom>
          <a:noFill/>
        </p:spPr>
        <p:txBody>
          <a:bodyPr wrap="square" lIns="0" tIns="0" rIns="0" bIns="0" rtlCol="0" anchor="ctr"/>
          <a:lstStyle/>
          <a:p>
            <a:pPr marL="0" indent="0">
              <a:buNone/>
            </a:pPr>
            <a:r>
              <a:rPr lang="en-US" sz="1300" b="1" dirty="0">
                <a:solidFill>
                  <a:srgbClr val="E8E6E1"/>
                </a:solidFill>
                <a:latin typeface="Arial" panose="020B0604020202090204" pitchFamily="34" charset="0"/>
                <a:ea typeface="Arial" panose="020B0604020202090204" pitchFamily="34" charset="-122"/>
                <a:cs typeface="Arial" panose="020B0604020202090204" pitchFamily="34" charset="-120"/>
              </a:rPr>
              <a:t>Performance</a:t>
            </a:r>
            <a:endParaRPr lang="en-US" sz="1300" dirty="0"/>
          </a:p>
        </p:txBody>
      </p:sp>
      <p:sp>
        <p:nvSpPr>
          <p:cNvPr id="26" name="Text 24"/>
          <p:cNvSpPr/>
          <p:nvPr/>
        </p:nvSpPr>
        <p:spPr>
          <a:xfrm>
            <a:off x="6675120" y="3547872"/>
            <a:ext cx="4754880" cy="548640"/>
          </a:xfrm>
          <a:prstGeom prst="rect">
            <a:avLst/>
          </a:prstGeom>
          <a:noFill/>
        </p:spPr>
        <p:txBody>
          <a:bodyPr wrap="square" lIns="0" tIns="0" rIns="0" bIns="0" rtlCol="0" anchor="ctr"/>
          <a:lstStyle/>
          <a:p>
            <a:pPr marL="0" indent="0">
              <a:buNone/>
            </a:pPr>
            <a:r>
              <a:rPr lang="en-US" sz="1200" dirty="0">
                <a:solidFill>
                  <a:srgbClr val="9A9690"/>
                </a:solidFill>
                <a:latin typeface="Arial" panose="020B0604020202090204" pitchFamily="34" charset="0"/>
                <a:ea typeface="Arial" panose="020B0604020202090204" pitchFamily="34" charset="-122"/>
                <a:cs typeface="Arial" panose="020B0604020202090204" pitchFamily="34" charset="-120"/>
              </a:rPr>
              <a:t>Higher muzzle velocity than full-caliber AP due to lower mass, improving short-range penetration. </a:t>
            </a:r>
            <a:endParaRPr lang="en-US" sz="1200" dirty="0"/>
          </a:p>
        </p:txBody>
      </p:sp>
      <p:sp>
        <p:nvSpPr>
          <p:cNvPr id="27" name="Text 25"/>
          <p:cNvSpPr/>
          <p:nvPr/>
        </p:nvSpPr>
        <p:spPr>
          <a:xfrm>
            <a:off x="6675120" y="4160520"/>
            <a:ext cx="4754880" cy="228600"/>
          </a:xfrm>
          <a:prstGeom prst="rect">
            <a:avLst/>
          </a:prstGeom>
          <a:noFill/>
        </p:spPr>
        <p:txBody>
          <a:bodyPr wrap="square" lIns="0" tIns="0" rIns="0" bIns="0" rtlCol="0" anchor="ctr"/>
          <a:lstStyle/>
          <a:p>
            <a:pPr marL="0" indent="0">
              <a:buNone/>
            </a:pPr>
            <a:r>
              <a:rPr lang="en-US" sz="1300" b="1" dirty="0">
                <a:solidFill>
                  <a:srgbClr val="E8E6E1"/>
                </a:solidFill>
                <a:latin typeface="Arial" panose="020B0604020202090204" pitchFamily="34" charset="0"/>
                <a:ea typeface="Arial" panose="020B0604020202090204" pitchFamily="34" charset="-122"/>
                <a:cs typeface="Arial" panose="020B0604020202090204" pitchFamily="34" charset="-120"/>
              </a:rPr>
              <a:t>Evolution</a:t>
            </a:r>
            <a:endParaRPr lang="en-US" sz="1300" dirty="0"/>
          </a:p>
        </p:txBody>
      </p:sp>
      <p:sp>
        <p:nvSpPr>
          <p:cNvPr id="28" name="Text 26"/>
          <p:cNvSpPr/>
          <p:nvPr/>
        </p:nvSpPr>
        <p:spPr>
          <a:xfrm>
            <a:off x="6675120" y="4416552"/>
            <a:ext cx="4754880" cy="548640"/>
          </a:xfrm>
          <a:prstGeom prst="rect">
            <a:avLst/>
          </a:prstGeom>
          <a:noFill/>
        </p:spPr>
        <p:txBody>
          <a:bodyPr wrap="square" lIns="0" tIns="0" rIns="0" bIns="0" rtlCol="0" anchor="ctr"/>
          <a:lstStyle/>
          <a:p>
            <a:pPr marL="0" indent="0">
              <a:buNone/>
            </a:pPr>
            <a:r>
              <a:rPr lang="en-US" sz="1200" dirty="0">
                <a:solidFill>
                  <a:srgbClr val="9A9690"/>
                </a:solidFill>
                <a:latin typeface="Arial" panose="020B0604020202090204" pitchFamily="34" charset="0"/>
                <a:cs typeface="Arial" panose="020B0604020202090204" pitchFamily="34" charset="-120"/>
              </a:rPr>
              <a:t>Just evolved from previous ones</a:t>
            </a:r>
            <a:endParaRPr lang="en-US" sz="1200" dirty="0"/>
          </a:p>
        </p:txBody>
      </p:sp>
      <p:sp>
        <p:nvSpPr>
          <p:cNvPr id="29" name="Text 27"/>
          <p:cNvSpPr/>
          <p:nvPr/>
        </p:nvSpPr>
        <p:spPr>
          <a:xfrm>
            <a:off x="6675120" y="5029200"/>
            <a:ext cx="4754880" cy="228600"/>
          </a:xfrm>
          <a:prstGeom prst="rect">
            <a:avLst/>
          </a:prstGeom>
          <a:noFill/>
        </p:spPr>
        <p:txBody>
          <a:bodyPr wrap="square" lIns="0" tIns="0" rIns="0" bIns="0" rtlCol="0" anchor="ctr"/>
          <a:lstStyle/>
          <a:p>
            <a:pPr marL="0" indent="0">
              <a:buNone/>
            </a:pPr>
            <a:r>
              <a:rPr lang="en-US" sz="1300" b="1" dirty="0">
                <a:solidFill>
                  <a:srgbClr val="E8E6E1"/>
                </a:solidFill>
                <a:latin typeface="Arial" panose="020B0604020202090204" pitchFamily="34" charset="0"/>
                <a:ea typeface="Arial" panose="020B0604020202090204" pitchFamily="34" charset="-122"/>
                <a:cs typeface="Arial" panose="020B0604020202090204" pitchFamily="34" charset="-120"/>
              </a:rPr>
              <a:t>Historical Note</a:t>
            </a:r>
            <a:endParaRPr lang="en-US" sz="1300" dirty="0"/>
          </a:p>
        </p:txBody>
      </p:sp>
      <p:sp>
        <p:nvSpPr>
          <p:cNvPr id="30" name="Text 28"/>
          <p:cNvSpPr/>
          <p:nvPr/>
        </p:nvSpPr>
        <p:spPr>
          <a:xfrm>
            <a:off x="6675120" y="5285232"/>
            <a:ext cx="4754880" cy="548640"/>
          </a:xfrm>
          <a:prstGeom prst="rect">
            <a:avLst/>
          </a:prstGeom>
          <a:noFill/>
        </p:spPr>
        <p:txBody>
          <a:bodyPr wrap="square" lIns="0" tIns="0" rIns="0" bIns="0" rtlCol="0" anchor="ctr"/>
          <a:lstStyle/>
          <a:p>
            <a:pPr marL="0" indent="0">
              <a:buNone/>
            </a:pPr>
            <a:r>
              <a:rPr lang="en-US" sz="1200" dirty="0">
                <a:solidFill>
                  <a:srgbClr val="9A9690"/>
                </a:solidFill>
                <a:latin typeface="Arial" panose="020B0604020202090204" pitchFamily="34" charset="0"/>
                <a:ea typeface="Arial" panose="020B0604020202090204" pitchFamily="34" charset="-122"/>
                <a:cs typeface="Arial" panose="020B0604020202090204" pitchFamily="34" charset="-120"/>
              </a:rPr>
              <a:t>Widely used by German (Pzgr. 40) and Soviet forces in WWII. Now essentially obsolete in modern tank ammunition inventories.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56032"/>
            <a:ext cx="3657600" cy="274320"/>
          </a:xfrm>
          <a:prstGeom prst="rect">
            <a:avLst/>
          </a:prstGeom>
          <a:noFill/>
        </p:spPr>
        <p:txBody>
          <a:bodyPr wrap="square" lIns="0" tIns="0" rIns="0" bIns="0" rtlCol="0" anchor="ctr"/>
          <a:lstStyle/>
          <a:p>
            <a:pPr marL="0" indent="0">
              <a:buNone/>
            </a:pPr>
            <a:r>
              <a:rPr lang="en-US" sz="1100" kern="0" spc="200" dirty="0">
                <a:solidFill>
                  <a:srgbClr val="5C5954"/>
                </a:solidFill>
                <a:latin typeface="Arial" panose="020B0604020202090204" pitchFamily="34" charset="0"/>
                <a:ea typeface="Arial" panose="020B0604020202090204" pitchFamily="34" charset="-122"/>
                <a:cs typeface="Arial" panose="020B0604020202090204" pitchFamily="34" charset="-120"/>
              </a:rPr>
              <a:t>MODERN MUNITIONS</a:t>
            </a:r>
            <a:endParaRPr lang="en-US" sz="1100" dirty="0"/>
          </a:p>
        </p:txBody>
      </p:sp>
      <p:sp>
        <p:nvSpPr>
          <p:cNvPr id="3" name="Text 1"/>
          <p:cNvSpPr/>
          <p:nvPr/>
        </p:nvSpPr>
        <p:spPr>
          <a:xfrm>
            <a:off x="7772400" y="256032"/>
            <a:ext cx="3931920" cy="274320"/>
          </a:xfrm>
          <a:prstGeom prst="rect">
            <a:avLst/>
          </a:prstGeom>
          <a:noFill/>
        </p:spPr>
        <p:txBody>
          <a:bodyPr wrap="square" lIns="0" tIns="0" rIns="0" bIns="0" rtlCol="0" anchor="ctr"/>
          <a:lstStyle/>
          <a:p>
            <a:pPr marL="0" indent="0" algn="r">
              <a:buNone/>
            </a:pPr>
            <a:r>
              <a:rPr lang="en-US" sz="1100" dirty="0">
                <a:solidFill>
                  <a:srgbClr val="9A9690"/>
                </a:solidFill>
                <a:latin typeface="Arial" panose="020B0604020202090204" pitchFamily="34" charset="0"/>
                <a:ea typeface="Arial" panose="020B0604020202090204" pitchFamily="34" charset="-122"/>
                <a:cs typeface="Arial" panose="020B0604020202090204" pitchFamily="34" charset="-120"/>
              </a:rPr>
              <a:t>ARMOR SYSTEMS  ·  05</a:t>
            </a:r>
            <a:endParaRPr lang="en-US" sz="1100" dirty="0"/>
          </a:p>
        </p:txBody>
      </p:sp>
      <p:sp>
        <p:nvSpPr>
          <p:cNvPr id="4" name="Shape 2"/>
          <p:cNvSpPr/>
          <p:nvPr/>
        </p:nvSpPr>
        <p:spPr>
          <a:xfrm>
            <a:off x="457200" y="566928"/>
            <a:ext cx="11277295" cy="13716"/>
          </a:xfrm>
          <a:prstGeom prst="rect">
            <a:avLst/>
          </a:prstGeom>
          <a:solidFill>
            <a:srgbClr val="2A2D33"/>
          </a:solidFill>
        </p:spPr>
        <p:txBody>
          <a:bodyPr/>
          <a:lstStyle/>
          <a:p>
            <a:endParaRPr lang="en-CN"/>
          </a:p>
        </p:txBody>
      </p:sp>
      <p:sp>
        <p:nvSpPr>
          <p:cNvPr id="5" name="Text 3"/>
          <p:cNvSpPr/>
          <p:nvPr/>
        </p:nvSpPr>
        <p:spPr>
          <a:xfrm>
            <a:off x="10241280" y="6510528"/>
            <a:ext cx="1463040" cy="228600"/>
          </a:xfrm>
          <a:prstGeom prst="rect">
            <a:avLst/>
          </a:prstGeom>
          <a:noFill/>
        </p:spPr>
        <p:txBody>
          <a:bodyPr wrap="square" lIns="0" tIns="0" rIns="0" bIns="0" rtlCol="0" anchor="ctr"/>
          <a:lstStyle/>
          <a:p>
            <a:pPr marL="0" indent="0" algn="r">
              <a:buNone/>
            </a:pPr>
            <a:r>
              <a:rPr lang="en-US" sz="1100" dirty="0">
                <a:solidFill>
                  <a:srgbClr val="5C5954"/>
                </a:solidFill>
                <a:latin typeface="Arial" panose="020B0604020202090204" pitchFamily="34" charset="0"/>
                <a:ea typeface="Arial" panose="020B0604020202090204" pitchFamily="34" charset="-122"/>
                <a:cs typeface="Arial" panose="020B0604020202090204" pitchFamily="34" charset="-120"/>
              </a:rPr>
              <a:t>05  /  06</a:t>
            </a:r>
            <a:endParaRPr lang="en-US" sz="1100" dirty="0"/>
          </a:p>
        </p:txBody>
      </p:sp>
      <p:sp>
        <p:nvSpPr>
          <p:cNvPr id="6" name="Text 4"/>
          <p:cNvSpPr/>
          <p:nvPr/>
        </p:nvSpPr>
        <p:spPr>
          <a:xfrm>
            <a:off x="457200" y="777240"/>
            <a:ext cx="10972800" cy="411480"/>
          </a:xfrm>
          <a:prstGeom prst="rect">
            <a:avLst/>
          </a:prstGeom>
          <a:noFill/>
        </p:spPr>
        <p:txBody>
          <a:bodyPr wrap="square" lIns="0" tIns="0" rIns="0" bIns="0" rtlCol="0" anchor="ctr"/>
          <a:lstStyle/>
          <a:p>
            <a:pPr marL="0" indent="0">
              <a:buNone/>
            </a:pPr>
            <a:r>
              <a:rPr lang="en-US" sz="2400" b="1" dirty="0">
                <a:solidFill>
                  <a:srgbClr val="FF0000"/>
                </a:solidFill>
                <a:highlight>
                  <a:srgbClr val="FFFF00"/>
                </a:highlight>
                <a:latin typeface="Arial" panose="020B0604020202090204" pitchFamily="34" charset="0"/>
                <a:ea typeface="Arial" panose="020B0604020202090204" pitchFamily="34" charset="-122"/>
                <a:cs typeface="Arial" panose="020B0604020202090204" pitchFamily="34" charset="-120"/>
              </a:rPr>
              <a:t>ERA</a:t>
            </a:r>
            <a:r>
              <a:rPr lang="en-US" sz="2400" b="1" dirty="0">
                <a:solidFill>
                  <a:srgbClr val="E8E6E1"/>
                </a:solidFill>
                <a:highlight>
                  <a:srgbClr val="FFFF00"/>
                </a:highlight>
                <a:latin typeface="Arial" panose="020B0604020202090204" pitchFamily="34" charset="0"/>
                <a:ea typeface="Arial" panose="020B0604020202090204" pitchFamily="34" charset="-122"/>
                <a:cs typeface="Arial" panose="020B0604020202090204" pitchFamily="34" charset="-120"/>
              </a:rPr>
              <a:t> — </a:t>
            </a:r>
            <a:r>
              <a:rPr lang="en-US" sz="2400" b="1" dirty="0">
                <a:solidFill>
                  <a:srgbClr val="FF0000"/>
                </a:solidFill>
                <a:highlight>
                  <a:srgbClr val="FFFF00"/>
                </a:highlight>
                <a:latin typeface="Arial" panose="020B0604020202090204" pitchFamily="34" charset="0"/>
                <a:ea typeface="Arial" panose="020B0604020202090204" pitchFamily="34" charset="-122"/>
                <a:cs typeface="Arial" panose="020B0604020202090204" pitchFamily="34" charset="-120"/>
              </a:rPr>
              <a:t>Explosive Reactive Armor</a:t>
            </a:r>
            <a:endParaRPr lang="en-US" sz="2400" dirty="0">
              <a:solidFill>
                <a:srgbClr val="FF0000"/>
              </a:solidFill>
              <a:highlight>
                <a:srgbClr val="FFFF00"/>
              </a:highlight>
            </a:endParaRPr>
          </a:p>
        </p:txBody>
      </p:sp>
      <p:sp>
        <p:nvSpPr>
          <p:cNvPr id="7" name="Shape 5"/>
          <p:cNvSpPr/>
          <p:nvPr/>
        </p:nvSpPr>
        <p:spPr>
          <a:xfrm>
            <a:off x="457200" y="1371600"/>
            <a:ext cx="11277295" cy="1371600"/>
          </a:xfrm>
          <a:prstGeom prst="roundRect">
            <a:avLst>
              <a:gd name="adj" fmla="val 5333"/>
            </a:avLst>
          </a:prstGeom>
          <a:solidFill>
            <a:srgbClr val="14171C"/>
          </a:solidFill>
        </p:spPr>
        <p:txBody>
          <a:bodyPr/>
          <a:lstStyle/>
          <a:p>
            <a:endParaRPr lang="en-CN"/>
          </a:p>
        </p:txBody>
      </p:sp>
      <p:sp>
        <p:nvSpPr>
          <p:cNvPr id="8" name="Text 6"/>
          <p:cNvSpPr/>
          <p:nvPr/>
        </p:nvSpPr>
        <p:spPr>
          <a:xfrm>
            <a:off x="731520" y="1554480"/>
            <a:ext cx="10698480" cy="1051560"/>
          </a:xfrm>
          <a:prstGeom prst="rect">
            <a:avLst/>
          </a:prstGeom>
          <a:noFill/>
        </p:spPr>
        <p:txBody>
          <a:bodyPr wrap="square" lIns="0" tIns="0" rIns="0" bIns="0" rtlCol="0" anchor="ctr"/>
          <a:lstStyle/>
          <a:p>
            <a:pPr marL="0" indent="0">
              <a:buNone/>
            </a:pPr>
            <a:r>
              <a:rPr lang="en-US" sz="1600" dirty="0">
                <a:solidFill>
                  <a:srgbClr val="9A9690"/>
                </a:solidFill>
                <a:latin typeface="Arial" panose="020B0604020202090204" pitchFamily="34" charset="0"/>
                <a:ea typeface="Arial" panose="020B0604020202090204" pitchFamily="34" charset="-122"/>
                <a:cs typeface="Arial" panose="020B0604020202090204" pitchFamily="34" charset="-120"/>
              </a:rPr>
              <a:t>ERA consists of a sandwich of metal plates with a high-explosive layer between them. When struck by a shaped-charge jet or high-velocity penetrator the explosive detonates, driving the plates outward and sideways to disrupt the threat. Used on armored vehicles</a:t>
            </a:r>
            <a:endParaRPr lang="en-US" sz="1600" dirty="0"/>
          </a:p>
        </p:txBody>
      </p:sp>
      <p:sp>
        <p:nvSpPr>
          <p:cNvPr id="9" name="Shape 7"/>
          <p:cNvSpPr/>
          <p:nvPr/>
        </p:nvSpPr>
        <p:spPr>
          <a:xfrm>
            <a:off x="457200" y="3017520"/>
            <a:ext cx="5623560" cy="1463040"/>
          </a:xfrm>
          <a:prstGeom prst="roundRect">
            <a:avLst>
              <a:gd name="adj" fmla="val 5000"/>
            </a:avLst>
          </a:prstGeom>
          <a:solidFill>
            <a:srgbClr val="14171C"/>
          </a:solidFill>
        </p:spPr>
        <p:txBody>
          <a:bodyPr/>
          <a:lstStyle/>
          <a:p>
            <a:endParaRPr lang="en-CN"/>
          </a:p>
        </p:txBody>
      </p:sp>
      <p:sp>
        <p:nvSpPr>
          <p:cNvPr id="10" name="Text 8"/>
          <p:cNvSpPr/>
          <p:nvPr/>
        </p:nvSpPr>
        <p:spPr>
          <a:xfrm>
            <a:off x="731520" y="3246120"/>
            <a:ext cx="5074920" cy="320040"/>
          </a:xfrm>
          <a:prstGeom prst="rect">
            <a:avLst/>
          </a:prstGeom>
          <a:noFill/>
        </p:spPr>
        <p:txBody>
          <a:bodyPr wrap="square" lIns="0" tIns="0" rIns="0" bIns="0" rtlCol="0" anchor="ctr"/>
          <a:lstStyle/>
          <a:p>
            <a:pPr marL="0" indent="0">
              <a:buNone/>
            </a:pPr>
            <a:r>
              <a:rPr lang="en-US" sz="1500" b="1" dirty="0">
                <a:solidFill>
                  <a:srgbClr val="E8E6E1"/>
                </a:solidFill>
                <a:latin typeface="Arial" panose="020B0604020202090204" pitchFamily="34" charset="0"/>
                <a:ea typeface="Arial" panose="020B0604020202090204" pitchFamily="34" charset="-122"/>
                <a:cs typeface="Arial" panose="020B0604020202090204" pitchFamily="34" charset="-120"/>
              </a:rPr>
              <a:t>Classic Design</a:t>
            </a:r>
            <a:endParaRPr lang="en-US" sz="1500" dirty="0"/>
          </a:p>
        </p:txBody>
      </p:sp>
      <p:sp>
        <p:nvSpPr>
          <p:cNvPr id="11" name="Text 9"/>
          <p:cNvSpPr/>
          <p:nvPr/>
        </p:nvSpPr>
        <p:spPr>
          <a:xfrm>
            <a:off x="731520" y="3611880"/>
            <a:ext cx="5074920" cy="685800"/>
          </a:xfrm>
          <a:prstGeom prst="rect">
            <a:avLst/>
          </a:prstGeom>
          <a:noFill/>
        </p:spPr>
        <p:txBody>
          <a:bodyPr wrap="square" lIns="0" tIns="0" rIns="0" bIns="0" rtlCol="0" anchor="ctr"/>
          <a:lstStyle/>
          <a:p>
            <a:pPr marL="0" indent="0">
              <a:buNone/>
            </a:pPr>
            <a:r>
              <a:rPr lang="en-US" sz="1300" dirty="0">
                <a:solidFill>
                  <a:srgbClr val="9A9690"/>
                </a:solidFill>
                <a:latin typeface="Arial" panose="020B0604020202090204" pitchFamily="34" charset="0"/>
                <a:ea typeface="Arial" panose="020B0604020202090204" pitchFamily="34" charset="-122"/>
                <a:cs typeface="Arial" panose="020B0604020202090204" pitchFamily="34" charset="-120"/>
              </a:rPr>
              <a:t>Two steel plates + explosive sheet. Detonation throws plates at high speed, lengthening and breaking the HEAT jet.</a:t>
            </a:r>
            <a:endParaRPr lang="en-US" sz="1300" dirty="0"/>
          </a:p>
        </p:txBody>
      </p:sp>
      <p:sp>
        <p:nvSpPr>
          <p:cNvPr id="12" name="Shape 10"/>
          <p:cNvSpPr/>
          <p:nvPr/>
        </p:nvSpPr>
        <p:spPr>
          <a:xfrm>
            <a:off x="6309360" y="3017520"/>
            <a:ext cx="5623560" cy="1463040"/>
          </a:xfrm>
          <a:prstGeom prst="roundRect">
            <a:avLst>
              <a:gd name="adj" fmla="val 5000"/>
            </a:avLst>
          </a:prstGeom>
          <a:solidFill>
            <a:srgbClr val="14171C"/>
          </a:solidFill>
        </p:spPr>
        <p:txBody>
          <a:bodyPr/>
          <a:lstStyle/>
          <a:p>
            <a:endParaRPr lang="en-CN"/>
          </a:p>
        </p:txBody>
      </p:sp>
      <p:sp>
        <p:nvSpPr>
          <p:cNvPr id="13" name="Text 11"/>
          <p:cNvSpPr/>
          <p:nvPr/>
        </p:nvSpPr>
        <p:spPr>
          <a:xfrm>
            <a:off x="6583680" y="3127248"/>
            <a:ext cx="5074920" cy="320040"/>
          </a:xfrm>
          <a:prstGeom prst="rect">
            <a:avLst/>
          </a:prstGeom>
          <a:noFill/>
        </p:spPr>
        <p:txBody>
          <a:bodyPr wrap="square" lIns="0" tIns="0" rIns="0" bIns="0" rtlCol="0" anchor="ctr"/>
          <a:lstStyle/>
          <a:p>
            <a:pPr marL="0" indent="0">
              <a:buNone/>
            </a:pPr>
            <a:r>
              <a:rPr lang="en-US" sz="1500" b="1" dirty="0">
                <a:solidFill>
                  <a:srgbClr val="E8E6E1"/>
                </a:solidFill>
                <a:latin typeface="Arial" panose="020B0604020202090204" pitchFamily="34" charset="0"/>
                <a:ea typeface="Arial" panose="020B0604020202090204" pitchFamily="34" charset="-122"/>
                <a:cs typeface="Arial" panose="020B0604020202090204" pitchFamily="34" charset="-120"/>
              </a:rPr>
              <a:t>Heavy ERA</a:t>
            </a:r>
            <a:endParaRPr lang="en-US" sz="1500" dirty="0"/>
          </a:p>
        </p:txBody>
      </p:sp>
      <p:sp>
        <p:nvSpPr>
          <p:cNvPr id="14" name="Text 12"/>
          <p:cNvSpPr/>
          <p:nvPr/>
        </p:nvSpPr>
        <p:spPr>
          <a:xfrm>
            <a:off x="6583680" y="3611880"/>
            <a:ext cx="5074920" cy="685800"/>
          </a:xfrm>
          <a:prstGeom prst="rect">
            <a:avLst/>
          </a:prstGeom>
          <a:noFill/>
        </p:spPr>
        <p:txBody>
          <a:bodyPr wrap="square" lIns="0" tIns="0" rIns="0" bIns="0" rtlCol="0" anchor="ctr"/>
          <a:lstStyle/>
          <a:p>
            <a:r>
              <a:rPr lang="en-US" sz="1300" dirty="0">
                <a:solidFill>
                  <a:srgbClr val="9A9690"/>
                </a:solidFill>
                <a:latin typeface="Arial" panose="020B0604020202090204" pitchFamily="34" charset="0"/>
                <a:ea typeface="Arial" panose="020B0604020202090204" pitchFamily="34" charset="-122"/>
                <a:cs typeface="Arial" panose="020B0604020202090204" pitchFamily="34" charset="-120"/>
              </a:rPr>
              <a:t>Thicker plates and optimized explosives (Kontakt-5, </a:t>
            </a:r>
            <a:r>
              <a:rPr lang="en-US" sz="1300" dirty="0" err="1">
                <a:solidFill>
                  <a:srgbClr val="9A9690"/>
                </a:solidFill>
                <a:latin typeface="Arial" panose="020B0604020202090204" pitchFamily="34" charset="0"/>
                <a:ea typeface="Arial" panose="020B0604020202090204" pitchFamily="34" charset="-122"/>
                <a:cs typeface="Arial" panose="020B0604020202090204" pitchFamily="34" charset="-120"/>
              </a:rPr>
              <a:t>Relikt</a:t>
            </a:r>
            <a:r>
              <a:rPr lang="en-US" sz="1300" dirty="0">
                <a:solidFill>
                  <a:srgbClr val="9A9690"/>
                </a:solidFill>
                <a:latin typeface="Arial" panose="020B0604020202090204" pitchFamily="34" charset="0"/>
                <a:ea typeface="Arial" panose="020B0604020202090204" pitchFamily="34" charset="-122"/>
                <a:cs typeface="Arial" panose="020B0604020202090204" pitchFamily="34" charset="-120"/>
              </a:rPr>
              <a:t>) also degrade long-rod APFSDS(</a:t>
            </a:r>
            <a:r>
              <a:rPr lang="en-CN" b="1" dirty="0">
                <a:solidFill>
                  <a:srgbClr val="0070C0"/>
                </a:solidFill>
              </a:rPr>
              <a:t>Armor-Piercing Fin-Stabilized Discarding Sabot</a:t>
            </a:r>
            <a:r>
              <a:rPr lang="en-US" sz="1300" dirty="0">
                <a:solidFill>
                  <a:srgbClr val="9A9690"/>
                </a:solidFill>
                <a:latin typeface="Arial" panose="020B0604020202090204" pitchFamily="34" charset="0"/>
                <a:ea typeface="Arial" panose="020B0604020202090204" pitchFamily="34" charset="-122"/>
                <a:cs typeface="Arial" panose="020B0604020202090204" pitchFamily="34" charset="-120"/>
              </a:rPr>
              <a:t>) by inducing cracks and fracture.</a:t>
            </a:r>
            <a:endParaRPr lang="en-US" sz="1300" dirty="0"/>
          </a:p>
        </p:txBody>
      </p:sp>
      <p:sp>
        <p:nvSpPr>
          <p:cNvPr id="15" name="Shape 13"/>
          <p:cNvSpPr/>
          <p:nvPr/>
        </p:nvSpPr>
        <p:spPr>
          <a:xfrm>
            <a:off x="457200" y="4663440"/>
            <a:ext cx="5623560" cy="1463040"/>
          </a:xfrm>
          <a:prstGeom prst="roundRect">
            <a:avLst>
              <a:gd name="adj" fmla="val 5000"/>
            </a:avLst>
          </a:prstGeom>
          <a:solidFill>
            <a:srgbClr val="14171C"/>
          </a:solidFill>
        </p:spPr>
        <p:txBody>
          <a:bodyPr/>
          <a:lstStyle/>
          <a:p>
            <a:endParaRPr lang="en-CN"/>
          </a:p>
        </p:txBody>
      </p:sp>
      <p:sp>
        <p:nvSpPr>
          <p:cNvPr id="16" name="Text 14"/>
          <p:cNvSpPr/>
          <p:nvPr/>
        </p:nvSpPr>
        <p:spPr>
          <a:xfrm>
            <a:off x="731520" y="4892040"/>
            <a:ext cx="5074920" cy="320040"/>
          </a:xfrm>
          <a:prstGeom prst="rect">
            <a:avLst/>
          </a:prstGeom>
          <a:noFill/>
        </p:spPr>
        <p:txBody>
          <a:bodyPr wrap="square" lIns="0" tIns="0" rIns="0" bIns="0" rtlCol="0" anchor="ctr"/>
          <a:lstStyle/>
          <a:p>
            <a:pPr marL="0" indent="0">
              <a:buNone/>
            </a:pPr>
            <a:r>
              <a:rPr lang="en-US" sz="1500" b="1" dirty="0">
                <a:solidFill>
                  <a:srgbClr val="E8E6E1"/>
                </a:solidFill>
                <a:latin typeface="Arial" panose="020B0604020202090204" pitchFamily="34" charset="0"/>
                <a:ea typeface="Arial" panose="020B0604020202090204" pitchFamily="34" charset="-122"/>
                <a:cs typeface="Arial" panose="020B0604020202090204" pitchFamily="34" charset="-120"/>
              </a:rPr>
              <a:t>Trade-offs</a:t>
            </a:r>
            <a:endParaRPr lang="en-US" sz="1500" dirty="0"/>
          </a:p>
        </p:txBody>
      </p:sp>
      <p:sp>
        <p:nvSpPr>
          <p:cNvPr id="17" name="Text 15"/>
          <p:cNvSpPr/>
          <p:nvPr/>
        </p:nvSpPr>
        <p:spPr>
          <a:xfrm>
            <a:off x="731520" y="5257800"/>
            <a:ext cx="5074920" cy="685800"/>
          </a:xfrm>
          <a:prstGeom prst="rect">
            <a:avLst/>
          </a:prstGeom>
          <a:noFill/>
        </p:spPr>
        <p:txBody>
          <a:bodyPr wrap="square" lIns="0" tIns="0" rIns="0" bIns="0" rtlCol="0" anchor="ctr"/>
          <a:lstStyle/>
          <a:p>
            <a:pPr marL="0" indent="0">
              <a:buNone/>
            </a:pPr>
            <a:r>
              <a:rPr lang="en-US" sz="1300" dirty="0">
                <a:solidFill>
                  <a:srgbClr val="9A9690"/>
                </a:solidFill>
                <a:latin typeface="Arial" panose="020B0604020202090204" pitchFamily="34" charset="0"/>
                <a:ea typeface="Arial" panose="020B0604020202090204" pitchFamily="34" charset="-122"/>
                <a:cs typeface="Arial" panose="020B0604020202090204" pitchFamily="34" charset="-120"/>
              </a:rPr>
              <a:t>Hazard to nearby troops; if there are people near them they will get blasted; single-use per ERA; can be defeated by tandem warheads that trigger the ERA early. Tandem Warheads are basically the anti-ERA missile</a:t>
            </a:r>
            <a:endParaRPr lang="en-US" sz="1300" dirty="0"/>
          </a:p>
        </p:txBody>
      </p:sp>
      <p:sp>
        <p:nvSpPr>
          <p:cNvPr id="18" name="Shape 16"/>
          <p:cNvSpPr/>
          <p:nvPr/>
        </p:nvSpPr>
        <p:spPr>
          <a:xfrm>
            <a:off x="6309360" y="4663440"/>
            <a:ext cx="5623560" cy="1463040"/>
          </a:xfrm>
          <a:prstGeom prst="roundRect">
            <a:avLst>
              <a:gd name="adj" fmla="val 5000"/>
            </a:avLst>
          </a:prstGeom>
          <a:solidFill>
            <a:srgbClr val="14171C"/>
          </a:solidFill>
        </p:spPr>
        <p:txBody>
          <a:bodyPr/>
          <a:lstStyle/>
          <a:p>
            <a:r>
              <a:rPr lang="en-CN" dirty="0"/>
              <a:t>s</a:t>
            </a:r>
          </a:p>
        </p:txBody>
      </p:sp>
      <p:sp>
        <p:nvSpPr>
          <p:cNvPr id="19" name="Text 17"/>
          <p:cNvSpPr/>
          <p:nvPr/>
        </p:nvSpPr>
        <p:spPr>
          <a:xfrm>
            <a:off x="6583680" y="4892040"/>
            <a:ext cx="5074920" cy="320040"/>
          </a:xfrm>
          <a:prstGeom prst="rect">
            <a:avLst/>
          </a:prstGeom>
          <a:noFill/>
        </p:spPr>
        <p:txBody>
          <a:bodyPr wrap="square" lIns="0" tIns="0" rIns="0" bIns="0" rtlCol="0" anchor="ctr"/>
          <a:lstStyle/>
          <a:p>
            <a:pPr marL="0" indent="0">
              <a:buNone/>
            </a:pPr>
            <a:r>
              <a:rPr lang="en-US" sz="1500" b="1" dirty="0">
                <a:solidFill>
                  <a:srgbClr val="E8E6E1"/>
                </a:solidFill>
                <a:latin typeface="Arial" panose="020B0604020202090204" pitchFamily="34" charset="0"/>
                <a:ea typeface="Arial" panose="020B0604020202090204" pitchFamily="34" charset="-122"/>
                <a:cs typeface="Arial" panose="020B0604020202090204" pitchFamily="34" charset="-120"/>
              </a:rPr>
              <a:t>Modern Trends</a:t>
            </a:r>
            <a:endParaRPr lang="en-US" sz="1500" dirty="0"/>
          </a:p>
        </p:txBody>
      </p:sp>
      <p:sp>
        <p:nvSpPr>
          <p:cNvPr id="20" name="Text 18"/>
          <p:cNvSpPr/>
          <p:nvPr/>
        </p:nvSpPr>
        <p:spPr>
          <a:xfrm>
            <a:off x="6583680" y="5257800"/>
            <a:ext cx="5074920" cy="685800"/>
          </a:xfrm>
          <a:prstGeom prst="rect">
            <a:avLst/>
          </a:prstGeom>
          <a:noFill/>
        </p:spPr>
        <p:txBody>
          <a:bodyPr wrap="square" lIns="0" tIns="0" rIns="0" bIns="0" rtlCol="0" anchor="ctr"/>
          <a:lstStyle/>
          <a:p>
            <a:pPr marL="0" indent="0">
              <a:buNone/>
            </a:pPr>
            <a:r>
              <a:rPr lang="en-US" sz="1300" dirty="0">
                <a:solidFill>
                  <a:srgbClr val="9A9690"/>
                </a:solidFill>
                <a:latin typeface="Arial" panose="020B0604020202090204" pitchFamily="34" charset="0"/>
                <a:ea typeface="Arial" panose="020B0604020202090204" pitchFamily="34" charset="-122"/>
                <a:cs typeface="Arial" panose="020B0604020202090204" pitchFamily="34" charset="-120"/>
              </a:rPr>
              <a:t>Modular bolt-on packages (flexible armor add-on), dual-threat (HEAT + KE) double defense tiles that require both CE and KE to defeat.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56032"/>
            <a:ext cx="3657600" cy="274320"/>
          </a:xfrm>
          <a:prstGeom prst="rect">
            <a:avLst/>
          </a:prstGeom>
          <a:noFill/>
        </p:spPr>
        <p:txBody>
          <a:bodyPr wrap="square" lIns="0" tIns="0" rIns="0" bIns="0" rtlCol="0" anchor="ctr"/>
          <a:lstStyle/>
          <a:p>
            <a:pPr marL="0" indent="0">
              <a:buNone/>
            </a:pPr>
            <a:r>
              <a:rPr lang="en-US" sz="1100" kern="0" spc="200" dirty="0">
                <a:solidFill>
                  <a:srgbClr val="5C5954"/>
                </a:solidFill>
                <a:latin typeface="Arial" panose="020B0604020202090204" pitchFamily="34" charset="0"/>
                <a:ea typeface="Arial" panose="020B0604020202090204" pitchFamily="34" charset="-122"/>
                <a:cs typeface="Arial" panose="020B0604020202090204" pitchFamily="34" charset="-120"/>
              </a:rPr>
              <a:t>MODERN MUNITIONS</a:t>
            </a:r>
            <a:endParaRPr lang="en-US" sz="1100" dirty="0"/>
          </a:p>
        </p:txBody>
      </p:sp>
      <p:sp>
        <p:nvSpPr>
          <p:cNvPr id="3" name="Text 1"/>
          <p:cNvSpPr/>
          <p:nvPr/>
        </p:nvSpPr>
        <p:spPr>
          <a:xfrm>
            <a:off x="7772400" y="256032"/>
            <a:ext cx="3931920" cy="274320"/>
          </a:xfrm>
          <a:prstGeom prst="rect">
            <a:avLst/>
          </a:prstGeom>
          <a:noFill/>
        </p:spPr>
        <p:txBody>
          <a:bodyPr wrap="square" lIns="0" tIns="0" rIns="0" bIns="0" rtlCol="0" anchor="ctr"/>
          <a:lstStyle/>
          <a:p>
            <a:pPr marL="0" indent="0" algn="r">
              <a:buNone/>
            </a:pPr>
            <a:r>
              <a:rPr lang="en-US" sz="1100" dirty="0">
                <a:solidFill>
                  <a:srgbClr val="9A9690"/>
                </a:solidFill>
                <a:latin typeface="Arial" panose="020B0604020202090204" pitchFamily="34" charset="0"/>
                <a:ea typeface="Arial" panose="020B0604020202090204" pitchFamily="34" charset="-122"/>
                <a:cs typeface="Arial" panose="020B0604020202090204" pitchFamily="34" charset="-120"/>
              </a:rPr>
              <a:t>ARMOR SYSTEMS  ·  04</a:t>
            </a:r>
            <a:endParaRPr lang="en-US" sz="1100" dirty="0"/>
          </a:p>
        </p:txBody>
      </p:sp>
      <p:sp>
        <p:nvSpPr>
          <p:cNvPr id="4" name="Shape 2"/>
          <p:cNvSpPr/>
          <p:nvPr/>
        </p:nvSpPr>
        <p:spPr>
          <a:xfrm>
            <a:off x="457200" y="566928"/>
            <a:ext cx="11277295" cy="13716"/>
          </a:xfrm>
          <a:prstGeom prst="rect">
            <a:avLst/>
          </a:prstGeom>
          <a:solidFill>
            <a:srgbClr val="2A2D33"/>
          </a:solidFill>
        </p:spPr>
        <p:txBody>
          <a:bodyPr/>
          <a:lstStyle/>
          <a:p>
            <a:endParaRPr lang="en-CN"/>
          </a:p>
        </p:txBody>
      </p:sp>
      <p:sp>
        <p:nvSpPr>
          <p:cNvPr id="5" name="Text 3"/>
          <p:cNvSpPr/>
          <p:nvPr/>
        </p:nvSpPr>
        <p:spPr>
          <a:xfrm>
            <a:off x="10241280" y="6510528"/>
            <a:ext cx="1463040" cy="228600"/>
          </a:xfrm>
          <a:prstGeom prst="rect">
            <a:avLst/>
          </a:prstGeom>
          <a:noFill/>
        </p:spPr>
        <p:txBody>
          <a:bodyPr wrap="square" lIns="0" tIns="0" rIns="0" bIns="0" rtlCol="0" anchor="ctr"/>
          <a:lstStyle/>
          <a:p>
            <a:pPr marL="0" indent="0" algn="r">
              <a:buNone/>
            </a:pPr>
            <a:r>
              <a:rPr lang="en-US" sz="1100" dirty="0">
                <a:solidFill>
                  <a:srgbClr val="5C5954"/>
                </a:solidFill>
                <a:latin typeface="Arial" panose="020B0604020202090204" pitchFamily="34" charset="0"/>
                <a:ea typeface="Arial" panose="020B0604020202090204" pitchFamily="34" charset="-122"/>
                <a:cs typeface="Arial" panose="020B0604020202090204" pitchFamily="34" charset="-120"/>
              </a:rPr>
              <a:t>04  /  06</a:t>
            </a:r>
            <a:endParaRPr lang="en-US" sz="1100" dirty="0"/>
          </a:p>
        </p:txBody>
      </p:sp>
      <p:sp>
        <p:nvSpPr>
          <p:cNvPr id="6" name="Text 4"/>
          <p:cNvSpPr/>
          <p:nvPr/>
        </p:nvSpPr>
        <p:spPr>
          <a:xfrm>
            <a:off x="457200" y="777240"/>
            <a:ext cx="10972800" cy="411480"/>
          </a:xfrm>
          <a:prstGeom prst="rect">
            <a:avLst/>
          </a:prstGeom>
          <a:noFill/>
        </p:spPr>
        <p:txBody>
          <a:bodyPr wrap="square" lIns="0" tIns="0" rIns="0" bIns="0" rtlCol="0" anchor="ctr"/>
          <a:lstStyle/>
          <a:p>
            <a:pPr marL="0" indent="0">
              <a:buNone/>
            </a:pPr>
            <a:r>
              <a:rPr lang="en-US" sz="2400" b="1" dirty="0">
                <a:solidFill>
                  <a:srgbClr val="FF0000"/>
                </a:solidFill>
                <a:highlight>
                  <a:srgbClr val="FFFF00"/>
                </a:highlight>
                <a:latin typeface="Arial" panose="020B0604020202090204" pitchFamily="34" charset="0"/>
                <a:ea typeface="Arial" panose="020B0604020202090204" pitchFamily="34" charset="-122"/>
                <a:cs typeface="Arial" panose="020B0604020202090204" pitchFamily="34" charset="-120"/>
              </a:rPr>
              <a:t>NERA</a:t>
            </a:r>
            <a:r>
              <a:rPr lang="en-US" sz="2400" b="1" dirty="0">
                <a:solidFill>
                  <a:srgbClr val="E8E6E1"/>
                </a:solidFill>
                <a:highlight>
                  <a:srgbClr val="FFFF00"/>
                </a:highlight>
                <a:latin typeface="Arial" panose="020B0604020202090204" pitchFamily="34" charset="0"/>
                <a:ea typeface="Arial" panose="020B0604020202090204" pitchFamily="34" charset="-122"/>
                <a:cs typeface="Arial" panose="020B0604020202090204" pitchFamily="34" charset="-120"/>
              </a:rPr>
              <a:t> — </a:t>
            </a:r>
            <a:r>
              <a:rPr lang="en-US" sz="2400" b="1" dirty="0">
                <a:solidFill>
                  <a:srgbClr val="FF0000"/>
                </a:solidFill>
                <a:highlight>
                  <a:srgbClr val="FFFF00"/>
                </a:highlight>
                <a:latin typeface="Arial" panose="020B0604020202090204" pitchFamily="34" charset="0"/>
                <a:ea typeface="Arial" panose="020B0604020202090204" pitchFamily="34" charset="-122"/>
                <a:cs typeface="Arial" panose="020B0604020202090204" pitchFamily="34" charset="-120"/>
              </a:rPr>
              <a:t>Non-Explosive Reactive Armor</a:t>
            </a:r>
            <a:endParaRPr lang="en-US" sz="2400" dirty="0">
              <a:solidFill>
                <a:srgbClr val="FF0000"/>
              </a:solidFill>
              <a:highlight>
                <a:srgbClr val="FFFF00"/>
              </a:highlight>
            </a:endParaRPr>
          </a:p>
        </p:txBody>
      </p:sp>
      <p:sp>
        <p:nvSpPr>
          <p:cNvPr id="7" name="Shape 5"/>
          <p:cNvSpPr/>
          <p:nvPr/>
        </p:nvSpPr>
        <p:spPr>
          <a:xfrm>
            <a:off x="457200" y="1371600"/>
            <a:ext cx="11277295" cy="1463040"/>
          </a:xfrm>
          <a:prstGeom prst="roundRect">
            <a:avLst>
              <a:gd name="adj" fmla="val 5000"/>
            </a:avLst>
          </a:prstGeom>
          <a:solidFill>
            <a:srgbClr val="14171C"/>
          </a:solidFill>
        </p:spPr>
        <p:txBody>
          <a:bodyPr/>
          <a:lstStyle/>
          <a:p>
            <a:endParaRPr lang="en-CN"/>
          </a:p>
        </p:txBody>
      </p:sp>
      <p:sp>
        <p:nvSpPr>
          <p:cNvPr id="8" name="Text 6"/>
          <p:cNvSpPr/>
          <p:nvPr/>
        </p:nvSpPr>
        <p:spPr>
          <a:xfrm>
            <a:off x="731520" y="1554480"/>
            <a:ext cx="10698480" cy="1097280"/>
          </a:xfrm>
          <a:prstGeom prst="rect">
            <a:avLst/>
          </a:prstGeom>
          <a:noFill/>
        </p:spPr>
        <p:txBody>
          <a:bodyPr wrap="square" lIns="0" tIns="0" rIns="0" bIns="0" rtlCol="0" anchor="ctr"/>
          <a:lstStyle/>
          <a:p>
            <a:pPr marL="0" indent="0">
              <a:buNone/>
            </a:pPr>
            <a:r>
              <a:rPr lang="en-US" sz="1600" dirty="0">
                <a:solidFill>
                  <a:srgbClr val="9A9690"/>
                </a:solidFill>
                <a:latin typeface="Arial" panose="020B0604020202090204" pitchFamily="34" charset="0"/>
                <a:ea typeface="Arial" panose="020B0604020202090204" pitchFamily="34" charset="-122"/>
                <a:cs typeface="Arial" panose="020B0604020202090204" pitchFamily="34" charset="-120"/>
              </a:rPr>
              <a:t>NERA uses inert materials (rubber, polymers, or composites) sandwiched between metal plates. Upon impact the layers deform and bulge, disrupting the path of a shaped-charge jet or long-rod penetrator without any explosive component.</a:t>
            </a:r>
            <a:endParaRPr lang="en-US" sz="1600" dirty="0"/>
          </a:p>
        </p:txBody>
      </p:sp>
      <p:sp>
        <p:nvSpPr>
          <p:cNvPr id="9" name="Shape 7"/>
          <p:cNvSpPr/>
          <p:nvPr/>
        </p:nvSpPr>
        <p:spPr>
          <a:xfrm>
            <a:off x="457200" y="3108960"/>
            <a:ext cx="3611880" cy="2926080"/>
          </a:xfrm>
          <a:prstGeom prst="roundRect">
            <a:avLst>
              <a:gd name="adj" fmla="val 2500"/>
            </a:avLst>
          </a:prstGeom>
          <a:solidFill>
            <a:srgbClr val="14171C"/>
          </a:solidFill>
        </p:spPr>
        <p:txBody>
          <a:bodyPr/>
          <a:lstStyle/>
          <a:p>
            <a:endParaRPr lang="en-CN"/>
          </a:p>
        </p:txBody>
      </p:sp>
      <p:sp>
        <p:nvSpPr>
          <p:cNvPr id="10" name="Shape 8"/>
          <p:cNvSpPr/>
          <p:nvPr/>
        </p:nvSpPr>
        <p:spPr>
          <a:xfrm>
            <a:off x="457200" y="3108960"/>
            <a:ext cx="3611880" cy="73152"/>
          </a:xfrm>
          <a:prstGeom prst="rect">
            <a:avLst/>
          </a:prstGeom>
          <a:solidFill>
            <a:srgbClr val="3A7CA5"/>
          </a:solidFill>
        </p:spPr>
        <p:txBody>
          <a:bodyPr/>
          <a:lstStyle/>
          <a:p>
            <a:endParaRPr lang="en-CN"/>
          </a:p>
        </p:txBody>
      </p:sp>
      <p:sp>
        <p:nvSpPr>
          <p:cNvPr id="11" name="Text 9"/>
          <p:cNvSpPr/>
          <p:nvPr/>
        </p:nvSpPr>
        <p:spPr>
          <a:xfrm>
            <a:off x="685800" y="3383280"/>
            <a:ext cx="3154680" cy="365760"/>
          </a:xfrm>
          <a:prstGeom prst="rect">
            <a:avLst/>
          </a:prstGeom>
          <a:noFill/>
        </p:spPr>
        <p:txBody>
          <a:bodyPr wrap="square" lIns="0" tIns="0" rIns="0" bIns="0" rtlCol="0" anchor="ctr"/>
          <a:lstStyle/>
          <a:p>
            <a:pPr marL="0" indent="0">
              <a:buNone/>
            </a:pPr>
            <a:r>
              <a:rPr lang="en-US" sz="1600" b="1" dirty="0">
                <a:solidFill>
                  <a:srgbClr val="E8E6E1"/>
                </a:solidFill>
                <a:latin typeface="Arial" panose="020B0604020202090204" pitchFamily="34" charset="0"/>
                <a:ea typeface="Arial" panose="020B0604020202090204" pitchFamily="34" charset="-122"/>
                <a:cs typeface="Arial" panose="020B0604020202090204" pitchFamily="34" charset="-120"/>
              </a:rPr>
              <a:t>How It Works</a:t>
            </a:r>
            <a:endParaRPr lang="en-US" sz="1600" dirty="0"/>
          </a:p>
        </p:txBody>
      </p:sp>
      <p:sp>
        <p:nvSpPr>
          <p:cNvPr id="12" name="Text 10"/>
          <p:cNvSpPr/>
          <p:nvPr/>
        </p:nvSpPr>
        <p:spPr>
          <a:xfrm>
            <a:off x="685800" y="3886200"/>
            <a:ext cx="3154680" cy="1920240"/>
          </a:xfrm>
          <a:prstGeom prst="rect">
            <a:avLst/>
          </a:prstGeom>
          <a:noFill/>
        </p:spPr>
        <p:txBody>
          <a:bodyPr wrap="square" lIns="0" tIns="0" rIns="0" bIns="0" rtlCol="0" anchor="ctr"/>
          <a:lstStyle/>
          <a:p>
            <a:pPr marL="0" indent="0">
              <a:buNone/>
            </a:pPr>
            <a:r>
              <a:rPr lang="en-US" sz="1300" dirty="0">
                <a:solidFill>
                  <a:srgbClr val="9A9690"/>
                </a:solidFill>
                <a:latin typeface="Arial" panose="020B0604020202090204" pitchFamily="34" charset="0"/>
                <a:ea typeface="Arial" panose="020B0604020202090204" pitchFamily="34" charset="-122"/>
                <a:cs typeface="Arial" panose="020B0604020202090204" pitchFamily="34" charset="-120"/>
              </a:rPr>
              <a:t>Impact energy causes the elastomer or polymer layer to expand rapidly, moving the outer and inner metal plates. This motion shears and stretches the penetrating jet or rod, reducing residual penetration.</a:t>
            </a:r>
            <a:endParaRPr lang="en-US" sz="1300" dirty="0"/>
          </a:p>
        </p:txBody>
      </p:sp>
      <p:sp>
        <p:nvSpPr>
          <p:cNvPr id="13" name="Shape 11"/>
          <p:cNvSpPr/>
          <p:nvPr/>
        </p:nvSpPr>
        <p:spPr>
          <a:xfrm>
            <a:off x="4251960" y="3108960"/>
            <a:ext cx="3611880" cy="2926080"/>
          </a:xfrm>
          <a:prstGeom prst="roundRect">
            <a:avLst>
              <a:gd name="adj" fmla="val 2500"/>
            </a:avLst>
          </a:prstGeom>
          <a:solidFill>
            <a:srgbClr val="14171C"/>
          </a:solidFill>
        </p:spPr>
        <p:txBody>
          <a:bodyPr/>
          <a:lstStyle/>
          <a:p>
            <a:endParaRPr lang="en-CN"/>
          </a:p>
        </p:txBody>
      </p:sp>
      <p:sp>
        <p:nvSpPr>
          <p:cNvPr id="14" name="Shape 12"/>
          <p:cNvSpPr/>
          <p:nvPr/>
        </p:nvSpPr>
        <p:spPr>
          <a:xfrm>
            <a:off x="4251960" y="3108960"/>
            <a:ext cx="3611880" cy="73152"/>
          </a:xfrm>
          <a:prstGeom prst="rect">
            <a:avLst/>
          </a:prstGeom>
          <a:solidFill>
            <a:srgbClr val="C45C26"/>
          </a:solidFill>
        </p:spPr>
        <p:txBody>
          <a:bodyPr/>
          <a:lstStyle/>
          <a:p>
            <a:endParaRPr lang="en-CN"/>
          </a:p>
        </p:txBody>
      </p:sp>
      <p:sp>
        <p:nvSpPr>
          <p:cNvPr id="15" name="Text 13"/>
          <p:cNvSpPr/>
          <p:nvPr/>
        </p:nvSpPr>
        <p:spPr>
          <a:xfrm>
            <a:off x="4480560" y="3383280"/>
            <a:ext cx="3154680" cy="365760"/>
          </a:xfrm>
          <a:prstGeom prst="rect">
            <a:avLst/>
          </a:prstGeom>
          <a:noFill/>
        </p:spPr>
        <p:txBody>
          <a:bodyPr wrap="square" lIns="0" tIns="0" rIns="0" bIns="0" rtlCol="0" anchor="ctr"/>
          <a:lstStyle/>
          <a:p>
            <a:pPr marL="0" indent="0">
              <a:buNone/>
            </a:pPr>
            <a:r>
              <a:rPr lang="en-US" sz="1600" b="1" dirty="0">
                <a:solidFill>
                  <a:srgbClr val="E8E6E1"/>
                </a:solidFill>
                <a:latin typeface="Arial" panose="020B0604020202090204" pitchFamily="34" charset="0"/>
                <a:ea typeface="Arial" panose="020B0604020202090204" pitchFamily="34" charset="-122"/>
                <a:cs typeface="Arial" panose="020B0604020202090204" pitchFamily="34" charset="-120"/>
              </a:rPr>
              <a:t>Advantages</a:t>
            </a:r>
            <a:endParaRPr lang="en-US" sz="1600" dirty="0"/>
          </a:p>
        </p:txBody>
      </p:sp>
      <p:sp>
        <p:nvSpPr>
          <p:cNvPr id="16" name="Text 14"/>
          <p:cNvSpPr/>
          <p:nvPr/>
        </p:nvSpPr>
        <p:spPr>
          <a:xfrm>
            <a:off x="4480560" y="3886200"/>
            <a:ext cx="3154680" cy="1920240"/>
          </a:xfrm>
          <a:prstGeom prst="rect">
            <a:avLst/>
          </a:prstGeom>
          <a:noFill/>
        </p:spPr>
        <p:txBody>
          <a:bodyPr wrap="square" lIns="0" tIns="0" rIns="0" bIns="0" rtlCol="0" anchor="ctr"/>
          <a:lstStyle/>
          <a:p>
            <a:pPr marL="0" indent="0">
              <a:buNone/>
            </a:pPr>
            <a:r>
              <a:rPr lang="en-US" sz="1300" dirty="0">
                <a:solidFill>
                  <a:srgbClr val="9A9690"/>
                </a:solidFill>
                <a:latin typeface="Arial" panose="020B0604020202090204" pitchFamily="34" charset="0"/>
                <a:ea typeface="Arial" panose="020B0604020202090204" pitchFamily="34" charset="-122"/>
                <a:cs typeface="Arial" panose="020B0604020202090204" pitchFamily="34" charset="-120"/>
              </a:rPr>
              <a:t>No explosive hazard to nearby infantry or vehicle. Can be fitted more densely. Multiple layers can be stacked. Lower logistic and safety burden than ERA.</a:t>
            </a:r>
            <a:endParaRPr lang="en-US" sz="1300" dirty="0"/>
          </a:p>
        </p:txBody>
      </p:sp>
      <p:sp>
        <p:nvSpPr>
          <p:cNvPr id="17" name="Shape 15"/>
          <p:cNvSpPr/>
          <p:nvPr/>
        </p:nvSpPr>
        <p:spPr>
          <a:xfrm>
            <a:off x="8046720" y="3108960"/>
            <a:ext cx="3611880" cy="2926080"/>
          </a:xfrm>
          <a:prstGeom prst="roundRect">
            <a:avLst>
              <a:gd name="adj" fmla="val 2500"/>
            </a:avLst>
          </a:prstGeom>
          <a:solidFill>
            <a:srgbClr val="14171C"/>
          </a:solidFill>
        </p:spPr>
        <p:txBody>
          <a:bodyPr/>
          <a:lstStyle/>
          <a:p>
            <a:endParaRPr lang="en-CN"/>
          </a:p>
        </p:txBody>
      </p:sp>
      <p:sp>
        <p:nvSpPr>
          <p:cNvPr id="18" name="Shape 16"/>
          <p:cNvSpPr/>
          <p:nvPr/>
        </p:nvSpPr>
        <p:spPr>
          <a:xfrm>
            <a:off x="8046720" y="3108960"/>
            <a:ext cx="3611880" cy="73152"/>
          </a:xfrm>
          <a:prstGeom prst="rect">
            <a:avLst/>
          </a:prstGeom>
          <a:solidFill>
            <a:srgbClr val="3A7CA5"/>
          </a:solidFill>
        </p:spPr>
        <p:txBody>
          <a:bodyPr/>
          <a:lstStyle/>
          <a:p>
            <a:endParaRPr lang="en-CN"/>
          </a:p>
        </p:txBody>
      </p:sp>
      <p:sp>
        <p:nvSpPr>
          <p:cNvPr id="19" name="Text 17"/>
          <p:cNvSpPr/>
          <p:nvPr/>
        </p:nvSpPr>
        <p:spPr>
          <a:xfrm>
            <a:off x="8275320" y="3383280"/>
            <a:ext cx="3154680" cy="365760"/>
          </a:xfrm>
          <a:prstGeom prst="rect">
            <a:avLst/>
          </a:prstGeom>
          <a:noFill/>
        </p:spPr>
        <p:txBody>
          <a:bodyPr wrap="square" lIns="0" tIns="0" rIns="0" bIns="0" rtlCol="0" anchor="ctr"/>
          <a:lstStyle/>
          <a:p>
            <a:pPr marL="0" indent="0">
              <a:buNone/>
            </a:pPr>
            <a:r>
              <a:rPr lang="en-US" sz="1600" b="1" dirty="0">
                <a:solidFill>
                  <a:srgbClr val="E8E6E1"/>
                </a:solidFill>
                <a:latin typeface="Arial" panose="020B0604020202090204" pitchFamily="34" charset="0"/>
                <a:ea typeface="Arial" panose="020B0604020202090204" pitchFamily="34" charset="-122"/>
                <a:cs typeface="Arial" panose="020B0604020202090204" pitchFamily="34" charset="-120"/>
              </a:rPr>
              <a:t>Applications</a:t>
            </a:r>
            <a:endParaRPr lang="en-US" sz="1600" dirty="0"/>
          </a:p>
        </p:txBody>
      </p:sp>
      <p:sp>
        <p:nvSpPr>
          <p:cNvPr id="20" name="Text 18"/>
          <p:cNvSpPr/>
          <p:nvPr/>
        </p:nvSpPr>
        <p:spPr>
          <a:xfrm>
            <a:off x="8275320" y="3886200"/>
            <a:ext cx="3154680" cy="1920240"/>
          </a:xfrm>
          <a:prstGeom prst="rect">
            <a:avLst/>
          </a:prstGeom>
          <a:noFill/>
        </p:spPr>
        <p:txBody>
          <a:bodyPr wrap="square" lIns="0" tIns="0" rIns="0" bIns="0" rtlCol="0" anchor="ctr"/>
          <a:lstStyle/>
          <a:p>
            <a:pPr marL="0" indent="0">
              <a:buNone/>
            </a:pPr>
            <a:r>
              <a:rPr lang="en-US" sz="1300" dirty="0">
                <a:solidFill>
                  <a:srgbClr val="9A9690"/>
                </a:solidFill>
                <a:latin typeface="Arial" panose="020B0604020202090204" pitchFamily="34" charset="0"/>
                <a:ea typeface="Arial" panose="020B0604020202090204" pitchFamily="34" charset="-122"/>
                <a:cs typeface="Arial" panose="020B0604020202090204" pitchFamily="34" charset="-120"/>
              </a:rPr>
              <a:t>Integrated into modern composite arrays (Chobham derivatives, Relikt-style packages, and many Western modular kits). Often used in conjunction with ERA on high-threat arcs.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56032"/>
            <a:ext cx="3657600" cy="274320"/>
          </a:xfrm>
          <a:prstGeom prst="rect">
            <a:avLst/>
          </a:prstGeom>
          <a:noFill/>
        </p:spPr>
        <p:txBody>
          <a:bodyPr wrap="square" lIns="0" tIns="0" rIns="0" bIns="0" rtlCol="0" anchor="ctr"/>
          <a:lstStyle/>
          <a:p>
            <a:pPr marL="0" indent="0">
              <a:buNone/>
            </a:pPr>
            <a:r>
              <a:rPr lang="en-US" sz="1100" kern="0" spc="200" dirty="0">
                <a:solidFill>
                  <a:srgbClr val="5C5954"/>
                </a:solidFill>
                <a:latin typeface="Arial" panose="020B0604020202090204" pitchFamily="34" charset="0"/>
                <a:ea typeface="Arial" panose="020B0604020202090204" pitchFamily="34" charset="-122"/>
                <a:cs typeface="Arial" panose="020B0604020202090204" pitchFamily="34" charset="-120"/>
              </a:rPr>
              <a:t>MODERN MUNITIONS</a:t>
            </a:r>
            <a:endParaRPr lang="en-US" sz="1100" dirty="0"/>
          </a:p>
        </p:txBody>
      </p:sp>
      <p:sp>
        <p:nvSpPr>
          <p:cNvPr id="3" name="Text 1"/>
          <p:cNvSpPr/>
          <p:nvPr/>
        </p:nvSpPr>
        <p:spPr>
          <a:xfrm>
            <a:off x="7772400" y="256032"/>
            <a:ext cx="3931920" cy="274320"/>
          </a:xfrm>
          <a:prstGeom prst="rect">
            <a:avLst/>
          </a:prstGeom>
          <a:noFill/>
        </p:spPr>
        <p:txBody>
          <a:bodyPr wrap="square" lIns="0" tIns="0" rIns="0" bIns="0" rtlCol="0" anchor="ctr"/>
          <a:lstStyle/>
          <a:p>
            <a:pPr marL="0" indent="0" algn="r">
              <a:buNone/>
            </a:pPr>
            <a:r>
              <a:rPr lang="en-US" sz="1100" dirty="0">
                <a:solidFill>
                  <a:srgbClr val="9A9690"/>
                </a:solidFill>
                <a:latin typeface="Arial" panose="020B0604020202090204" pitchFamily="34" charset="0"/>
                <a:ea typeface="Arial" panose="020B0604020202090204" pitchFamily="34" charset="-122"/>
                <a:cs typeface="Arial" panose="020B0604020202090204" pitchFamily="34" charset="-120"/>
              </a:rPr>
              <a:t>ARMOR SYSTEMS  ·  06</a:t>
            </a:r>
            <a:endParaRPr lang="en-US" sz="1100" dirty="0"/>
          </a:p>
        </p:txBody>
      </p:sp>
      <p:sp>
        <p:nvSpPr>
          <p:cNvPr id="4" name="Shape 2"/>
          <p:cNvSpPr/>
          <p:nvPr/>
        </p:nvSpPr>
        <p:spPr>
          <a:xfrm>
            <a:off x="457200" y="566928"/>
            <a:ext cx="11277295" cy="13716"/>
          </a:xfrm>
          <a:prstGeom prst="rect">
            <a:avLst/>
          </a:prstGeom>
          <a:solidFill>
            <a:srgbClr val="2A2D33"/>
          </a:solidFill>
        </p:spPr>
        <p:txBody>
          <a:bodyPr/>
          <a:lstStyle/>
          <a:p>
            <a:endParaRPr lang="en-CN"/>
          </a:p>
        </p:txBody>
      </p:sp>
      <p:sp>
        <p:nvSpPr>
          <p:cNvPr id="5" name="Text 3"/>
          <p:cNvSpPr/>
          <p:nvPr/>
        </p:nvSpPr>
        <p:spPr>
          <a:xfrm>
            <a:off x="10241280" y="6510528"/>
            <a:ext cx="1463040" cy="228600"/>
          </a:xfrm>
          <a:prstGeom prst="rect">
            <a:avLst/>
          </a:prstGeom>
          <a:noFill/>
        </p:spPr>
        <p:txBody>
          <a:bodyPr wrap="square" lIns="0" tIns="0" rIns="0" bIns="0" rtlCol="0" anchor="ctr"/>
          <a:lstStyle/>
          <a:p>
            <a:pPr marL="0" indent="0" algn="r">
              <a:buNone/>
            </a:pPr>
            <a:r>
              <a:rPr lang="en-US" sz="1100" dirty="0">
                <a:solidFill>
                  <a:srgbClr val="5C5954"/>
                </a:solidFill>
                <a:latin typeface="Arial" panose="020B0604020202090204" pitchFamily="34" charset="0"/>
                <a:ea typeface="Arial" panose="020B0604020202090204" pitchFamily="34" charset="-122"/>
                <a:cs typeface="Arial" panose="020B0604020202090204" pitchFamily="34" charset="-120"/>
              </a:rPr>
              <a:t>06  /  06</a:t>
            </a:r>
            <a:endParaRPr lang="en-US" sz="1100" dirty="0"/>
          </a:p>
        </p:txBody>
      </p:sp>
      <p:sp>
        <p:nvSpPr>
          <p:cNvPr id="6" name="Text 4"/>
          <p:cNvSpPr/>
          <p:nvPr/>
        </p:nvSpPr>
        <p:spPr>
          <a:xfrm>
            <a:off x="457200" y="777240"/>
            <a:ext cx="10972800" cy="411480"/>
          </a:xfrm>
          <a:prstGeom prst="rect">
            <a:avLst/>
          </a:prstGeom>
          <a:noFill/>
        </p:spPr>
        <p:txBody>
          <a:bodyPr wrap="square" lIns="0" tIns="0" rIns="0" bIns="0" rtlCol="0" anchor="ctr"/>
          <a:lstStyle/>
          <a:p>
            <a:pPr marL="0" indent="0">
              <a:buNone/>
            </a:pPr>
            <a:r>
              <a:rPr lang="en-US" sz="2400" b="1" dirty="0">
                <a:solidFill>
                  <a:srgbClr val="0070C0"/>
                </a:solidFill>
                <a:latin typeface="Arial" panose="020B0604020202090204" pitchFamily="34" charset="0"/>
                <a:ea typeface="Arial" panose="020B0604020202090204" pitchFamily="34" charset="-122"/>
                <a:cs typeface="Arial" panose="020B0604020202090204" pitchFamily="34" charset="-120"/>
              </a:rPr>
              <a:t>Composite &amp; Appliqué Armor</a:t>
            </a:r>
            <a:endParaRPr lang="en-US" sz="2400" dirty="0">
              <a:solidFill>
                <a:srgbClr val="0070C0"/>
              </a:solidFill>
            </a:endParaRPr>
          </a:p>
        </p:txBody>
      </p:sp>
      <p:sp>
        <p:nvSpPr>
          <p:cNvPr id="7" name="Shape 5"/>
          <p:cNvSpPr/>
          <p:nvPr/>
        </p:nvSpPr>
        <p:spPr>
          <a:xfrm>
            <a:off x="457200" y="1371600"/>
            <a:ext cx="5486400" cy="4846320"/>
          </a:xfrm>
          <a:prstGeom prst="roundRect">
            <a:avLst>
              <a:gd name="adj" fmla="val 1887"/>
            </a:avLst>
          </a:prstGeom>
          <a:solidFill>
            <a:srgbClr val="14171C"/>
          </a:solidFill>
        </p:spPr>
        <p:txBody>
          <a:bodyPr/>
          <a:lstStyle/>
          <a:p>
            <a:endParaRPr lang="en-CN"/>
          </a:p>
        </p:txBody>
      </p:sp>
      <p:sp>
        <p:nvSpPr>
          <p:cNvPr id="8" name="Shape 6"/>
          <p:cNvSpPr/>
          <p:nvPr/>
        </p:nvSpPr>
        <p:spPr>
          <a:xfrm>
            <a:off x="457200" y="1371600"/>
            <a:ext cx="109728" cy="4846320"/>
          </a:xfrm>
          <a:prstGeom prst="rect">
            <a:avLst/>
          </a:prstGeom>
          <a:solidFill>
            <a:srgbClr val="C45C26"/>
          </a:solidFill>
        </p:spPr>
        <p:txBody>
          <a:bodyPr/>
          <a:lstStyle/>
          <a:p>
            <a:endParaRPr lang="en-CN"/>
          </a:p>
        </p:txBody>
      </p:sp>
      <p:sp>
        <p:nvSpPr>
          <p:cNvPr id="9" name="Text 7"/>
          <p:cNvSpPr/>
          <p:nvPr/>
        </p:nvSpPr>
        <p:spPr>
          <a:xfrm>
            <a:off x="822960" y="1600200"/>
            <a:ext cx="4846320" cy="365760"/>
          </a:xfrm>
          <a:prstGeom prst="rect">
            <a:avLst/>
          </a:prstGeom>
          <a:noFill/>
        </p:spPr>
        <p:txBody>
          <a:bodyPr wrap="square" lIns="0" tIns="0" rIns="0" bIns="0" rtlCol="0" anchor="ctr"/>
          <a:lstStyle/>
          <a:p>
            <a:pPr marL="0" indent="0">
              <a:buNone/>
            </a:pPr>
            <a:r>
              <a:rPr lang="en-US" sz="2000" b="1" dirty="0">
                <a:solidFill>
                  <a:srgbClr val="E8E6E1"/>
                </a:solidFill>
                <a:latin typeface="Arial" panose="020B0604020202090204" pitchFamily="34" charset="0"/>
                <a:ea typeface="Arial" panose="020B0604020202090204" pitchFamily="34" charset="-122"/>
                <a:cs typeface="Arial" panose="020B0604020202090204" pitchFamily="34" charset="-120"/>
              </a:rPr>
              <a:t>Composite Armor</a:t>
            </a:r>
            <a:endParaRPr lang="en-US" sz="2000" dirty="0"/>
          </a:p>
        </p:txBody>
      </p:sp>
      <p:sp>
        <p:nvSpPr>
          <p:cNvPr id="10" name="Text 8"/>
          <p:cNvSpPr/>
          <p:nvPr/>
        </p:nvSpPr>
        <p:spPr>
          <a:xfrm>
            <a:off x="822960" y="2011680"/>
            <a:ext cx="4846320" cy="274320"/>
          </a:xfrm>
          <a:prstGeom prst="rect">
            <a:avLst/>
          </a:prstGeom>
          <a:noFill/>
        </p:spPr>
        <p:txBody>
          <a:bodyPr wrap="square" lIns="0" tIns="0" rIns="0" bIns="0" rtlCol="0" anchor="ctr"/>
          <a:lstStyle/>
          <a:p>
            <a:pPr marL="0" indent="0">
              <a:buNone/>
            </a:pPr>
            <a:r>
              <a:rPr lang="en-US" sz="1300" dirty="0">
                <a:solidFill>
                  <a:srgbClr val="C45C26"/>
                </a:solidFill>
                <a:latin typeface="Arial" panose="020B0604020202090204" pitchFamily="34" charset="0"/>
                <a:ea typeface="Arial" panose="020B0604020202090204" pitchFamily="34" charset="-122"/>
                <a:cs typeface="Arial" panose="020B0604020202090204" pitchFamily="34" charset="-120"/>
              </a:rPr>
              <a:t>Multi-material arrays</a:t>
            </a:r>
            <a:endParaRPr lang="en-US" sz="1300" dirty="0"/>
          </a:p>
        </p:txBody>
      </p:sp>
      <p:sp>
        <p:nvSpPr>
          <p:cNvPr id="11" name="Text 9"/>
          <p:cNvSpPr/>
          <p:nvPr/>
        </p:nvSpPr>
        <p:spPr>
          <a:xfrm>
            <a:off x="822960" y="2468880"/>
            <a:ext cx="4846320" cy="228600"/>
          </a:xfrm>
          <a:prstGeom prst="rect">
            <a:avLst/>
          </a:prstGeom>
          <a:noFill/>
        </p:spPr>
        <p:txBody>
          <a:bodyPr wrap="square" lIns="0" tIns="0" rIns="0" bIns="0" rtlCol="0" anchor="ctr"/>
          <a:lstStyle/>
          <a:p>
            <a:pPr marL="0" indent="0">
              <a:buNone/>
            </a:pPr>
            <a:r>
              <a:rPr lang="en-US" sz="1300" b="1" dirty="0">
                <a:solidFill>
                  <a:srgbClr val="E8E6E1"/>
                </a:solidFill>
                <a:latin typeface="Arial" panose="020B0604020202090204" pitchFamily="34" charset="0"/>
                <a:ea typeface="Arial" panose="020B0604020202090204" pitchFamily="34" charset="-122"/>
                <a:cs typeface="Arial" panose="020B0604020202090204" pitchFamily="34" charset="-120"/>
              </a:rPr>
              <a:t>Core Idea</a:t>
            </a:r>
            <a:endParaRPr lang="en-US" sz="1300" dirty="0"/>
          </a:p>
        </p:txBody>
      </p:sp>
      <p:sp>
        <p:nvSpPr>
          <p:cNvPr id="12" name="Text 10"/>
          <p:cNvSpPr/>
          <p:nvPr/>
        </p:nvSpPr>
        <p:spPr>
          <a:xfrm>
            <a:off x="822960" y="2724912"/>
            <a:ext cx="4846320" cy="548640"/>
          </a:xfrm>
          <a:prstGeom prst="rect">
            <a:avLst/>
          </a:prstGeom>
          <a:noFill/>
        </p:spPr>
        <p:txBody>
          <a:bodyPr wrap="square" lIns="0" tIns="0" rIns="0" bIns="0" rtlCol="0" anchor="ctr"/>
          <a:lstStyle/>
          <a:p>
            <a:pPr marL="0" indent="0">
              <a:buNone/>
            </a:pPr>
            <a:r>
              <a:rPr lang="en-US" sz="1200" dirty="0">
                <a:solidFill>
                  <a:srgbClr val="9A9690"/>
                </a:solidFill>
                <a:latin typeface="Arial" panose="020B0604020202090204" pitchFamily="34" charset="0"/>
                <a:ea typeface="Arial" panose="020B0604020202090204" pitchFamily="34" charset="-122"/>
                <a:cs typeface="Arial" panose="020B0604020202090204" pitchFamily="34" charset="-120"/>
              </a:rPr>
              <a:t>Layers of steel, ceramics (alumina, boron carbide, silicon carbide), polymers, and sometimes depleted uranium or titanium arranged to defeat both KE and CE threats.</a:t>
            </a:r>
            <a:endParaRPr lang="en-US" sz="1200" dirty="0"/>
          </a:p>
        </p:txBody>
      </p:sp>
      <p:sp>
        <p:nvSpPr>
          <p:cNvPr id="13" name="Text 11"/>
          <p:cNvSpPr/>
          <p:nvPr/>
        </p:nvSpPr>
        <p:spPr>
          <a:xfrm>
            <a:off x="822960" y="3337560"/>
            <a:ext cx="4846320" cy="228600"/>
          </a:xfrm>
          <a:prstGeom prst="rect">
            <a:avLst/>
          </a:prstGeom>
          <a:noFill/>
        </p:spPr>
        <p:txBody>
          <a:bodyPr wrap="square" lIns="0" tIns="0" rIns="0" bIns="0" rtlCol="0" anchor="ctr"/>
          <a:lstStyle/>
          <a:p>
            <a:pPr marL="0" indent="0">
              <a:buNone/>
            </a:pPr>
            <a:r>
              <a:rPr lang="en-US" sz="1300" b="1" dirty="0">
                <a:solidFill>
                  <a:srgbClr val="E8E6E1"/>
                </a:solidFill>
                <a:latin typeface="Arial" panose="020B0604020202090204" pitchFamily="34" charset="0"/>
                <a:ea typeface="Arial" panose="020B0604020202090204" pitchFamily="34" charset="-122"/>
                <a:cs typeface="Arial" panose="020B0604020202090204" pitchFamily="34" charset="-120"/>
              </a:rPr>
              <a:t>Chobham &amp; Derivatives</a:t>
            </a:r>
            <a:endParaRPr lang="en-US" sz="1300" dirty="0"/>
          </a:p>
        </p:txBody>
      </p:sp>
      <p:sp>
        <p:nvSpPr>
          <p:cNvPr id="14" name="Text 12"/>
          <p:cNvSpPr/>
          <p:nvPr/>
        </p:nvSpPr>
        <p:spPr>
          <a:xfrm>
            <a:off x="822960" y="3593592"/>
            <a:ext cx="4846320" cy="548640"/>
          </a:xfrm>
          <a:prstGeom prst="rect">
            <a:avLst/>
          </a:prstGeom>
          <a:noFill/>
        </p:spPr>
        <p:txBody>
          <a:bodyPr wrap="square" lIns="0" tIns="0" rIns="0" bIns="0" rtlCol="0" anchor="ctr"/>
          <a:lstStyle/>
          <a:p>
            <a:pPr marL="0" indent="0">
              <a:buNone/>
            </a:pPr>
            <a:r>
              <a:rPr lang="en-US" sz="1200" dirty="0">
                <a:solidFill>
                  <a:srgbClr val="9A9690"/>
                </a:solidFill>
                <a:latin typeface="Arial" panose="020B0604020202090204" pitchFamily="34" charset="0"/>
                <a:ea typeface="Arial" panose="020B0604020202090204" pitchFamily="34" charset="-122"/>
                <a:cs typeface="Arial" panose="020B0604020202090204" pitchFamily="34" charset="-120"/>
              </a:rPr>
              <a:t>British-developed ceramic-composite packages used on Challenger, Abrams, Leopard 2, and many modern tanks. Exact compositions remain classified which means we don’t know either. Ask CIA.</a:t>
            </a:r>
            <a:endParaRPr lang="en-US" sz="1200" dirty="0"/>
          </a:p>
        </p:txBody>
      </p:sp>
      <p:sp>
        <p:nvSpPr>
          <p:cNvPr id="15" name="Text 13"/>
          <p:cNvSpPr/>
          <p:nvPr/>
        </p:nvSpPr>
        <p:spPr>
          <a:xfrm>
            <a:off x="822960" y="4206240"/>
            <a:ext cx="4846320" cy="228600"/>
          </a:xfrm>
          <a:prstGeom prst="rect">
            <a:avLst/>
          </a:prstGeom>
          <a:noFill/>
        </p:spPr>
        <p:txBody>
          <a:bodyPr wrap="square" lIns="0" tIns="0" rIns="0" bIns="0" rtlCol="0" anchor="ctr"/>
          <a:lstStyle/>
          <a:p>
            <a:pPr marL="0" indent="0">
              <a:buNone/>
            </a:pPr>
            <a:r>
              <a:rPr lang="en-US" sz="1300" b="1" dirty="0">
                <a:solidFill>
                  <a:srgbClr val="E8E6E1"/>
                </a:solidFill>
                <a:latin typeface="Arial" panose="020B0604020202090204" pitchFamily="34" charset="0"/>
                <a:ea typeface="Arial" panose="020B0604020202090204" pitchFamily="34" charset="-122"/>
                <a:cs typeface="Arial" panose="020B0604020202090204" pitchFamily="34" charset="-120"/>
              </a:rPr>
              <a:t>Function</a:t>
            </a:r>
            <a:endParaRPr lang="en-US" sz="1300" dirty="0"/>
          </a:p>
        </p:txBody>
      </p:sp>
      <p:sp>
        <p:nvSpPr>
          <p:cNvPr id="16" name="Text 14"/>
          <p:cNvSpPr/>
          <p:nvPr/>
        </p:nvSpPr>
        <p:spPr>
          <a:xfrm>
            <a:off x="822960" y="4462272"/>
            <a:ext cx="4846320" cy="548640"/>
          </a:xfrm>
          <a:prstGeom prst="rect">
            <a:avLst/>
          </a:prstGeom>
          <a:noFill/>
        </p:spPr>
        <p:txBody>
          <a:bodyPr wrap="square" lIns="0" tIns="0" rIns="0" bIns="0" rtlCol="0" anchor="ctr"/>
          <a:lstStyle/>
          <a:p>
            <a:pPr marL="0" indent="0">
              <a:buNone/>
            </a:pPr>
            <a:r>
              <a:rPr lang="en-US" sz="1200" dirty="0">
                <a:solidFill>
                  <a:srgbClr val="9A9690"/>
                </a:solidFill>
                <a:latin typeface="Arial" panose="020B0604020202090204" pitchFamily="34" charset="0"/>
                <a:ea typeface="Arial" panose="020B0604020202090204" pitchFamily="34" charset="-122"/>
                <a:cs typeface="Arial" panose="020B0604020202090204" pitchFamily="34" charset="-120"/>
              </a:rPr>
              <a:t>Ceramics fracture and erode the penetrator; ductile backings catch fragments; angled or spaced layers induce yaw and reduce residual velocity.</a:t>
            </a:r>
            <a:endParaRPr lang="en-US" sz="1200" dirty="0"/>
          </a:p>
        </p:txBody>
      </p:sp>
      <p:sp>
        <p:nvSpPr>
          <p:cNvPr id="17" name="Text 15"/>
          <p:cNvSpPr/>
          <p:nvPr/>
        </p:nvSpPr>
        <p:spPr>
          <a:xfrm>
            <a:off x="822960" y="5074920"/>
            <a:ext cx="4846320" cy="228600"/>
          </a:xfrm>
          <a:prstGeom prst="rect">
            <a:avLst/>
          </a:prstGeom>
          <a:noFill/>
        </p:spPr>
        <p:txBody>
          <a:bodyPr wrap="square" lIns="0" tIns="0" rIns="0" bIns="0" rtlCol="0" anchor="ctr"/>
          <a:lstStyle/>
          <a:p>
            <a:pPr marL="0" indent="0">
              <a:buNone/>
            </a:pPr>
            <a:r>
              <a:rPr lang="en-US" sz="1300" b="1" dirty="0">
                <a:solidFill>
                  <a:srgbClr val="E8E6E1"/>
                </a:solidFill>
                <a:latin typeface="Arial" panose="020B0604020202090204" pitchFamily="34" charset="0"/>
                <a:ea typeface="Arial" panose="020B0604020202090204" pitchFamily="34" charset="-122"/>
                <a:cs typeface="Arial" panose="020B0604020202090204" pitchFamily="34" charset="-120"/>
              </a:rPr>
              <a:t>Integration</a:t>
            </a:r>
            <a:endParaRPr lang="en-US" sz="1300" dirty="0"/>
          </a:p>
        </p:txBody>
      </p:sp>
      <p:sp>
        <p:nvSpPr>
          <p:cNvPr id="18" name="Text 16"/>
          <p:cNvSpPr/>
          <p:nvPr/>
        </p:nvSpPr>
        <p:spPr>
          <a:xfrm>
            <a:off x="822960" y="5330952"/>
            <a:ext cx="4846320" cy="548640"/>
          </a:xfrm>
          <a:prstGeom prst="rect">
            <a:avLst/>
          </a:prstGeom>
          <a:noFill/>
        </p:spPr>
        <p:txBody>
          <a:bodyPr wrap="square" lIns="0" tIns="0" rIns="0" bIns="0" rtlCol="0" anchor="ctr"/>
          <a:lstStyle/>
          <a:p>
            <a:pPr marL="0" indent="0">
              <a:buNone/>
            </a:pPr>
            <a:r>
              <a:rPr lang="en-US" sz="1200" dirty="0">
                <a:solidFill>
                  <a:srgbClr val="9A9690"/>
                </a:solidFill>
                <a:latin typeface="Arial" panose="020B0604020202090204" pitchFamily="34" charset="0"/>
                <a:ea typeface="Arial" panose="020B0604020202090204" pitchFamily="34" charset="-122"/>
                <a:cs typeface="Arial" panose="020B0604020202090204" pitchFamily="34" charset="-120"/>
              </a:rPr>
              <a:t>Usually integral to the hull and turret structure rather than purely add-on, though modular composite blocks are increasingly common.</a:t>
            </a:r>
            <a:endParaRPr lang="en-US" sz="1200" dirty="0"/>
          </a:p>
        </p:txBody>
      </p:sp>
      <p:sp>
        <p:nvSpPr>
          <p:cNvPr id="19" name="Shape 17"/>
          <p:cNvSpPr/>
          <p:nvPr/>
        </p:nvSpPr>
        <p:spPr>
          <a:xfrm>
            <a:off x="6217920" y="1371600"/>
            <a:ext cx="5486400" cy="4846320"/>
          </a:xfrm>
          <a:prstGeom prst="roundRect">
            <a:avLst>
              <a:gd name="adj" fmla="val 1887"/>
            </a:avLst>
          </a:prstGeom>
          <a:solidFill>
            <a:srgbClr val="14171C"/>
          </a:solidFill>
        </p:spPr>
        <p:txBody>
          <a:bodyPr/>
          <a:lstStyle/>
          <a:p>
            <a:endParaRPr lang="en-CN"/>
          </a:p>
        </p:txBody>
      </p:sp>
      <p:sp>
        <p:nvSpPr>
          <p:cNvPr id="20" name="Shape 18"/>
          <p:cNvSpPr/>
          <p:nvPr/>
        </p:nvSpPr>
        <p:spPr>
          <a:xfrm>
            <a:off x="6217920" y="1371600"/>
            <a:ext cx="109728" cy="4846320"/>
          </a:xfrm>
          <a:prstGeom prst="rect">
            <a:avLst/>
          </a:prstGeom>
          <a:solidFill>
            <a:srgbClr val="3A7CA5"/>
          </a:solidFill>
        </p:spPr>
        <p:txBody>
          <a:bodyPr/>
          <a:lstStyle/>
          <a:p>
            <a:endParaRPr lang="en-CN"/>
          </a:p>
        </p:txBody>
      </p:sp>
      <p:sp>
        <p:nvSpPr>
          <p:cNvPr id="21" name="Text 19"/>
          <p:cNvSpPr/>
          <p:nvPr/>
        </p:nvSpPr>
        <p:spPr>
          <a:xfrm>
            <a:off x="6583680" y="1600200"/>
            <a:ext cx="4846320" cy="365760"/>
          </a:xfrm>
          <a:prstGeom prst="rect">
            <a:avLst/>
          </a:prstGeom>
          <a:noFill/>
        </p:spPr>
        <p:txBody>
          <a:bodyPr wrap="square" lIns="0" tIns="0" rIns="0" bIns="0" rtlCol="0" anchor="ctr"/>
          <a:lstStyle/>
          <a:p>
            <a:pPr marL="0" indent="0">
              <a:buNone/>
            </a:pPr>
            <a:r>
              <a:rPr lang="en-US" sz="2000" b="1" dirty="0">
                <a:solidFill>
                  <a:srgbClr val="E8E6E1"/>
                </a:solidFill>
                <a:latin typeface="Arial" panose="020B0604020202090204" pitchFamily="34" charset="0"/>
                <a:ea typeface="Arial" panose="020B0604020202090204" pitchFamily="34" charset="-122"/>
                <a:cs typeface="Arial" panose="020B0604020202090204" pitchFamily="34" charset="-120"/>
              </a:rPr>
              <a:t>Appliqué Armor</a:t>
            </a:r>
            <a:endParaRPr lang="en-US" sz="2000" dirty="0"/>
          </a:p>
        </p:txBody>
      </p:sp>
      <p:sp>
        <p:nvSpPr>
          <p:cNvPr id="22" name="Text 20"/>
          <p:cNvSpPr/>
          <p:nvPr/>
        </p:nvSpPr>
        <p:spPr>
          <a:xfrm>
            <a:off x="6583680" y="2011680"/>
            <a:ext cx="4846320" cy="274320"/>
          </a:xfrm>
          <a:prstGeom prst="rect">
            <a:avLst/>
          </a:prstGeom>
          <a:noFill/>
        </p:spPr>
        <p:txBody>
          <a:bodyPr wrap="square" lIns="0" tIns="0" rIns="0" bIns="0" rtlCol="0" anchor="ctr"/>
          <a:lstStyle/>
          <a:p>
            <a:pPr marL="0" indent="0">
              <a:buNone/>
            </a:pPr>
            <a:r>
              <a:rPr lang="en-US" sz="1300" dirty="0">
                <a:solidFill>
                  <a:srgbClr val="3A7CA5"/>
                </a:solidFill>
                <a:latin typeface="Arial" panose="020B0604020202090204" pitchFamily="34" charset="0"/>
                <a:ea typeface="Arial" panose="020B0604020202090204" pitchFamily="34" charset="-122"/>
                <a:cs typeface="Arial" panose="020B0604020202090204" pitchFamily="34" charset="-120"/>
              </a:rPr>
              <a:t>Add-on protective packages</a:t>
            </a:r>
            <a:endParaRPr lang="en-US" sz="1300" dirty="0"/>
          </a:p>
        </p:txBody>
      </p:sp>
      <p:sp>
        <p:nvSpPr>
          <p:cNvPr id="23" name="Text 21"/>
          <p:cNvSpPr/>
          <p:nvPr/>
        </p:nvSpPr>
        <p:spPr>
          <a:xfrm>
            <a:off x="6583680" y="2468880"/>
            <a:ext cx="4846320" cy="228600"/>
          </a:xfrm>
          <a:prstGeom prst="rect">
            <a:avLst/>
          </a:prstGeom>
          <a:noFill/>
        </p:spPr>
        <p:txBody>
          <a:bodyPr wrap="square" lIns="0" tIns="0" rIns="0" bIns="0" rtlCol="0" anchor="ctr"/>
          <a:lstStyle/>
          <a:p>
            <a:pPr marL="0" indent="0">
              <a:buNone/>
            </a:pPr>
            <a:r>
              <a:rPr lang="en-US" sz="1300" b="1" dirty="0">
                <a:solidFill>
                  <a:srgbClr val="E8E6E1"/>
                </a:solidFill>
                <a:latin typeface="Arial" panose="020B0604020202090204" pitchFamily="34" charset="0"/>
                <a:ea typeface="Arial" panose="020B0604020202090204" pitchFamily="34" charset="-122"/>
                <a:cs typeface="Arial" panose="020B0604020202090204" pitchFamily="34" charset="-120"/>
              </a:rPr>
              <a:t>Definition</a:t>
            </a:r>
            <a:endParaRPr lang="en-US" sz="1300" dirty="0"/>
          </a:p>
        </p:txBody>
      </p:sp>
      <p:sp>
        <p:nvSpPr>
          <p:cNvPr id="24" name="Text 22"/>
          <p:cNvSpPr/>
          <p:nvPr/>
        </p:nvSpPr>
        <p:spPr>
          <a:xfrm>
            <a:off x="6583680" y="2724912"/>
            <a:ext cx="4846320" cy="548640"/>
          </a:xfrm>
          <a:prstGeom prst="rect">
            <a:avLst/>
          </a:prstGeom>
          <a:noFill/>
        </p:spPr>
        <p:txBody>
          <a:bodyPr wrap="square" lIns="0" tIns="0" rIns="0" bIns="0" rtlCol="0" anchor="ctr"/>
          <a:lstStyle/>
          <a:p>
            <a:pPr marL="0" indent="0">
              <a:buNone/>
            </a:pPr>
            <a:r>
              <a:rPr lang="en-US" sz="1200" dirty="0">
                <a:solidFill>
                  <a:srgbClr val="9A9690"/>
                </a:solidFill>
                <a:latin typeface="Arial" panose="020B0604020202090204" pitchFamily="34" charset="0"/>
                <a:ea typeface="Arial" panose="020B0604020202090204" pitchFamily="34" charset="-122"/>
                <a:cs typeface="Arial" panose="020B0604020202090204" pitchFamily="34" charset="-120"/>
              </a:rPr>
              <a:t>Additional armor plates or modules bolted, welded, or hung onto an existing vehicle structure to raise protection levels without redesigning the base vehicle.</a:t>
            </a:r>
            <a:endParaRPr lang="en-US" sz="1200" dirty="0"/>
          </a:p>
        </p:txBody>
      </p:sp>
      <p:sp>
        <p:nvSpPr>
          <p:cNvPr id="25" name="Text 23"/>
          <p:cNvSpPr/>
          <p:nvPr/>
        </p:nvSpPr>
        <p:spPr>
          <a:xfrm>
            <a:off x="6583680" y="3337560"/>
            <a:ext cx="4846320" cy="228600"/>
          </a:xfrm>
          <a:prstGeom prst="rect">
            <a:avLst/>
          </a:prstGeom>
          <a:noFill/>
        </p:spPr>
        <p:txBody>
          <a:bodyPr wrap="square" lIns="0" tIns="0" rIns="0" bIns="0" rtlCol="0" anchor="ctr"/>
          <a:lstStyle/>
          <a:p>
            <a:pPr marL="0" indent="0">
              <a:buNone/>
            </a:pPr>
            <a:r>
              <a:rPr lang="en-US" sz="1300" b="1" dirty="0">
                <a:solidFill>
                  <a:srgbClr val="E8E6E1"/>
                </a:solidFill>
                <a:latin typeface="Arial" panose="020B0604020202090204" pitchFamily="34" charset="0"/>
                <a:ea typeface="Arial" panose="020B0604020202090204" pitchFamily="34" charset="-122"/>
                <a:cs typeface="Arial" panose="020B0604020202090204" pitchFamily="34" charset="-120"/>
              </a:rPr>
              <a:t>Materials</a:t>
            </a:r>
            <a:endParaRPr lang="en-US" sz="1300" dirty="0"/>
          </a:p>
        </p:txBody>
      </p:sp>
      <p:sp>
        <p:nvSpPr>
          <p:cNvPr id="26" name="Text 24"/>
          <p:cNvSpPr/>
          <p:nvPr/>
        </p:nvSpPr>
        <p:spPr>
          <a:xfrm>
            <a:off x="6583680" y="3593592"/>
            <a:ext cx="4846320" cy="548640"/>
          </a:xfrm>
          <a:prstGeom prst="rect">
            <a:avLst/>
          </a:prstGeom>
          <a:noFill/>
        </p:spPr>
        <p:txBody>
          <a:bodyPr wrap="square" lIns="0" tIns="0" rIns="0" bIns="0" rtlCol="0" anchor="ctr"/>
          <a:lstStyle/>
          <a:p>
            <a:pPr marL="0" indent="0">
              <a:buNone/>
            </a:pPr>
            <a:r>
              <a:rPr lang="en-US" sz="1200" dirty="0">
                <a:solidFill>
                  <a:srgbClr val="9A9690"/>
                </a:solidFill>
                <a:latin typeface="Arial" panose="020B0604020202090204" pitchFamily="34" charset="0"/>
                <a:ea typeface="Arial" panose="020B0604020202090204" pitchFamily="34" charset="-122"/>
                <a:cs typeface="Arial" panose="020B0604020202090204" pitchFamily="34" charset="-120"/>
              </a:rPr>
              <a:t>Rolled homogeneous armor (RHA) plates, high-hardness steel, composite tiles, or hybrid ERA/NERA packages. Often modular for field replacement.</a:t>
            </a:r>
            <a:endParaRPr lang="en-US" sz="1200" dirty="0"/>
          </a:p>
        </p:txBody>
      </p:sp>
      <p:sp>
        <p:nvSpPr>
          <p:cNvPr id="27" name="Text 25"/>
          <p:cNvSpPr/>
          <p:nvPr/>
        </p:nvSpPr>
        <p:spPr>
          <a:xfrm>
            <a:off x="6583680" y="4206240"/>
            <a:ext cx="4846320" cy="228600"/>
          </a:xfrm>
          <a:prstGeom prst="rect">
            <a:avLst/>
          </a:prstGeom>
          <a:noFill/>
        </p:spPr>
        <p:txBody>
          <a:bodyPr wrap="square" lIns="0" tIns="0" rIns="0" bIns="0" rtlCol="0" anchor="ctr"/>
          <a:lstStyle/>
          <a:p>
            <a:pPr marL="0" indent="0">
              <a:buNone/>
            </a:pPr>
            <a:r>
              <a:rPr lang="en-US" sz="1300" b="1" dirty="0">
                <a:solidFill>
                  <a:srgbClr val="E8E6E1"/>
                </a:solidFill>
                <a:latin typeface="Arial" panose="020B0604020202090204" pitchFamily="34" charset="0"/>
                <a:ea typeface="Arial" panose="020B0604020202090204" pitchFamily="34" charset="-122"/>
                <a:cs typeface="Arial" panose="020B0604020202090204" pitchFamily="34" charset="-120"/>
              </a:rPr>
              <a:t>Purpose</a:t>
            </a:r>
            <a:endParaRPr lang="en-US" sz="1300" dirty="0"/>
          </a:p>
        </p:txBody>
      </p:sp>
      <p:sp>
        <p:nvSpPr>
          <p:cNvPr id="28" name="Text 26"/>
          <p:cNvSpPr/>
          <p:nvPr/>
        </p:nvSpPr>
        <p:spPr>
          <a:xfrm>
            <a:off x="6583680" y="4462272"/>
            <a:ext cx="4846320" cy="548640"/>
          </a:xfrm>
          <a:prstGeom prst="rect">
            <a:avLst/>
          </a:prstGeom>
          <a:noFill/>
        </p:spPr>
        <p:txBody>
          <a:bodyPr wrap="square" lIns="0" tIns="0" rIns="0" bIns="0" rtlCol="0" anchor="ctr"/>
          <a:lstStyle/>
          <a:p>
            <a:pPr marL="0" indent="0">
              <a:buNone/>
            </a:pPr>
            <a:r>
              <a:rPr lang="en-US" sz="1200" dirty="0">
                <a:solidFill>
                  <a:srgbClr val="9A9690"/>
                </a:solidFill>
                <a:latin typeface="Arial" panose="020B0604020202090204" pitchFamily="34" charset="0"/>
                <a:ea typeface="Arial" panose="020B0604020202090204" pitchFamily="34" charset="-122"/>
                <a:cs typeface="Arial" panose="020B0604020202090204" pitchFamily="34" charset="-120"/>
              </a:rPr>
              <a:t>Rapid capability upgrade, theater-specific protection, urban, or life-extension of older platforms against evolving threats.</a:t>
            </a:r>
            <a:endParaRPr lang="en-US" sz="1200" dirty="0"/>
          </a:p>
        </p:txBody>
      </p:sp>
      <p:sp>
        <p:nvSpPr>
          <p:cNvPr id="29" name="Text 27"/>
          <p:cNvSpPr/>
          <p:nvPr/>
        </p:nvSpPr>
        <p:spPr>
          <a:xfrm>
            <a:off x="6583680" y="5074920"/>
            <a:ext cx="4846320" cy="228600"/>
          </a:xfrm>
          <a:prstGeom prst="rect">
            <a:avLst/>
          </a:prstGeom>
          <a:noFill/>
        </p:spPr>
        <p:txBody>
          <a:bodyPr wrap="square" lIns="0" tIns="0" rIns="0" bIns="0" rtlCol="0" anchor="ctr"/>
          <a:lstStyle/>
          <a:p>
            <a:pPr marL="0" indent="0">
              <a:buNone/>
            </a:pPr>
            <a:r>
              <a:rPr lang="en-US" sz="1300" b="1" dirty="0">
                <a:solidFill>
                  <a:srgbClr val="E8E6E1"/>
                </a:solidFill>
                <a:latin typeface="Arial" panose="020B0604020202090204" pitchFamily="34" charset="0"/>
                <a:ea typeface="Arial" panose="020B0604020202090204" pitchFamily="34" charset="-122"/>
                <a:cs typeface="Arial" panose="020B0604020202090204" pitchFamily="34" charset="-120"/>
              </a:rPr>
              <a:t>Examples</a:t>
            </a:r>
            <a:endParaRPr lang="en-US" sz="1300" dirty="0"/>
          </a:p>
        </p:txBody>
      </p:sp>
      <p:sp>
        <p:nvSpPr>
          <p:cNvPr id="30" name="Text 28"/>
          <p:cNvSpPr/>
          <p:nvPr/>
        </p:nvSpPr>
        <p:spPr>
          <a:xfrm>
            <a:off x="6583680" y="5330952"/>
            <a:ext cx="4846320" cy="548640"/>
          </a:xfrm>
          <a:prstGeom prst="rect">
            <a:avLst/>
          </a:prstGeom>
          <a:noFill/>
        </p:spPr>
        <p:txBody>
          <a:bodyPr wrap="square" lIns="0" tIns="0" rIns="0" bIns="0" rtlCol="0" anchor="ctr"/>
          <a:lstStyle/>
          <a:p>
            <a:pPr marL="0" indent="0">
              <a:buNone/>
            </a:pPr>
            <a:r>
              <a:rPr lang="en-US" sz="1200" dirty="0">
                <a:solidFill>
                  <a:srgbClr val="9A9690"/>
                </a:solidFill>
                <a:latin typeface="Arial" panose="020B0604020202090204" pitchFamily="34" charset="0"/>
                <a:ea typeface="Arial" panose="020B0604020202090204" pitchFamily="34" charset="-122"/>
                <a:cs typeface="Arial" panose="020B0604020202090204" pitchFamily="34" charset="-120"/>
              </a:rPr>
              <a:t>Tank Urban Survival Kit (TUSK) kits for Abrams, Leopard 2A4 upgrades, T-72/T-90 (All 3 are American tanks) appliqué packages, and many IFV/APC up-armor kits (British) fielded since the 2000s.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25D49-815A-7B9E-E8F4-BCB63DDA0CF9}"/>
              </a:ext>
            </a:extLst>
          </p:cNvPr>
          <p:cNvSpPr>
            <a:spLocks noGrp="1"/>
          </p:cNvSpPr>
          <p:nvPr>
            <p:ph type="title"/>
          </p:nvPr>
        </p:nvSpPr>
        <p:spPr/>
        <p:txBody>
          <a:bodyPr/>
          <a:lstStyle/>
          <a:p>
            <a:r>
              <a:rPr lang="en-CN" dirty="0"/>
              <a:t>Summary:</a:t>
            </a:r>
            <a:br>
              <a:rPr lang="en-CN" dirty="0"/>
            </a:br>
            <a:r>
              <a:rPr lang="en-CN" dirty="0"/>
              <a:t>Counters!</a:t>
            </a:r>
          </a:p>
        </p:txBody>
      </p:sp>
      <p:sp>
        <p:nvSpPr>
          <p:cNvPr id="3" name="Content Placeholder 2">
            <a:extLst>
              <a:ext uri="{FF2B5EF4-FFF2-40B4-BE49-F238E27FC236}">
                <a16:creationId xmlns:a16="http://schemas.microsoft.com/office/drawing/2014/main" id="{6A5DA054-C114-1CA5-4CE3-E878A57EA400}"/>
              </a:ext>
            </a:extLst>
          </p:cNvPr>
          <p:cNvSpPr>
            <a:spLocks noGrp="1"/>
          </p:cNvSpPr>
          <p:nvPr>
            <p:ph sz="quarter" idx="13"/>
          </p:nvPr>
        </p:nvSpPr>
        <p:spPr>
          <a:xfrm>
            <a:off x="4737707" y="0"/>
            <a:ext cx="7688495" cy="6047836"/>
          </a:xfrm>
        </p:spPr>
        <p:txBody>
          <a:bodyPr>
            <a:normAutofit/>
          </a:bodyPr>
          <a:lstStyle/>
          <a:p>
            <a:r>
              <a:rPr lang="en-CN" sz="2800" dirty="0"/>
              <a:t>ARMOR COUNTERS</a:t>
            </a:r>
          </a:p>
          <a:p>
            <a:r>
              <a:rPr lang="en-CN" sz="2800" dirty="0"/>
              <a:t>Steel Armor &lt; APFSDS, HEAT</a:t>
            </a:r>
          </a:p>
          <a:p>
            <a:r>
              <a:rPr lang="en-CN" sz="2800" dirty="0"/>
              <a:t>Steel Armor &gt; Small bullets, Shrapnel</a:t>
            </a:r>
          </a:p>
          <a:p>
            <a:r>
              <a:rPr lang="en-CN" sz="2800" dirty="0"/>
              <a:t>Composite Armor &lt; fire, tandem</a:t>
            </a:r>
          </a:p>
          <a:p>
            <a:r>
              <a:rPr lang="en-CN" sz="2800" dirty="0"/>
              <a:t>Composite Armor &gt; HEAT, KE</a:t>
            </a:r>
          </a:p>
          <a:p>
            <a:r>
              <a:rPr lang="en-CN" sz="2800" dirty="0"/>
              <a:t>ERA &lt; APFSDS, HEAT, APS, AP</a:t>
            </a:r>
          </a:p>
          <a:p>
            <a:r>
              <a:rPr lang="en-CN" sz="2800" dirty="0"/>
              <a:t>ERA &gt; HEAT, RPG rounds</a:t>
            </a:r>
          </a:p>
          <a:p>
            <a:r>
              <a:rPr lang="en-CN" sz="2800" dirty="0"/>
              <a:t>NERA &lt; Heavy HEAT</a:t>
            </a:r>
          </a:p>
          <a:p>
            <a:r>
              <a:rPr lang="en-CN" sz="2800" dirty="0"/>
              <a:t>NERA &gt; RPG, Weak HEAT, APFSDS</a:t>
            </a:r>
          </a:p>
        </p:txBody>
      </p:sp>
      <p:sp>
        <p:nvSpPr>
          <p:cNvPr id="4" name="TextBox 3">
            <a:extLst>
              <a:ext uri="{FF2B5EF4-FFF2-40B4-BE49-F238E27FC236}">
                <a16:creationId xmlns:a16="http://schemas.microsoft.com/office/drawing/2014/main" id="{581D263B-CE2C-3657-B59F-AAE6C22FB355}"/>
              </a:ext>
            </a:extLst>
          </p:cNvPr>
          <p:cNvSpPr txBox="1"/>
          <p:nvPr/>
        </p:nvSpPr>
        <p:spPr>
          <a:xfrm>
            <a:off x="0" y="1189822"/>
            <a:ext cx="4306529" cy="4671343"/>
          </a:xfrm>
          <a:prstGeom prst="rect">
            <a:avLst/>
          </a:prstGeom>
          <a:noFill/>
        </p:spPr>
        <p:txBody>
          <a:bodyPr wrap="square" rtlCol="0">
            <a:spAutoFit/>
          </a:bodyPr>
          <a:lstStyle/>
          <a:p>
            <a:pPr>
              <a:lnSpc>
                <a:spcPct val="150000"/>
              </a:lnSpc>
            </a:pPr>
            <a:r>
              <a:rPr lang="en-CN" dirty="0"/>
              <a:t>APFSDS: </a:t>
            </a:r>
            <a:r>
              <a:rPr lang="en-US" dirty="0">
                <a:latin typeface="Arial" panose="020B0604020202090204" pitchFamily="34" charset="0"/>
                <a:ea typeface="Arial" panose="020B0604020202090204" pitchFamily="34" charset="-122"/>
                <a:cs typeface="Arial" panose="020B0604020202090204" pitchFamily="34" charset="-120"/>
              </a:rPr>
              <a:t>Armor-Piercing Fin-Stabilized Discarding Sabot</a:t>
            </a:r>
            <a:endParaRPr lang="en-US" dirty="0"/>
          </a:p>
          <a:p>
            <a:pPr>
              <a:lnSpc>
                <a:spcPct val="150000"/>
              </a:lnSpc>
            </a:pPr>
            <a:r>
              <a:rPr lang="en-CN" dirty="0"/>
              <a:t>HEAT: High-Explosive Anti-Tank</a:t>
            </a:r>
          </a:p>
          <a:p>
            <a:pPr>
              <a:lnSpc>
                <a:spcPct val="150000"/>
              </a:lnSpc>
            </a:pPr>
            <a:r>
              <a:rPr lang="en-CN" dirty="0"/>
              <a:t>KE: Kenetic Energy Munition</a:t>
            </a:r>
          </a:p>
          <a:p>
            <a:pPr>
              <a:lnSpc>
                <a:spcPct val="150000"/>
              </a:lnSpc>
            </a:pPr>
            <a:r>
              <a:rPr lang="en-CN" dirty="0"/>
              <a:t>ERA: Explosive Reactive Armor</a:t>
            </a:r>
          </a:p>
          <a:p>
            <a:pPr>
              <a:lnSpc>
                <a:spcPct val="150000"/>
              </a:lnSpc>
            </a:pPr>
            <a:r>
              <a:rPr lang="en-CN" dirty="0"/>
              <a:t>RPG: </a:t>
            </a:r>
            <a:r>
              <a:rPr lang="en-CN" b="1" u="sng" dirty="0"/>
              <a:t>R</a:t>
            </a:r>
            <a:r>
              <a:rPr lang="en-CN" b="1" dirty="0"/>
              <a:t>uchnoy </a:t>
            </a:r>
            <a:r>
              <a:rPr lang="en-CN" b="1" u="sng" dirty="0"/>
              <a:t>P</a:t>
            </a:r>
            <a:r>
              <a:rPr lang="en-CN" b="1" dirty="0"/>
              <a:t>rotivotankoviy </a:t>
            </a:r>
            <a:r>
              <a:rPr lang="en-CN" b="1" u="sng" dirty="0"/>
              <a:t>G</a:t>
            </a:r>
            <a:r>
              <a:rPr lang="en-CN" b="1" dirty="0"/>
              <a:t>ranatomyot</a:t>
            </a:r>
            <a:endParaRPr lang="en-CN" sz="2400" b="1" dirty="0"/>
          </a:p>
          <a:p>
            <a:pPr>
              <a:lnSpc>
                <a:spcPct val="150000"/>
              </a:lnSpc>
            </a:pPr>
            <a:r>
              <a:rPr lang="en-US" b="1" dirty="0"/>
              <a:t>    O</a:t>
            </a:r>
            <a:r>
              <a:rPr lang="en-CN" b="1" dirty="0"/>
              <a:t>r hand-held anti-tank grenade launcher</a:t>
            </a:r>
            <a:r>
              <a:rPr lang="en-CN" sz="2400" b="1" dirty="0"/>
              <a:t>. </a:t>
            </a:r>
            <a:r>
              <a:rPr lang="en-CN" b="1" dirty="0"/>
              <a:t>(火箭筒</a:t>
            </a:r>
            <a:r>
              <a:rPr lang="en-US" b="1" dirty="0"/>
              <a:t>)</a:t>
            </a:r>
          </a:p>
          <a:p>
            <a:pPr>
              <a:lnSpc>
                <a:spcPct val="150000"/>
              </a:lnSpc>
            </a:pPr>
            <a:r>
              <a:rPr lang="en-US" dirty="0"/>
              <a:t>NERA: Non-Explosive Reactive Armor</a:t>
            </a:r>
            <a:endParaRPr lang="en-CN" dirty="0"/>
          </a:p>
          <a:p>
            <a:pPr>
              <a:lnSpc>
                <a:spcPct val="150000"/>
              </a:lnSpc>
            </a:pPr>
            <a:endParaRPr lang="en-CN" sz="1400" dirty="0"/>
          </a:p>
        </p:txBody>
      </p:sp>
    </p:spTree>
    <p:extLst>
      <p:ext uri="{BB962C8B-B14F-4D97-AF65-F5344CB8AC3E}">
        <p14:creationId xmlns:p14="http://schemas.microsoft.com/office/powerpoint/2010/main" val="4945788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F4BD7-FBBF-CFA4-F3C9-0698675E397E}"/>
              </a:ext>
            </a:extLst>
          </p:cNvPr>
          <p:cNvSpPr>
            <a:spLocks noGrp="1"/>
          </p:cNvSpPr>
          <p:nvPr>
            <p:ph type="title"/>
          </p:nvPr>
        </p:nvSpPr>
        <p:spPr/>
        <p:txBody>
          <a:bodyPr/>
          <a:lstStyle/>
          <a:p>
            <a:r>
              <a:rPr lang="en-CN" dirty="0"/>
              <a:t>Thanks for</a:t>
            </a:r>
            <a:br>
              <a:rPr lang="en-CN" dirty="0"/>
            </a:br>
            <a:r>
              <a:rPr lang="en-CN" dirty="0"/>
              <a:t>listening!</a:t>
            </a:r>
          </a:p>
        </p:txBody>
      </p:sp>
      <p:sp>
        <p:nvSpPr>
          <p:cNvPr id="3" name="Content Placeholder 2">
            <a:extLst>
              <a:ext uri="{FF2B5EF4-FFF2-40B4-BE49-F238E27FC236}">
                <a16:creationId xmlns:a16="http://schemas.microsoft.com/office/drawing/2014/main" id="{82C3321A-ACB6-0768-2035-5AD9A2CE4173}"/>
              </a:ext>
            </a:extLst>
          </p:cNvPr>
          <p:cNvSpPr>
            <a:spLocks noGrp="1"/>
          </p:cNvSpPr>
          <p:nvPr>
            <p:ph sz="quarter" idx="14"/>
          </p:nvPr>
        </p:nvSpPr>
        <p:spPr/>
        <p:txBody>
          <a:bodyPr/>
          <a:lstStyle/>
          <a:p>
            <a:r>
              <a:rPr lang="en-CN" i="1" dirty="0"/>
              <a:t>Sponsered by Singularity Lab</a:t>
            </a:r>
          </a:p>
          <a:p>
            <a:r>
              <a:rPr lang="en-CN" i="1" dirty="0"/>
              <a:t>Script by Hudson 8-7</a:t>
            </a:r>
          </a:p>
          <a:p>
            <a:r>
              <a:rPr lang="en-CN" i="1" dirty="0"/>
              <a:t>PPT by Raymond 8-6</a:t>
            </a:r>
          </a:p>
          <a:p>
            <a:r>
              <a:rPr lang="en-CN" i="1" dirty="0"/>
              <a:t> this took way too long</a:t>
            </a:r>
          </a:p>
        </p:txBody>
      </p:sp>
    </p:spTree>
    <p:extLst>
      <p:ext uri="{BB962C8B-B14F-4D97-AF65-F5344CB8AC3E}">
        <p14:creationId xmlns:p14="http://schemas.microsoft.com/office/powerpoint/2010/main" val="1141720955"/>
      </p:ext>
    </p:extLst>
  </p:cSld>
  <p:clrMapOvr>
    <a:masterClrMapping/>
  </p:clrMapOvr>
</p:sld>
</file>

<file path=ppt/theme/theme1.xml><?xml version="1.0" encoding="utf-8"?>
<a:theme xmlns:a="http://schemas.openxmlformats.org/drawingml/2006/main" name="Dune">
  <a:themeElements>
    <a:clrScheme name="Dune">
      <a:dk1>
        <a:srgbClr val="131313"/>
      </a:dk1>
      <a:lt1>
        <a:sysClr val="window" lastClr="FFFFFF"/>
      </a:lt1>
      <a:dk2>
        <a:srgbClr val="272D2B"/>
      </a:dk2>
      <a:lt2>
        <a:srgbClr val="F0EDE6"/>
      </a:lt2>
      <a:accent1>
        <a:srgbClr val="647E6B"/>
      </a:accent1>
      <a:accent2>
        <a:srgbClr val="476262"/>
      </a:accent2>
      <a:accent3>
        <a:srgbClr val="9B8C69"/>
      </a:accent3>
      <a:accent4>
        <a:srgbClr val="BA988C"/>
      </a:accent4>
      <a:accent5>
        <a:srgbClr val="A27C7C"/>
      </a:accent5>
      <a:accent6>
        <a:srgbClr val="79958B"/>
      </a:accent6>
      <a:hlink>
        <a:srgbClr val="476262"/>
      </a:hlink>
      <a:folHlink>
        <a:srgbClr val="A27C7C"/>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une" id="{7A434096-21D7-44B8-8536-5670F4990977}" vid="{9E2B180D-3A1B-4983-B64A-9C133C18DC9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a19d03a-48bc-4359-8038-5b5f6d5847c3}"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Dune</Template>
  <TotalTime>2312</TotalTime>
  <Words>1778</Words>
  <Application>Microsoft Office PowerPoint</Application>
  <PresentationFormat>宽屏</PresentationFormat>
  <Paragraphs>215</Paragraphs>
  <Slides>19</Slides>
  <Notes>10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19</vt:i4>
      </vt:variant>
    </vt:vector>
  </HeadingPairs>
  <TitlesOfParts>
    <vt:vector size="24" baseType="lpstr">
      <vt:lpstr>Aptos</vt:lpstr>
      <vt:lpstr>Arial</vt:lpstr>
      <vt:lpstr>Cambria Math</vt:lpstr>
      <vt:lpstr>Neue Haas Grotesk Text Pro</vt:lpstr>
      <vt:lpstr>Dune</vt:lpstr>
      <vt:lpstr>Armor Ballistics &amp; Bullet Chemistry  Pressure vs Steel</vt:lpstr>
      <vt:lpstr>What is Armor?</vt:lpstr>
      <vt:lpstr>What is Bullet Calibre?</vt:lpstr>
      <vt:lpstr>Bullet Structure</vt:lpstr>
      <vt:lpstr>Bullet Structure</vt:lpstr>
      <vt:lpstr>Chemical Reaction: The Exothermic Oxidation Reaction</vt:lpstr>
      <vt:lpstr>Force Against Armor</vt:lpstr>
      <vt:lpstr>What makes Armor Strong?</vt:lpstr>
      <vt:lpstr>Conclusion</vt:lpstr>
      <vt:lpstr>That was simple Now… Moving on.</vt:lpstr>
      <vt:lpstr>Modern Ammunition</vt:lpstr>
      <vt:lpstr>PowerPoint 演示文稿</vt:lpstr>
      <vt:lpstr>PowerPoint 演示文稿</vt:lpstr>
      <vt:lpstr>PowerPoint 演示文稿</vt:lpstr>
      <vt:lpstr>PowerPoint 演示文稿</vt:lpstr>
      <vt:lpstr>PowerPoint 演示文稿</vt:lpstr>
      <vt:lpstr>PowerPoint 演示文稿</vt:lpstr>
      <vt:lpstr>Summary: Counters!</vt:lpstr>
      <vt:lpstr>Thanks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Hua CHEN</dc:creator>
  <cp:lastModifiedBy>Steven Hsieh</cp:lastModifiedBy>
  <cp:revision>137</cp:revision>
  <dcterms:created xsi:type="dcterms:W3CDTF">2026-10-01T09:21:04Z</dcterms:created>
  <dcterms:modified xsi:type="dcterms:W3CDTF">2026-10-07T12:18:09Z</dcterms:modified>
</cp:coreProperties>
</file>